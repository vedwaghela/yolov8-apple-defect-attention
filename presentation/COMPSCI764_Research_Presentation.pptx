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Baseline mean +/- SD</c:v>
          </c:tx>
          <c:spPr>
            <a:ln w="28575">
              <a:solidFill>
                <a:srgbClr val="5B6472"/>
              </a:solidFill>
            </a:ln>
          </c:spPr>
          <c:marker>
            <c:symbol val="none"/>
          </c:marker>
          <c:xVal>
            <c:numRef>
              <c:f>'Chart Data'!$A$2:$A$3</c:f>
              <c:numCache>
                <c:formatCode>General</c:formatCode>
                <c:ptCount val="2"/>
                <c:pt idx="0">
                  <c:v>1</c:v>
                </c:pt>
                <c:pt idx="1">
                  <c:v>1</c:v>
                </c:pt>
              </c:numCache>
            </c:numRef>
          </c:xVal>
          <c:yVal>
            <c:numRef>
              <c:f>'Chart Data'!$B$2:$B$3</c:f>
              <c:numCache>
                <c:formatCode>General</c:formatCode>
                <c:ptCount val="2"/>
                <c:pt idx="0">
                  <c:v>39.673203999999998</c:v>
                </c:pt>
                <c:pt idx="1">
                  <c:v>41.730379999999997</c:v>
                </c:pt>
              </c:numCache>
            </c:numRef>
          </c:yVal>
          <c:smooth val="1"/>
          <c:extLst>
            <c:ext xmlns:c16="http://schemas.microsoft.com/office/drawing/2014/chart" uri="{C3380CC4-5D6E-409C-BE32-E72D297353CC}">
              <c16:uniqueId val="{00000000-B157-47DB-84BB-FEF7CC137E89}"/>
            </c:ext>
          </c:extLst>
        </c:ser>
        <c:ser>
          <c:idx val="1"/>
          <c:order val="1"/>
          <c:tx>
            <c:v>Baseline seeds 42 43 44</c:v>
          </c:tx>
          <c:spPr>
            <a:ln w="0">
              <a:noFill/>
            </a:ln>
          </c:spPr>
          <c:marker>
            <c:symbol val="circle"/>
            <c:size val="6"/>
            <c:spPr>
              <a:solidFill>
                <a:srgbClr val="5B6472"/>
              </a:solidFill>
            </c:spPr>
          </c:marker>
          <c:xVal>
            <c:numRef>
              <c:f>'Chart Data'!$C$2:$C$4</c:f>
              <c:numCache>
                <c:formatCode>General</c:formatCode>
                <c:ptCount val="3"/>
                <c:pt idx="0">
                  <c:v>0.91</c:v>
                </c:pt>
                <c:pt idx="1">
                  <c:v>1</c:v>
                </c:pt>
                <c:pt idx="2">
                  <c:v>1.0900000000000001</c:v>
                </c:pt>
              </c:numCache>
            </c:numRef>
          </c:xVal>
          <c:yVal>
            <c:numRef>
              <c:f>'Chart Data'!$D$2:$D$4</c:f>
              <c:numCache>
                <c:formatCode>General</c:formatCode>
                <c:ptCount val="3"/>
                <c:pt idx="0">
                  <c:v>40.036749999999998</c:v>
                </c:pt>
                <c:pt idx="1">
                  <c:v>41.886535000000002</c:v>
                </c:pt>
                <c:pt idx="2">
                  <c:v>40.182091999999997</c:v>
                </c:pt>
              </c:numCache>
            </c:numRef>
          </c:yVal>
          <c:smooth val="1"/>
          <c:extLst>
            <c:ext xmlns:c16="http://schemas.microsoft.com/office/drawing/2014/chart" uri="{C3380CC4-5D6E-409C-BE32-E72D297353CC}">
              <c16:uniqueId val="{00000001-B157-47DB-84BB-FEF7CC137E89}"/>
            </c:ext>
          </c:extLst>
        </c:ser>
        <c:ser>
          <c:idx val="2"/>
          <c:order val="2"/>
          <c:tx>
            <c:v>Baseline mean</c:v>
          </c:tx>
          <c:spPr>
            <a:ln w="0">
              <a:noFill/>
            </a:ln>
          </c:spPr>
          <c:marker>
            <c:symbol val="diamond"/>
            <c:size val="12"/>
            <c:spPr>
              <a:solidFill>
                <a:srgbClr val="5B6472"/>
              </a:solidFill>
            </c:spPr>
          </c:marker>
          <c:xVal>
            <c:numRef>
              <c:f>'Chart Data'!$E$2:$E$2</c:f>
              <c:numCache>
                <c:formatCode>General</c:formatCode>
                <c:ptCount val="1"/>
                <c:pt idx="0">
                  <c:v>1</c:v>
                </c:pt>
              </c:numCache>
            </c:numRef>
          </c:xVal>
          <c:yVal>
            <c:numRef>
              <c:f>'Chart Data'!$F$2:$F$2</c:f>
              <c:numCache>
                <c:formatCode>General</c:formatCode>
                <c:ptCount val="1"/>
                <c:pt idx="0">
                  <c:v>40.701791999999998</c:v>
                </c:pt>
              </c:numCache>
            </c:numRef>
          </c:yVal>
          <c:smooth val="1"/>
          <c:extLst>
            <c:ext xmlns:c16="http://schemas.microsoft.com/office/drawing/2014/chart" uri="{C3380CC4-5D6E-409C-BE32-E72D297353CC}">
              <c16:uniqueId val="{00000002-B157-47DB-84BB-FEF7CC137E89}"/>
            </c:ext>
          </c:extLst>
        </c:ser>
        <c:ser>
          <c:idx val="3"/>
          <c:order val="3"/>
          <c:tx>
            <c:v>SE mean +/- SD</c:v>
          </c:tx>
          <c:spPr>
            <a:ln w="28575">
              <a:solidFill>
                <a:srgbClr val="087B68"/>
              </a:solidFill>
            </a:ln>
          </c:spPr>
          <c:marker>
            <c:symbol val="none"/>
          </c:marker>
          <c:xVal>
            <c:numRef>
              <c:f>'Chart Data'!$G$2:$G$3</c:f>
              <c:numCache>
                <c:formatCode>General</c:formatCode>
                <c:ptCount val="2"/>
                <c:pt idx="0">
                  <c:v>2</c:v>
                </c:pt>
                <c:pt idx="1">
                  <c:v>2</c:v>
                </c:pt>
              </c:numCache>
            </c:numRef>
          </c:xVal>
          <c:yVal>
            <c:numRef>
              <c:f>'Chart Data'!$H$2:$H$3</c:f>
              <c:numCache>
                <c:formatCode>General</c:formatCode>
                <c:ptCount val="2"/>
                <c:pt idx="0">
                  <c:v>39.920062999999999</c:v>
                </c:pt>
                <c:pt idx="1">
                  <c:v>43.247112999999999</c:v>
                </c:pt>
              </c:numCache>
            </c:numRef>
          </c:yVal>
          <c:smooth val="1"/>
          <c:extLst>
            <c:ext xmlns:c16="http://schemas.microsoft.com/office/drawing/2014/chart" uri="{C3380CC4-5D6E-409C-BE32-E72D297353CC}">
              <c16:uniqueId val="{00000003-B157-47DB-84BB-FEF7CC137E89}"/>
            </c:ext>
          </c:extLst>
        </c:ser>
        <c:ser>
          <c:idx val="4"/>
          <c:order val="4"/>
          <c:tx>
            <c:v>SE seeds 42 43 44</c:v>
          </c:tx>
          <c:spPr>
            <a:ln w="0">
              <a:noFill/>
            </a:ln>
          </c:spPr>
          <c:marker>
            <c:symbol val="circle"/>
            <c:size val="6"/>
            <c:spPr>
              <a:solidFill>
                <a:srgbClr val="087B68"/>
              </a:solidFill>
            </c:spPr>
          </c:marker>
          <c:xVal>
            <c:numRef>
              <c:f>'Chart Data'!$I$2:$I$4</c:f>
              <c:numCache>
                <c:formatCode>General</c:formatCode>
                <c:ptCount val="3"/>
                <c:pt idx="0">
                  <c:v>1.91</c:v>
                </c:pt>
                <c:pt idx="1">
                  <c:v>2</c:v>
                </c:pt>
                <c:pt idx="2">
                  <c:v>2.09</c:v>
                </c:pt>
              </c:numCache>
            </c:numRef>
          </c:xVal>
          <c:yVal>
            <c:numRef>
              <c:f>'Chart Data'!$J$2:$J$4</c:f>
              <c:numCache>
                <c:formatCode>General</c:formatCode>
                <c:ptCount val="3"/>
                <c:pt idx="0">
                  <c:v>41.526853000000003</c:v>
                </c:pt>
                <c:pt idx="1">
                  <c:v>43.274754000000001</c:v>
                </c:pt>
                <c:pt idx="2">
                  <c:v>39.949156000000002</c:v>
                </c:pt>
              </c:numCache>
            </c:numRef>
          </c:yVal>
          <c:smooth val="1"/>
          <c:extLst>
            <c:ext xmlns:c16="http://schemas.microsoft.com/office/drawing/2014/chart" uri="{C3380CC4-5D6E-409C-BE32-E72D297353CC}">
              <c16:uniqueId val="{00000004-B157-47DB-84BB-FEF7CC137E89}"/>
            </c:ext>
          </c:extLst>
        </c:ser>
        <c:ser>
          <c:idx val="5"/>
          <c:order val="5"/>
          <c:tx>
            <c:v>SE mean</c:v>
          </c:tx>
          <c:spPr>
            <a:ln w="0">
              <a:noFill/>
            </a:ln>
          </c:spPr>
          <c:marker>
            <c:symbol val="diamond"/>
            <c:size val="12"/>
            <c:spPr>
              <a:solidFill>
                <a:srgbClr val="087B68"/>
              </a:solidFill>
            </c:spPr>
          </c:marker>
          <c:xVal>
            <c:numRef>
              <c:f>'Chart Data'!$K$2:$K$2</c:f>
              <c:numCache>
                <c:formatCode>General</c:formatCode>
                <c:ptCount val="1"/>
                <c:pt idx="0">
                  <c:v>2</c:v>
                </c:pt>
              </c:numCache>
            </c:numRef>
          </c:xVal>
          <c:yVal>
            <c:numRef>
              <c:f>'Chart Data'!$L$2:$L$2</c:f>
              <c:numCache>
                <c:formatCode>General</c:formatCode>
                <c:ptCount val="1"/>
                <c:pt idx="0">
                  <c:v>41.583587999999999</c:v>
                </c:pt>
              </c:numCache>
            </c:numRef>
          </c:yVal>
          <c:smooth val="1"/>
          <c:extLst>
            <c:ext xmlns:c16="http://schemas.microsoft.com/office/drawing/2014/chart" uri="{C3380CC4-5D6E-409C-BE32-E72D297353CC}">
              <c16:uniqueId val="{00000005-B157-47DB-84BB-FEF7CC137E89}"/>
            </c:ext>
          </c:extLst>
        </c:ser>
        <c:ser>
          <c:idx val="6"/>
          <c:order val="6"/>
          <c:tx>
            <c:v>CBAM mean +/- SD</c:v>
          </c:tx>
          <c:spPr>
            <a:ln w="28575">
              <a:solidFill>
                <a:srgbClr val="3D8DFF"/>
              </a:solidFill>
            </a:ln>
          </c:spPr>
          <c:marker>
            <c:symbol val="none"/>
          </c:marker>
          <c:xVal>
            <c:numRef>
              <c:f>'Chart Data'!$M$2:$M$3</c:f>
              <c:numCache>
                <c:formatCode>General</c:formatCode>
                <c:ptCount val="2"/>
                <c:pt idx="0">
                  <c:v>3</c:v>
                </c:pt>
                <c:pt idx="1">
                  <c:v>3</c:v>
                </c:pt>
              </c:numCache>
            </c:numRef>
          </c:xVal>
          <c:yVal>
            <c:numRef>
              <c:f>'Chart Data'!$N$2:$N$3</c:f>
              <c:numCache>
                <c:formatCode>General</c:formatCode>
                <c:ptCount val="2"/>
                <c:pt idx="0">
                  <c:v>41.533549000000001</c:v>
                </c:pt>
                <c:pt idx="1">
                  <c:v>42.689028999999998</c:v>
                </c:pt>
              </c:numCache>
            </c:numRef>
          </c:yVal>
          <c:smooth val="1"/>
          <c:extLst>
            <c:ext xmlns:c16="http://schemas.microsoft.com/office/drawing/2014/chart" uri="{C3380CC4-5D6E-409C-BE32-E72D297353CC}">
              <c16:uniqueId val="{00000006-B157-47DB-84BB-FEF7CC137E89}"/>
            </c:ext>
          </c:extLst>
        </c:ser>
        <c:ser>
          <c:idx val="7"/>
          <c:order val="7"/>
          <c:tx>
            <c:v>CBAM seeds 42 43 44</c:v>
          </c:tx>
          <c:spPr>
            <a:ln w="0">
              <a:noFill/>
            </a:ln>
          </c:spPr>
          <c:marker>
            <c:symbol val="circle"/>
            <c:size val="6"/>
            <c:spPr>
              <a:solidFill>
                <a:srgbClr val="3D8DFF"/>
              </a:solidFill>
            </c:spPr>
          </c:marker>
          <c:xVal>
            <c:numRef>
              <c:f>'Chart Data'!$O$2:$O$4</c:f>
              <c:numCache>
                <c:formatCode>General</c:formatCode>
                <c:ptCount val="3"/>
                <c:pt idx="0">
                  <c:v>2.91</c:v>
                </c:pt>
                <c:pt idx="1">
                  <c:v>3</c:v>
                </c:pt>
                <c:pt idx="2">
                  <c:v>3.09</c:v>
                </c:pt>
              </c:numCache>
            </c:numRef>
          </c:xVal>
          <c:yVal>
            <c:numRef>
              <c:f>'Chart Data'!$P$2:$P$4</c:f>
              <c:numCache>
                <c:formatCode>General</c:formatCode>
                <c:ptCount val="3"/>
                <c:pt idx="0">
                  <c:v>41.546362999999999</c:v>
                </c:pt>
                <c:pt idx="1">
                  <c:v>42.701042000000001</c:v>
                </c:pt>
                <c:pt idx="2">
                  <c:v>42.086461999999997</c:v>
                </c:pt>
              </c:numCache>
            </c:numRef>
          </c:yVal>
          <c:smooth val="1"/>
          <c:extLst>
            <c:ext xmlns:c16="http://schemas.microsoft.com/office/drawing/2014/chart" uri="{C3380CC4-5D6E-409C-BE32-E72D297353CC}">
              <c16:uniqueId val="{00000007-B157-47DB-84BB-FEF7CC137E89}"/>
            </c:ext>
          </c:extLst>
        </c:ser>
        <c:ser>
          <c:idx val="8"/>
          <c:order val="8"/>
          <c:tx>
            <c:v>CBAM mean</c:v>
          </c:tx>
          <c:spPr>
            <a:ln w="0">
              <a:noFill/>
            </a:ln>
          </c:spPr>
          <c:marker>
            <c:symbol val="diamond"/>
            <c:size val="12"/>
            <c:spPr>
              <a:solidFill>
                <a:srgbClr val="3D8DFF"/>
              </a:solidFill>
            </c:spPr>
          </c:marker>
          <c:xVal>
            <c:numRef>
              <c:f>'Chart Data'!$Q$2:$Q$2</c:f>
              <c:numCache>
                <c:formatCode>General</c:formatCode>
                <c:ptCount val="1"/>
                <c:pt idx="0">
                  <c:v>3</c:v>
                </c:pt>
              </c:numCache>
            </c:numRef>
          </c:xVal>
          <c:yVal>
            <c:numRef>
              <c:f>'Chart Data'!$R$2:$R$2</c:f>
              <c:numCache>
                <c:formatCode>General</c:formatCode>
                <c:ptCount val="1"/>
                <c:pt idx="0">
                  <c:v>42.111288999999999</c:v>
                </c:pt>
              </c:numCache>
            </c:numRef>
          </c:yVal>
          <c:smooth val="1"/>
          <c:extLst>
            <c:ext xmlns:c16="http://schemas.microsoft.com/office/drawing/2014/chart" uri="{C3380CC4-5D6E-409C-BE32-E72D297353CC}">
              <c16:uniqueId val="{00000008-B157-47DB-84BB-FEF7CC137E89}"/>
            </c:ext>
          </c:extLst>
        </c:ser>
        <c:ser>
          <c:idx val="9"/>
          <c:order val="9"/>
          <c:tx>
            <c:v>Coordinate mean +/- SD</c:v>
          </c:tx>
          <c:spPr>
            <a:ln w="28575">
              <a:solidFill>
                <a:srgbClr val="123B63"/>
              </a:solidFill>
            </a:ln>
          </c:spPr>
          <c:marker>
            <c:symbol val="none"/>
          </c:marker>
          <c:xVal>
            <c:numRef>
              <c:f>'Chart Data'!$S$2:$S$3</c:f>
              <c:numCache>
                <c:formatCode>General</c:formatCode>
                <c:ptCount val="2"/>
                <c:pt idx="0">
                  <c:v>4</c:v>
                </c:pt>
                <c:pt idx="1">
                  <c:v>4</c:v>
                </c:pt>
              </c:numCache>
            </c:numRef>
          </c:xVal>
          <c:yVal>
            <c:numRef>
              <c:f>'Chart Data'!$T$2:$T$3</c:f>
              <c:numCache>
                <c:formatCode>General</c:formatCode>
                <c:ptCount val="2"/>
                <c:pt idx="0">
                  <c:v>40.818756</c:v>
                </c:pt>
                <c:pt idx="1">
                  <c:v>42.225670000000001</c:v>
                </c:pt>
              </c:numCache>
            </c:numRef>
          </c:yVal>
          <c:smooth val="1"/>
          <c:extLst>
            <c:ext xmlns:c16="http://schemas.microsoft.com/office/drawing/2014/chart" uri="{C3380CC4-5D6E-409C-BE32-E72D297353CC}">
              <c16:uniqueId val="{00000009-B157-47DB-84BB-FEF7CC137E89}"/>
            </c:ext>
          </c:extLst>
        </c:ser>
        <c:ser>
          <c:idx val="10"/>
          <c:order val="10"/>
          <c:tx>
            <c:v>Coordinate seeds 42 43 44</c:v>
          </c:tx>
          <c:spPr>
            <a:ln w="0">
              <a:noFill/>
            </a:ln>
          </c:spPr>
          <c:marker>
            <c:symbol val="circle"/>
            <c:size val="6"/>
            <c:spPr>
              <a:solidFill>
                <a:srgbClr val="123B63"/>
              </a:solidFill>
            </c:spPr>
          </c:marker>
          <c:xVal>
            <c:numRef>
              <c:f>'Chart Data'!$U$2:$U$4</c:f>
              <c:numCache>
                <c:formatCode>General</c:formatCode>
                <c:ptCount val="3"/>
                <c:pt idx="0">
                  <c:v>3.91</c:v>
                </c:pt>
                <c:pt idx="1">
                  <c:v>4</c:v>
                </c:pt>
                <c:pt idx="2">
                  <c:v>4.09</c:v>
                </c:pt>
              </c:numCache>
            </c:numRef>
          </c:xVal>
          <c:yVal>
            <c:numRef>
              <c:f>'Chart Data'!$V$2:$V$4</c:f>
              <c:numCache>
                <c:formatCode>General</c:formatCode>
                <c:ptCount val="3"/>
                <c:pt idx="0">
                  <c:v>41.154671</c:v>
                </c:pt>
                <c:pt idx="1">
                  <c:v>41.078659000000002</c:v>
                </c:pt>
                <c:pt idx="2">
                  <c:v>42.333309</c:v>
                </c:pt>
              </c:numCache>
            </c:numRef>
          </c:yVal>
          <c:smooth val="1"/>
          <c:extLst>
            <c:ext xmlns:c16="http://schemas.microsoft.com/office/drawing/2014/chart" uri="{C3380CC4-5D6E-409C-BE32-E72D297353CC}">
              <c16:uniqueId val="{0000000A-B157-47DB-84BB-FEF7CC137E89}"/>
            </c:ext>
          </c:extLst>
        </c:ser>
        <c:ser>
          <c:idx val="11"/>
          <c:order val="11"/>
          <c:tx>
            <c:v>Coordinate mean</c:v>
          </c:tx>
          <c:spPr>
            <a:ln w="0">
              <a:noFill/>
            </a:ln>
          </c:spPr>
          <c:marker>
            <c:symbol val="diamond"/>
            <c:size val="12"/>
            <c:spPr>
              <a:solidFill>
                <a:srgbClr val="123B63"/>
              </a:solidFill>
            </c:spPr>
          </c:marker>
          <c:xVal>
            <c:numRef>
              <c:f>'Chart Data'!$W$2:$W$2</c:f>
              <c:numCache>
                <c:formatCode>General</c:formatCode>
                <c:ptCount val="1"/>
                <c:pt idx="0">
                  <c:v>4</c:v>
                </c:pt>
              </c:numCache>
            </c:numRef>
          </c:xVal>
          <c:yVal>
            <c:numRef>
              <c:f>'Chart Data'!$X$2:$X$2</c:f>
              <c:numCache>
                <c:formatCode>General</c:formatCode>
                <c:ptCount val="1"/>
                <c:pt idx="0">
                  <c:v>41.522213000000001</c:v>
                </c:pt>
              </c:numCache>
            </c:numRef>
          </c:yVal>
          <c:smooth val="1"/>
          <c:extLst>
            <c:ext xmlns:c16="http://schemas.microsoft.com/office/drawing/2014/chart" uri="{C3380CC4-5D6E-409C-BE32-E72D297353CC}">
              <c16:uniqueId val="{0000000B-B157-47DB-84BB-FEF7CC137E89}"/>
            </c:ext>
          </c:extLst>
        </c:ser>
        <c:dLbls>
          <c:showLegendKey val="0"/>
          <c:showVal val="0"/>
          <c:showCatName val="0"/>
          <c:showSerName val="0"/>
          <c:showPercent val="0"/>
          <c:showBubbleSize val="0"/>
        </c:dLbls>
        <c:axId val="48650112"/>
        <c:axId val="48672768"/>
      </c:scatterChart>
      <c:valAx>
        <c:axId val="48672768"/>
        <c:scaling>
          <c:orientation val="minMax"/>
          <c:max val="44"/>
          <c:min val="39"/>
        </c:scaling>
        <c:delete val="0"/>
        <c:axPos val="l"/>
        <c:majorGridlines>
          <c:spPr>
            <a:ln w="9525">
              <a:solidFill>
                <a:srgbClr val="E2E6EB"/>
              </a:solidFill>
            </a:ln>
          </c:spPr>
        </c:majorGridlines>
        <c:title>
          <c:tx>
            <c:rich>
              <a:bodyPr/>
              <a:lstStyle/>
              <a:p>
                <a:r>
                  <a:rPr lang="en-AU" sz="1500">
                    <a:latin typeface="Arial"/>
                    <a:ea typeface="Arial"/>
                    <a:cs typeface="Arial"/>
                  </a:rPr>
                  <a:t>Test mAP50-95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425">
                <a:solidFill>
                  <a:srgbClr val="5B6472"/>
                </a:solidFill>
                <a:latin typeface="Arial"/>
                <a:ea typeface="Arial"/>
                <a:cs typeface="Arial"/>
              </a:defRPr>
            </a:pPr>
            <a:endParaRPr lang="en-US"/>
          </a:p>
        </c:txPr>
        <c:crossAx val="48650112"/>
        <c:crosses val="autoZero"/>
        <c:crossBetween val="midCat"/>
        <c:majorUnit val="1"/>
      </c:valAx>
      <c:valAx>
        <c:axId val="48650112"/>
        <c:scaling>
          <c:orientation val="minMax"/>
          <c:max val="4.5"/>
          <c:min val="0.5"/>
        </c:scaling>
        <c:delete val="1"/>
        <c:axPos val="b"/>
        <c:numFmt formatCode="General" sourceLinked="1"/>
        <c:majorTickMark val="none"/>
        <c:minorTickMark val="none"/>
        <c:tickLblPos val="nextTo"/>
        <c:crossAx val="48672768"/>
        <c:crosses val="autoZero"/>
        <c:crossBetween val="midCat"/>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Baseline</c:v>
          </c:tx>
          <c:spPr>
            <a:ln w="0">
              <a:noFill/>
            </a:ln>
          </c:spPr>
          <c:marker>
            <c:symbol val="circle"/>
            <c:size val="12"/>
            <c:spPr>
              <a:solidFill>
                <a:srgbClr val="5B6472"/>
              </a:solidFill>
            </c:spPr>
          </c:marker>
          <c:xVal>
            <c:numRef>
              <c:f>'Chart Data'!$A$2:$A$2</c:f>
              <c:numCache>
                <c:formatCode>General</c:formatCode>
                <c:ptCount val="1"/>
                <c:pt idx="0">
                  <c:v>6.5862720000000001</c:v>
                </c:pt>
              </c:numCache>
            </c:numRef>
          </c:xVal>
          <c:yVal>
            <c:numRef>
              <c:f>'Chart Data'!$B$2:$B$2</c:f>
              <c:numCache>
                <c:formatCode>General</c:formatCode>
                <c:ptCount val="1"/>
                <c:pt idx="0">
                  <c:v>40.701791999999998</c:v>
                </c:pt>
              </c:numCache>
            </c:numRef>
          </c:yVal>
          <c:smooth val="1"/>
          <c:extLst>
            <c:ext xmlns:c16="http://schemas.microsoft.com/office/drawing/2014/chart" uri="{C3380CC4-5D6E-409C-BE32-E72D297353CC}">
              <c16:uniqueId val="{00000000-414B-4E4C-9F4B-FCD51887139E}"/>
            </c:ext>
          </c:extLst>
        </c:ser>
        <c:ser>
          <c:idx val="1"/>
          <c:order val="1"/>
          <c:tx>
            <c:v>SE</c:v>
          </c:tx>
          <c:spPr>
            <a:ln w="0">
              <a:noFill/>
            </a:ln>
          </c:spPr>
          <c:marker>
            <c:symbol val="circle"/>
            <c:size val="12"/>
            <c:spPr>
              <a:solidFill>
                <a:srgbClr val="087B68"/>
              </a:solidFill>
            </c:spPr>
          </c:marker>
          <c:xVal>
            <c:numRef>
              <c:f>'Chart Data'!$C$2:$C$2</c:f>
              <c:numCache>
                <c:formatCode>General</c:formatCode>
                <c:ptCount val="1"/>
                <c:pt idx="0">
                  <c:v>6.67136</c:v>
                </c:pt>
              </c:numCache>
            </c:numRef>
          </c:xVal>
          <c:yVal>
            <c:numRef>
              <c:f>'Chart Data'!$D$2:$D$2</c:f>
              <c:numCache>
                <c:formatCode>General</c:formatCode>
                <c:ptCount val="1"/>
                <c:pt idx="0">
                  <c:v>41.583587999999999</c:v>
                </c:pt>
              </c:numCache>
            </c:numRef>
          </c:yVal>
          <c:smooth val="1"/>
          <c:extLst>
            <c:ext xmlns:c16="http://schemas.microsoft.com/office/drawing/2014/chart" uri="{C3380CC4-5D6E-409C-BE32-E72D297353CC}">
              <c16:uniqueId val="{00000001-414B-4E4C-9F4B-FCD51887139E}"/>
            </c:ext>
          </c:extLst>
        </c:ser>
        <c:ser>
          <c:idx val="2"/>
          <c:order val="2"/>
          <c:tx>
            <c:v>CBAM</c:v>
          </c:tx>
          <c:spPr>
            <a:ln w="0">
              <a:noFill/>
            </a:ln>
          </c:spPr>
          <c:marker>
            <c:symbol val="circle"/>
            <c:size val="12"/>
            <c:spPr>
              <a:solidFill>
                <a:srgbClr val="3D8DFF"/>
              </a:solidFill>
            </c:spPr>
          </c:marker>
          <c:xVal>
            <c:numRef>
              <c:f>'Chart Data'!$E$2:$E$2</c:f>
              <c:numCache>
                <c:formatCode>General</c:formatCode>
                <c:ptCount val="1"/>
                <c:pt idx="0">
                  <c:v>7.1131200000000003</c:v>
                </c:pt>
              </c:numCache>
            </c:numRef>
          </c:xVal>
          <c:yVal>
            <c:numRef>
              <c:f>'Chart Data'!$F$2:$F$2</c:f>
              <c:numCache>
                <c:formatCode>General</c:formatCode>
                <c:ptCount val="1"/>
                <c:pt idx="0">
                  <c:v>42.111288999999999</c:v>
                </c:pt>
              </c:numCache>
            </c:numRef>
          </c:yVal>
          <c:smooth val="1"/>
          <c:extLst>
            <c:ext xmlns:c16="http://schemas.microsoft.com/office/drawing/2014/chart" uri="{C3380CC4-5D6E-409C-BE32-E72D297353CC}">
              <c16:uniqueId val="{00000002-414B-4E4C-9F4B-FCD51887139E}"/>
            </c:ext>
          </c:extLst>
        </c:ser>
        <c:ser>
          <c:idx val="3"/>
          <c:order val="3"/>
          <c:tx>
            <c:v>Coordinate</c:v>
          </c:tx>
          <c:spPr>
            <a:ln w="0">
              <a:noFill/>
            </a:ln>
          </c:spPr>
          <c:marker>
            <c:symbol val="circle"/>
            <c:size val="12"/>
            <c:spPr>
              <a:solidFill>
                <a:srgbClr val="123B63"/>
              </a:solidFill>
            </c:spPr>
          </c:marker>
          <c:xVal>
            <c:numRef>
              <c:f>'Chart Data'!$G$2:$G$2</c:f>
              <c:numCache>
                <c:formatCode>General</c:formatCode>
                <c:ptCount val="1"/>
                <c:pt idx="0">
                  <c:v>6.8981760000000003</c:v>
                </c:pt>
              </c:numCache>
            </c:numRef>
          </c:xVal>
          <c:yVal>
            <c:numRef>
              <c:f>'Chart Data'!$H$2:$H$2</c:f>
              <c:numCache>
                <c:formatCode>General</c:formatCode>
                <c:ptCount val="1"/>
                <c:pt idx="0">
                  <c:v>41.522213000000001</c:v>
                </c:pt>
              </c:numCache>
            </c:numRef>
          </c:yVal>
          <c:smooth val="1"/>
          <c:extLst>
            <c:ext xmlns:c16="http://schemas.microsoft.com/office/drawing/2014/chart" uri="{C3380CC4-5D6E-409C-BE32-E72D297353CC}">
              <c16:uniqueId val="{00000003-414B-4E4C-9F4B-FCD51887139E}"/>
            </c:ext>
          </c:extLst>
        </c:ser>
        <c:dLbls>
          <c:showLegendKey val="0"/>
          <c:showVal val="0"/>
          <c:showCatName val="0"/>
          <c:showSerName val="0"/>
          <c:showPercent val="0"/>
          <c:showBubbleSize val="0"/>
        </c:dLbls>
        <c:axId val="48650112"/>
        <c:axId val="48672768"/>
      </c:scatterChart>
      <c:valAx>
        <c:axId val="48672768"/>
        <c:scaling>
          <c:orientation val="minMax"/>
          <c:max val="43"/>
          <c:min val="40"/>
        </c:scaling>
        <c:delete val="0"/>
        <c:axPos val="l"/>
        <c:majorGridlines>
          <c:spPr>
            <a:ln w="9525">
              <a:solidFill>
                <a:srgbClr val="E2E6EB"/>
              </a:solidFill>
            </a:ln>
          </c:spPr>
        </c:majorGridlines>
        <c:title>
          <c:tx>
            <c:rich>
              <a:bodyPr/>
              <a:lstStyle/>
              <a:p>
                <a:r>
                  <a:rPr lang="en-AU" sz="1500">
                    <a:latin typeface="Arial"/>
                    <a:ea typeface="Arial"/>
                    <a:cs typeface="Arial"/>
                  </a:rPr>
                  <a:t>Mean test mAP50-95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midCat"/>
        <c:majorUnit val="1"/>
      </c:valAx>
      <c:valAx>
        <c:axId val="48650112"/>
        <c:scaling>
          <c:orientation val="minMax"/>
          <c:max val="7.2"/>
          <c:min val="6.5"/>
        </c:scaling>
        <c:delete val="0"/>
        <c:axPos val="b"/>
        <c:title>
          <c:tx>
            <c:rich>
              <a:bodyPr/>
              <a:lstStyle/>
              <a:p>
                <a:r>
                  <a:rPr lang="en-AU" sz="1500">
                    <a:latin typeface="Arial"/>
                    <a:ea typeface="Arial"/>
                    <a:cs typeface="Arial"/>
                  </a:rPr>
                  <a:t>Median forward latency (ms)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72768"/>
        <c:crosses val="autoZero"/>
        <c:crossBetween val="midCat"/>
        <c:majorUnit val="0.2"/>
      </c:valAx>
      <c:spPr>
        <a:solidFill>
          <a:srgbClr val="FFFFFF"/>
        </a:solidFill>
      </c:spPr>
    </c:plotArea>
    <c:legend>
      <c:legendPos val="b"/>
      <c:overlay val="0"/>
      <c:txPr>
        <a:bodyPr anchorCtr="1"/>
        <a:lstStyle/>
        <a:p>
          <a:pPr>
            <a:defRPr sz="1350">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Manish</a:t>
            </a:r>
          </a:p>
          <a:p>
            <a:r>
              <a:t>TARGET: 25 seconds</a:t>
            </a:r>
          </a:p>
          <a:p>
            <a:endParaRPr/>
          </a:p>
          <a:p>
            <a:r>
              <a:t>SPEAKING SCRIPT</a:t>
            </a:r>
          </a:p>
          <a:p>
            <a:r>
              <a:t>Hello, we are Manish Gadia and Ved Waghela. Our project compares attention mechanisms for apple surface defect detection. We ask whether adding attention to the same YOLOv8n detector improves localisation enough to justify its computational cost. I will explain the problem and our approach, and Ved will present the experiments and findings.</a:t>
            </a:r>
          </a:p>
          <a:p>
            <a:endParaRPr/>
          </a:p>
          <a:p>
            <a:r>
              <a:t>DELIVERY CUE</a:t>
            </a:r>
          </a:p>
          <a:p>
            <a:r>
              <a:t>Introduce both names. Emphasise that this is a comparison of existing attention mechanisms.</a:t>
            </a:r>
          </a:p>
          <a:p>
            <a:endParaRPr/>
          </a:p>
          <a:p>
            <a:r>
              <a:t>SOURCES</a:t>
            </a:r>
          </a:p>
          <a:p>
            <a:endParaRPr/>
          </a:p>
          <a:p>
            <a:r>
              <a:t>Study results: baseline/runs/final_evaluation/aggregate.json, test_results.json and ANALYSIS_NOTES.md. Reference numbering follows the written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Manish</a:t>
            </a:r>
          </a:p>
          <a:p>
            <a:r>
              <a:t>TARGET: 60 seconds</a:t>
            </a:r>
          </a:p>
          <a:p>
            <a:endParaRPr/>
          </a:p>
          <a:p>
            <a:r>
              <a:t>SPEAKING SCRIPT</a:t>
            </a:r>
          </a:p>
          <a:p>
            <a:r>
              <a:t>Consider this apple. A large damaged patch may be easy to notice, but a weak scratch can blend into normal peel texture. Colour variation and reflections also make it difficult to decide exactly where a defect starts and ends. This matters because an automated inspection system needs useful evidence about damaged regions, rather than only a label for the entire fruit. Our task therefore predicts bounding boxes and defect classes. It differs from classifying an apple as good or bad. In this project, we focus on scratches and pest damage in the SSDA dataset. Reliable localisation could support later inspection or grading decisions, although we do not evaluate a complete commercial grading system. The challenge we investigate is whether feature reweighting helps an existing detector distinguish these subtle regions.</a:t>
            </a:r>
          </a:p>
          <a:p>
            <a:endParaRPr/>
          </a:p>
          <a:p>
            <a:r>
              <a:t>DELIVERY CUE</a:t>
            </a:r>
          </a:p>
          <a:p>
            <a:r>
              <a:t>Point at a subtle region in the image. Explain localisation before introducing model terminology.</a:t>
            </a:r>
          </a:p>
          <a:p>
            <a:endParaRPr/>
          </a:p>
          <a:p>
            <a:r>
              <a:t>SOURCES</a:t>
            </a:r>
          </a:p>
          <a:p>
            <a:r>
              <a:t>[1] Rojas Santelices et al. (2025). Fruit inspection survey. Sensors. https://doi.org/10.3390/s25051524</a:t>
            </a:r>
          </a:p>
          <a:p>
            <a:r>
              <a:t>[2] Han et al. (2024). HAFREE apple defect detector. IEEE Access. https://doi.org/10.1109/ACCESS.2024.3504399</a:t>
            </a:r>
          </a:p>
          <a:p>
            <a:r>
              <a:t>[3] Nguyen (2024). Surface Subtle Defects Apple dataset v1.0.0. https://doi.org/10.5281/zenodo.10957715</a:t>
            </a:r>
          </a:p>
          <a:p>
            <a:r>
              <a:t>Study results: baseline/runs/final_evaluation/aggregate.json, test_results.json and ANALYSIS_NOTES.md. Reference numbering follows the written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Manish</a:t>
            </a:r>
          </a:p>
          <a:p>
            <a:r>
              <a:t>TARGET: 65 seconds</a:t>
            </a:r>
          </a:p>
          <a:p>
            <a:endParaRPr/>
          </a:p>
          <a:p>
            <a:r>
              <a:t>SPEAKING SCRIPT</a:t>
            </a:r>
          </a:p>
          <a:p>
            <a:r>
              <a:t>Existing work already addresses apple-defect detection. HAFREE is a detector designed around subtle apple defects, and its associated dataset gives us a relevant test setting. For our own comparison, we use the compact YOLOv8n implementation. Attention is also an established idea, so our contribution is not to invent a new attention module. Squeeze-and-Excitation, or SE, summarises each feature channel and learns how strongly to weight it. CBAM adds spatial weighting after channel weighting, allowing different image locations to receive different emphasis. Coordinate Attention preserves directional information through separate height and width summaries. These mechanisms provide different ways to alter the feature representation. Published improvements in other settings do not tell us which is best in our configuration, because datasets, training budgets and insertion points can differ. That motivates a matched comparison.</a:t>
            </a:r>
          </a:p>
          <a:p>
            <a:endParaRPr/>
          </a:p>
          <a:p>
            <a:r>
              <a:t>DELIVERY CUE</a:t>
            </a:r>
          </a:p>
          <a:p>
            <a:r>
              <a:t>Define a feature channel as a learned feature map. Avoid claiming these modules have never been compared before.</a:t>
            </a:r>
          </a:p>
          <a:p>
            <a:endParaRPr/>
          </a:p>
          <a:p>
            <a:r>
              <a:t>SOURCES</a:t>
            </a:r>
          </a:p>
          <a:p>
            <a:r>
              <a:t>[2] Han et al. (2024). HAFREE apple defect detector. IEEE Access. https://doi.org/10.1109/ACCESS.2024.3504399</a:t>
            </a:r>
          </a:p>
          <a:p>
            <a:r>
              <a:t>[4] Hu et al. (2018). Squeeze-and-Excitation Networks. CVPR. https://doi.org/10.1109/CVPR.2018.00745</a:t>
            </a:r>
          </a:p>
          <a:p>
            <a:r>
              <a:t>[5] Woo et al. (2018). CBAM. ECCV. https://doi.org/10.1007/978-3-030-01234-2_1</a:t>
            </a:r>
          </a:p>
          <a:p>
            <a:r>
              <a:t>[6] Hou et al. (2021). Coordinate Attention. CVPR. https://openaccess.thecvf.com/content/CVPR2021/html/Hou_Coordinate_Attention_for_Efficient_Mobile_Network_Design_CVPR_2021_paper.html</a:t>
            </a:r>
          </a:p>
          <a:p>
            <a:r>
              <a:t>[10] Ultralytics (2025). Software release v8.3.203. https://github.com/ultralytics/ultralytics/releases/tag/v8.3.203</a:t>
            </a:r>
          </a:p>
          <a:p>
            <a:r>
              <a:t>Study results: baseline/runs/final_evaluation/aggregate.json, test_results.json and ANALYSIS_NOTES.md. Reference numbering follows the written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Manish</a:t>
            </a:r>
          </a:p>
          <a:p>
            <a:r>
              <a:t>TARGET: 65 seconds</a:t>
            </a:r>
          </a:p>
          <a:p>
            <a:endParaRPr/>
          </a:p>
          <a:p>
            <a:r>
              <a:t>SPEAKING SCRIPT</a:t>
            </a:r>
          </a:p>
          <a:p>
            <a:r>
              <a:t>Our question is which attention module offers the best trade-off between detection performance and computational cost when added to this YOLOv8n backbone. The working hypothesis is that selective feature weighting can help the detector separate weak damage from surrounding texture. Because a defect occupies a particular location, we also expect spatially informed mechanisms to be plausible candidates. However, more attention operations can increase execution time, and improved features do not guarantee improved detection. We therefore compare a baseline, SE, CBAM and Coordinate Attention under matched settings. This is an experimental application of existing approaches, rather than a new architecture family. We deliberately narrow the project to detection and measured forward cost. We do not claim robustness to changes in lighting or blur, because those experiments are outside our completed evaluation.</a:t>
            </a:r>
          </a:p>
          <a:p>
            <a:endParaRPr/>
          </a:p>
          <a:p>
            <a:r>
              <a:t>DELIVERY CUE</a:t>
            </a:r>
          </a:p>
          <a:p>
            <a:r>
              <a:t>Stress the connection between local defects and spatial information. Present the hypothesis as something tested, not a proven explanation.</a:t>
            </a:r>
          </a:p>
          <a:p>
            <a:endParaRPr/>
          </a:p>
          <a:p>
            <a:r>
              <a:t>SOURCES</a:t>
            </a:r>
          </a:p>
          <a:p>
            <a:r>
              <a:t>[4] Hu et al. (2018). Squeeze-and-Excitation Networks. CVPR. https://doi.org/10.1109/CVPR.2018.00745</a:t>
            </a:r>
          </a:p>
          <a:p>
            <a:r>
              <a:t>[5] Woo et al. (2018). CBAM. ECCV. https://doi.org/10.1007/978-3-030-01234-2_1</a:t>
            </a:r>
          </a:p>
          <a:p>
            <a:r>
              <a:t>[6] Hou et al. (2021). Coordinate Attention. CVPR. https://openaccess.thecvf.com/content/CVPR2021/html/Hou_Coordinate_Attention_for_Efficient_Mobile_Network_Design_CVPR_2021_paper.html</a:t>
            </a:r>
          </a:p>
          <a:p>
            <a:r>
              <a:t>Study results: baseline/runs/final_evaluation/aggregate.json, test_results.json and ANALYSIS_NOTES.md. Reference numbering follows the written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Manish</a:t>
            </a:r>
          </a:p>
          <a:p>
            <a:r>
              <a:t>TARGET: 55 seconds</a:t>
            </a:r>
          </a:p>
          <a:p>
            <a:endParaRPr/>
          </a:p>
          <a:p>
            <a:r>
              <a:t>SPEAKING SCRIPT</a:t>
            </a:r>
          </a:p>
          <a:p>
            <a:r>
              <a:t>We insert one attention module after the output of C2f layer six in the backbone. With a 640-pixel input, this stage contains 128 channels at a spatial resolution of 40 by 40, corresponding to stride sixteen. The modified output feeds both the following backbone stages and the existing connection to the neck. The detection head and task remain unchanged. We use the same COCO-pretrained starting weights for the shared architecture and check that the custom modules survive checkpoint saving and loading. This placement retains spatial detail while keeping the comparison manageable. We did not search all possible placements, so our findings apply to this particular configuration. Ved will now explain how we evaluated the four models and what we found.</a:t>
            </a:r>
          </a:p>
          <a:p>
            <a:endParaRPr/>
          </a:p>
          <a:p>
            <a:r>
              <a:t>DELIVERY CUE</a:t>
            </a:r>
          </a:p>
          <a:p>
            <a:r>
              <a:t>Trace the attention output into the following backbone and the existing neck connection, then give the handover and pause. Handover target: 4 minutes 30 seconds.</a:t>
            </a:r>
          </a:p>
          <a:p>
            <a:endParaRPr/>
          </a:p>
          <a:p>
            <a:r>
              <a:t>SOURCES</a:t>
            </a:r>
          </a:p>
          <a:p>
            <a:r>
              <a:t>[10] Ultralytics (2025). Software release v8.3.203. https://github.com/ultralytics/ultralytics/releases/tag/v8.3.203</a:t>
            </a:r>
          </a:p>
          <a:p>
            <a:r>
              <a:t>Study results: baseline/runs/final_evaluation/aggregate.json, test_results.json and ANALYSIS_NOTES.md. Reference numbering follows the written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Ved</a:t>
            </a:r>
          </a:p>
          <a:p>
            <a:r>
              <a:t>TARGET: 55 seconds</a:t>
            </a:r>
          </a:p>
          <a:p>
            <a:endParaRPr/>
          </a:p>
          <a:p>
            <a:r>
              <a:t>SPEAKING SCRIPT</a:t>
            </a:r>
          </a:p>
          <a:p>
            <a:r>
              <a:t>Thank you, Manish. We used 710 SSDA images containing 1,512 boxes. Our grouped partition contains 500 training, 106 validation and 104 test images. We group related images using similarity and capture-time information to reduce obvious overlap between partitions. This is a precaution, not a guarantee that every physical apple is independent. We trained four models with seeds forty-two, forty-three and forty-four, giving twelve runs of fifty epochs each. All runs share the same input size, optimiser and augmentation policy. Validation performance selects each saved checkpoint, and the held-out test split provides the final comparison. Our primary metric is mean average precision across IoU thresholds from point five to point nine five, which rewards detection and increasingly precise localisation.</a:t>
            </a:r>
          </a:p>
          <a:p>
            <a:endParaRPr/>
          </a:p>
          <a:p>
            <a:r>
              <a:t>DELIVERY CUE</a:t>
            </a:r>
          </a:p>
          <a:p>
            <a:r>
              <a:t>Define IoU as overlap between predicted and annotated boxes. Do not call mAP image-classification accuracy.</a:t>
            </a:r>
          </a:p>
          <a:p>
            <a:endParaRPr/>
          </a:p>
          <a:p>
            <a:r>
              <a:t>SOURCES</a:t>
            </a:r>
          </a:p>
          <a:p>
            <a:r>
              <a:t>[3] Nguyen (2024). Surface Subtle Defects Apple dataset v1.0.0. https://doi.org/10.5281/zenodo.10957715</a:t>
            </a:r>
          </a:p>
          <a:p>
            <a:r>
              <a:t>[10] Ultralytics (2025). Software release v8.3.203. https://github.com/ultralytics/ultralytics/releases/tag/v8.3.203</a:t>
            </a:r>
          </a:p>
          <a:p>
            <a:r>
              <a:t>Study results: baseline/runs/final_evaluation/aggregate.json, test_results.json and ANALYSIS_NOTES.md. Reference numbering follows the written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Ved</a:t>
            </a:r>
          </a:p>
          <a:p>
            <a:r>
              <a:t>TARGET: 65 seconds</a:t>
            </a:r>
          </a:p>
          <a:p>
            <a:endParaRPr/>
          </a:p>
          <a:p>
            <a:r>
              <a:t>SPEAKING SCRIPT</a:t>
            </a:r>
          </a:p>
          <a:p>
            <a:r>
              <a:t>This chart shows mean test mAP across the three seeds. CBAM reaches 42.11 percent, compared with 40.70 for the baseline, 41.58 for SE and 41.52 for Coordinate Attention. The CBAM improvement is 1.41 percentage points. Importantly, its paired improvement over baseline is positive for all three seeds, rather than depending on one particularly successful run. The small dots show the individual seeds, the diamonds show the means, and the vertical lines show sample standard deviations. CBAM has the smallest observed variation here, while SE has the largest, but three runs are too few to establish population stability or statistical significance. The ranking also depends on the metric. Coordinate Attention has the highest mean AP at IoU point five, by a small margin. Our main conclusion therefore concerns the stricter primary metric, rather than every possible definition of detection performance.</a:t>
            </a:r>
          </a:p>
          <a:p>
            <a:endParaRPr/>
          </a:p>
          <a:p>
            <a:r>
              <a:t>DELIVERY CUE</a:t>
            </a:r>
          </a:p>
          <a:p>
            <a:r>
              <a:t>Pause on 42.11 and 40.70. Say percentage points, not percent improvement. Point to the individual seeds and explain that the SD lines are not confidence intervals.</a:t>
            </a:r>
          </a:p>
          <a:p>
            <a:endParaRPr/>
          </a:p>
          <a:p>
            <a:r>
              <a:t>SOURCES</a:t>
            </a:r>
          </a:p>
          <a:p>
            <a:endParaRPr/>
          </a:p>
          <a:p>
            <a:r>
              <a:t>Study results: baseline/runs/final_evaluation/aggregate.json, test_results.json and ANALYSIS_NOTES.md. Reference numbering follows the written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Ved</a:t>
            </a:r>
          </a:p>
          <a:p>
            <a:r>
              <a:t>TARGET: 55 seconds</a:t>
            </a:r>
          </a:p>
          <a:p>
            <a:endParaRPr/>
          </a:p>
          <a:p>
            <a:r>
              <a:t>SPEAKING SCRIPT</a:t>
            </a:r>
          </a:p>
          <a:p>
            <a:r>
              <a:t>The trade-off becomes clearer when we plot performance against median forward latency. CBAM has the highest primary detection score, but its forward pass takes about 7.113 milliseconds, compared with 6.586 for baseline. That is approximately eight percent more time. SE has a smaller measured overhead of about 1.3 percent, together with a smaller average detection gain. We measured fused FP32 models at batch size one on an RTX 2050, with warm-up and three timing blocks. These timings exclude preprocessing, data transfer and non-maximum suppression, so they are not end-to-end application throughput. CBAM is therefore an accuracy-oriented candidate for this setting. A deployment with stricter latency requirements could reasonably choose another model.</a:t>
            </a:r>
          </a:p>
          <a:p>
            <a:endParaRPr/>
          </a:p>
          <a:p>
            <a:r>
              <a:t>DELIVERY CUE</a:t>
            </a:r>
          </a:p>
          <a:p>
            <a:r>
              <a:t>Explain that upper-left is desirable. Do not translate forward latency directly into real-world grading speed.</a:t>
            </a:r>
          </a:p>
          <a:p>
            <a:endParaRPr/>
          </a:p>
          <a:p>
            <a:r>
              <a:t>SOURCES</a:t>
            </a:r>
          </a:p>
          <a:p>
            <a:endParaRPr/>
          </a:p>
          <a:p>
            <a:r>
              <a:t>Study results: baseline/runs/final_evaluation/aggregate.json, test_results.json and ANALYSIS_NOTES.md. Reference numbering follows the written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Ved</a:t>
            </a:r>
          </a:p>
          <a:p>
            <a:r>
              <a:t>TARGET: 50 seconds</a:t>
            </a:r>
          </a:p>
          <a:p>
            <a:endParaRPr/>
          </a:p>
          <a:p>
            <a:r>
              <a:t>SPEAKING SCRIPT</a:t>
            </a:r>
          </a:p>
          <a:p>
            <a:r>
              <a:t>A higher average score does not mean that every defect is detected. On this fixed test image, the left panel shows annotations and the right shows CBAM predictions. Some upper scratches are missing, while lower damage has overlapping predictions. There is also a prediction near the right edge without a corresponding annotation, which we cannot resolve biologically from the model output alone. Across the test set, CBAM achieves 32.94 percent AP for scratches and 51.28 for pest damage. Scratches remain the harder class. This example illustrates a failure pattern, rather than estimating how frequently it occurs. We also did not inspect attention maps, so we cannot claim that the model demonstrably learned to focus on damaged peel.</a:t>
            </a:r>
          </a:p>
          <a:p>
            <a:endParaRPr/>
          </a:p>
          <a:p>
            <a:r>
              <a:t>DELIVERY CUE</a:t>
            </a:r>
          </a:p>
          <a:p>
            <a:r>
              <a:t>Point to upper misses, then lower overlapping boxes. Avoid changing thresholds while explaining the example.</a:t>
            </a:r>
          </a:p>
          <a:p>
            <a:endParaRPr/>
          </a:p>
          <a:p>
            <a:r>
              <a:t>SOURCES</a:t>
            </a:r>
          </a:p>
          <a:p>
            <a:r>
              <a:t>[3] Nguyen (2024). Surface Subtle Defects Apple dataset v1.0.0. https://doi.org/10.5281/zenodo.10957715</a:t>
            </a:r>
          </a:p>
          <a:p>
            <a:r>
              <a:t>Study results: baseline/runs/final_evaluation/aggregate.json, test_results.json and ANALYSIS_NOTES.md. Reference numbering follows the written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Ved</a:t>
            </a:r>
          </a:p>
          <a:p>
            <a:r>
              <a:t>TARGET: 45 seconds</a:t>
            </a:r>
          </a:p>
          <a:p>
            <a:endParaRPr/>
          </a:p>
          <a:p>
            <a:r>
              <a:t>SPEAKING SCRIPT</a:t>
            </a:r>
          </a:p>
          <a:p>
            <a:r>
              <a:t>To conclude, CBAM provides the strongest mean primary detection score in our fixed YOLOv8n configuration. Its gain is modest and comes with a measurable latency cost. This supports it as a candidate for this dataset and placement, not as a universally best attention mechanism. Our main limitations are the small dataset, uncertain physical-fruit independence, three training seeds and the absence of healthy-image negatives. The next priorities are stronger identity-based splits, healthy negatives and equal-budget placement comparisons. Deployment work would also need complete camera-to-decision timing. The practical contribution is a reproducible comparison that shows both the benefit and the remaining errors. Thank you.</a:t>
            </a:r>
          </a:p>
          <a:p>
            <a:endParaRPr/>
          </a:p>
          <a:p>
            <a:r>
              <a:t>DELIVERY CUE</a:t>
            </a:r>
          </a:p>
          <a:p>
            <a:r>
              <a:t>Finish the spoken content at approximately 9 minutes. Advance to references without reading every entry.</a:t>
            </a:r>
          </a:p>
          <a:p>
            <a:endParaRPr/>
          </a:p>
          <a:p>
            <a:r>
              <a:t>SOURCES</a:t>
            </a:r>
          </a:p>
          <a:p>
            <a:endParaRPr/>
          </a:p>
          <a:p>
            <a:r>
              <a:t>Study results: baseline/runs/final_evaluation/aggregate.json, test_results.json and ANALYSIS_NOTES.md. Reference numbering follows the written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slide. Do not read each entry aloud. Sources are linked and use the report numbering. Generative AI assisted slide structure, drafting and formatting. Both presenters should review and personalise their section before recording. Dataset images: SSDA v1.0.0, CC BY 4.0, https://doi.org/10.5281/zenodo.10957715. All experimental values come from the project evaluation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2A1EE4E-65E1-4CF8-A52F-5D72EFFA8B9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8D99FB8F-B6D7-4ED5-AAEE-4F442C65E2C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5367702-2582-41ED-9E59-D7059F6CE0F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769C35D-7B9E-481B-B061-DD4672E4BED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F58EED04-3E5A-4856-A273-2D87CD2406D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80961E1-D1B9-4501-9819-2A573B69B1B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3DB4116-5495-4F79-9F8C-D5122C6944F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5F6B5F38-F3CE-4BAA-AE68-20F1E298A8B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2E0DF06-080B-4C66-9771-199E385B306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008F2C0-9CC8-4FA0-B51A-C9F7285F9E9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hyperlink" Target="https://openaccess.thecvf.com/content/CVPR2021/html/Hou_Coordinate_Attention_for_Efficient_Mobile_Network_Design_CVPR_2021_paper.html" TargetMode="External"/><Relationship Id="rId3" Type="http://schemas.openxmlformats.org/officeDocument/2006/relationships/hyperlink" Target="https://doi.org/10.3390/s25051524" TargetMode="External"/><Relationship Id="rId7" Type="http://schemas.openxmlformats.org/officeDocument/2006/relationships/hyperlink" Target="https://doi.org/10.1007/978-3-030-01234-2_1"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hyperlink" Target="https://doi.org/10.1109/CVPR.2018.00745" TargetMode="External"/><Relationship Id="rId5" Type="http://schemas.openxmlformats.org/officeDocument/2006/relationships/hyperlink" Target="https://doi.org/10.5281/zenodo.10957715" TargetMode="External"/><Relationship Id="rId4" Type="http://schemas.openxmlformats.org/officeDocument/2006/relationships/hyperlink" Target="https://doi.org/10.1109/ACCESS.2024.3504399" TargetMode="External"/><Relationship Id="rId9" Type="http://schemas.openxmlformats.org/officeDocument/2006/relationships/hyperlink" Target="https://github.com/ultralytics/ultralytics/releases/tag/v8.3.20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APPLE DEFECT DETECTION">
            <a:extLst>
              <a:ext uri="{FF2B5EF4-FFF2-40B4-BE49-F238E27FC236}">
                <a16:creationId xmlns:a16="http://schemas.microsoft.com/office/drawing/2014/main" id="{E13361EB-06AA-408B-A71F-F6725F06200B}"/>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Attention mechanisms for apple defect de">
            <a:extLst>
              <a:ext uri="{FF2B5EF4-FFF2-40B4-BE49-F238E27FC236}">
                <a16:creationId xmlns:a16="http://schemas.microsoft.com/office/drawing/2014/main" id="{0B4F4616-4E0A-4D8F-B7C2-8465ACFC81B8}"/>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Attention mechanisms for apple defect detection</a:t>
            </a:r>
          </a:p>
        </p:txBody>
      </p:sp>
      <p:sp>
        <p:nvSpPr>
          <p:cNvPr id="3" name="Manish Gadia">
            <a:extLst>
              <a:ext uri="{FF2B5EF4-FFF2-40B4-BE49-F238E27FC236}">
                <a16:creationId xmlns:a16="http://schemas.microsoft.com/office/drawing/2014/main" id="{2B229ACD-9E45-4370-8C76-CCC0EBB84524}"/>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Manish Gadia</a:t>
            </a:r>
          </a:p>
        </p:txBody>
      </p:sp>
      <p:sp>
        <p:nvSpPr>
          <p:cNvPr id="4" name="1">
            <a:extLst>
              <a:ext uri="{FF2B5EF4-FFF2-40B4-BE49-F238E27FC236}">
                <a16:creationId xmlns:a16="http://schemas.microsoft.com/office/drawing/2014/main" id="{A7D3FFEB-1E9F-4446-8C09-FC94DEA9F2F0}"/>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1</a:t>
            </a:r>
          </a:p>
        </p:txBody>
      </p:sp>
      <p:sp>
        <p:nvSpPr>
          <p:cNvPr id="5" name="A controlled comparison in YOLOv8n">
            <a:extLst>
              <a:ext uri="{FF2B5EF4-FFF2-40B4-BE49-F238E27FC236}">
                <a16:creationId xmlns:a16="http://schemas.microsoft.com/office/drawing/2014/main" id="{BB53AA7F-A78D-4693-9A28-BEB922AC9AFC}"/>
              </a:ext>
            </a:extLst>
          </p:cNvPr>
          <p:cNvSpPr>
            <a:spLocks noGrp="1"/>
          </p:cNvSpPr>
          <p:nvPr/>
        </p:nvSpPr>
        <p:spPr>
          <a:xfrm>
            <a:off x="609600" y="2047875"/>
            <a:ext cx="10477500" cy="666750"/>
          </a:xfrm>
          <a:prstGeom prst="rect">
            <a:avLst/>
          </a:prstGeom>
          <a:noFill/>
          <a:ln w="0">
            <a:noFill/>
          </a:ln>
        </p:spPr>
        <p:txBody>
          <a:bodyPr wrap="square" lIns="0" tIns="0" rIns="0" bIns="0" anchor="t">
            <a:noAutofit/>
          </a:bodyPr>
          <a:lstStyle>
            <a:defPPr>
              <a:defRPr sz="2850" b="1">
                <a:solidFill>
                  <a:srgbClr val="3D8DFF"/>
                </a:solidFill>
                <a:latin typeface="Arial"/>
                <a:ea typeface="Arial"/>
                <a:cs typeface="Arial"/>
              </a:defRPr>
            </a:defPPr>
            <a:lvl1pPr>
              <a:defRPr sz="2850" b="1">
                <a:solidFill>
                  <a:srgbClr val="3D8DFF"/>
                </a:solidFill>
                <a:latin typeface="Arial"/>
                <a:ea typeface="Arial"/>
                <a:cs typeface="Arial"/>
              </a:defRPr>
            </a:lvl1pPr>
            <a:lvl2pPr>
              <a:defRPr sz="2850" b="1">
                <a:solidFill>
                  <a:srgbClr val="3D8DFF"/>
                </a:solidFill>
                <a:latin typeface="Arial"/>
                <a:ea typeface="Arial"/>
                <a:cs typeface="Arial"/>
              </a:defRPr>
            </a:lvl2pPr>
            <a:lvl3pPr>
              <a:defRPr sz="2850" b="1">
                <a:solidFill>
                  <a:srgbClr val="3D8DFF"/>
                </a:solidFill>
                <a:latin typeface="Arial"/>
                <a:ea typeface="Arial"/>
                <a:cs typeface="Arial"/>
              </a:defRPr>
            </a:lvl3pPr>
            <a:lvl4pPr>
              <a:defRPr sz="2850" b="1">
                <a:solidFill>
                  <a:srgbClr val="3D8DFF"/>
                </a:solidFill>
                <a:latin typeface="Arial"/>
                <a:ea typeface="Arial"/>
                <a:cs typeface="Arial"/>
              </a:defRPr>
            </a:lvl4pPr>
            <a:lvl5pPr>
              <a:defRPr sz="2850" b="1">
                <a:solidFill>
                  <a:srgbClr val="3D8DFF"/>
                </a:solidFill>
                <a:latin typeface="Arial"/>
                <a:ea typeface="Arial"/>
                <a:cs typeface="Arial"/>
              </a:defRPr>
            </a:lvl5pPr>
            <a:lvl6pPr>
              <a:defRPr sz="2850" b="1">
                <a:solidFill>
                  <a:srgbClr val="3D8DFF"/>
                </a:solidFill>
                <a:latin typeface="Arial"/>
                <a:ea typeface="Arial"/>
                <a:cs typeface="Arial"/>
              </a:defRPr>
            </a:lvl6pPr>
            <a:lvl7pPr>
              <a:defRPr sz="2850" b="1">
                <a:solidFill>
                  <a:srgbClr val="3D8DFF"/>
                </a:solidFill>
                <a:latin typeface="Arial"/>
                <a:ea typeface="Arial"/>
                <a:cs typeface="Arial"/>
              </a:defRPr>
            </a:lvl7pPr>
            <a:lvl8pPr>
              <a:defRPr sz="2850" b="1">
                <a:solidFill>
                  <a:srgbClr val="3D8DFF"/>
                </a:solidFill>
                <a:latin typeface="Arial"/>
                <a:ea typeface="Arial"/>
                <a:cs typeface="Arial"/>
              </a:defRPr>
            </a:lvl8pPr>
            <a:lvl9pPr>
              <a:defRPr sz="2850" b="1">
                <a:solidFill>
                  <a:srgbClr val="3D8DFF"/>
                </a:solidFill>
                <a:latin typeface="Arial"/>
                <a:ea typeface="Arial"/>
                <a:cs typeface="Arial"/>
              </a:defRPr>
            </a:lvl9pPr>
          </a:lstStyle>
          <a:p>
            <a:pPr>
              <a:defRPr sz="2850" b="1">
                <a:solidFill>
                  <a:srgbClr val="3D8DFF"/>
                </a:solidFill>
                <a:latin typeface="Arial"/>
                <a:ea typeface="Arial"/>
                <a:cs typeface="Arial"/>
              </a:defRPr>
            </a:pPr>
            <a:r>
              <a:rPr sz="2850" b="1">
                <a:solidFill>
                  <a:srgbClr val="3D8DFF"/>
                </a:solidFill>
                <a:latin typeface="Arial"/>
                <a:ea typeface="Arial"/>
                <a:cs typeface="Arial"/>
              </a:rPr>
              <a:t>A controlled comparison in YOLOv8n</a:t>
            </a:r>
          </a:p>
        </p:txBody>
      </p:sp>
      <p:sp>
        <p:nvSpPr>
          <p:cNvPr id="6" name="Baseline    SE    CBAM    Coordinate Att">
            <a:extLst>
              <a:ext uri="{FF2B5EF4-FFF2-40B4-BE49-F238E27FC236}">
                <a16:creationId xmlns:a16="http://schemas.microsoft.com/office/drawing/2014/main" id="{DE01E584-32F4-465D-802C-E33186D26406}"/>
              </a:ext>
            </a:extLst>
          </p:cNvPr>
          <p:cNvSpPr>
            <a:spLocks noGrp="1"/>
          </p:cNvSpPr>
          <p:nvPr/>
        </p:nvSpPr>
        <p:spPr>
          <a:xfrm>
            <a:off x="609600" y="3095625"/>
            <a:ext cx="10477500" cy="523875"/>
          </a:xfrm>
          <a:prstGeom prst="rect">
            <a:avLst/>
          </a:prstGeom>
          <a:noFill/>
          <a:ln w="0">
            <a:noFill/>
          </a:ln>
        </p:spPr>
        <p:txBody>
          <a:bodyPr wrap="square" lIns="0" tIns="0" rIns="0" bIns="0" anchor="t">
            <a:noAutofit/>
          </a:bodyPr>
          <a:lstStyle>
            <a:defPPr>
              <a:defRPr sz="2250" b="0">
                <a:solidFill>
                  <a:srgbClr val="123B63"/>
                </a:solidFill>
                <a:latin typeface="Arial"/>
                <a:ea typeface="Arial"/>
                <a:cs typeface="Arial"/>
              </a:defRPr>
            </a:defPPr>
            <a:lvl1pPr>
              <a:defRPr sz="2250" b="0">
                <a:solidFill>
                  <a:srgbClr val="123B63"/>
                </a:solidFill>
                <a:latin typeface="Arial"/>
                <a:ea typeface="Arial"/>
                <a:cs typeface="Arial"/>
              </a:defRPr>
            </a:lvl1pPr>
            <a:lvl2pPr>
              <a:defRPr sz="2250" b="0">
                <a:solidFill>
                  <a:srgbClr val="123B63"/>
                </a:solidFill>
                <a:latin typeface="Arial"/>
                <a:ea typeface="Arial"/>
                <a:cs typeface="Arial"/>
              </a:defRPr>
            </a:lvl2pPr>
            <a:lvl3pPr>
              <a:defRPr sz="2250" b="0">
                <a:solidFill>
                  <a:srgbClr val="123B63"/>
                </a:solidFill>
                <a:latin typeface="Arial"/>
                <a:ea typeface="Arial"/>
                <a:cs typeface="Arial"/>
              </a:defRPr>
            </a:lvl3pPr>
            <a:lvl4pPr>
              <a:defRPr sz="2250" b="0">
                <a:solidFill>
                  <a:srgbClr val="123B63"/>
                </a:solidFill>
                <a:latin typeface="Arial"/>
                <a:ea typeface="Arial"/>
                <a:cs typeface="Arial"/>
              </a:defRPr>
            </a:lvl4pPr>
            <a:lvl5pPr>
              <a:defRPr sz="2250" b="0">
                <a:solidFill>
                  <a:srgbClr val="123B63"/>
                </a:solidFill>
                <a:latin typeface="Arial"/>
                <a:ea typeface="Arial"/>
                <a:cs typeface="Arial"/>
              </a:defRPr>
            </a:lvl5pPr>
            <a:lvl6pPr>
              <a:defRPr sz="2250" b="0">
                <a:solidFill>
                  <a:srgbClr val="123B63"/>
                </a:solidFill>
                <a:latin typeface="Arial"/>
                <a:ea typeface="Arial"/>
                <a:cs typeface="Arial"/>
              </a:defRPr>
            </a:lvl6pPr>
            <a:lvl7pPr>
              <a:defRPr sz="2250" b="0">
                <a:solidFill>
                  <a:srgbClr val="123B63"/>
                </a:solidFill>
                <a:latin typeface="Arial"/>
                <a:ea typeface="Arial"/>
                <a:cs typeface="Arial"/>
              </a:defRPr>
            </a:lvl7pPr>
            <a:lvl8pPr>
              <a:defRPr sz="2250" b="0">
                <a:solidFill>
                  <a:srgbClr val="123B63"/>
                </a:solidFill>
                <a:latin typeface="Arial"/>
                <a:ea typeface="Arial"/>
                <a:cs typeface="Arial"/>
              </a:defRPr>
            </a:lvl8pPr>
            <a:lvl9pPr>
              <a:defRPr sz="2250" b="0">
                <a:solidFill>
                  <a:srgbClr val="123B63"/>
                </a:solidFill>
                <a:latin typeface="Arial"/>
                <a:ea typeface="Arial"/>
                <a:cs typeface="Arial"/>
              </a:defRPr>
            </a:lvl9pPr>
          </a:lstStyle>
          <a:p>
            <a:pPr>
              <a:defRPr sz="2250" b="0">
                <a:solidFill>
                  <a:srgbClr val="123B63"/>
                </a:solidFill>
                <a:latin typeface="Arial"/>
                <a:ea typeface="Arial"/>
                <a:cs typeface="Arial"/>
              </a:defRPr>
            </a:pPr>
            <a:r>
              <a:rPr sz="2250" b="0">
                <a:solidFill>
                  <a:srgbClr val="123B63"/>
                </a:solidFill>
                <a:latin typeface="Arial"/>
                <a:ea typeface="Arial"/>
                <a:cs typeface="Arial"/>
              </a:rPr>
              <a:t>Baseline    SE    CBAM    Coordinate Attention</a:t>
            </a:r>
          </a:p>
        </p:txBody>
      </p:sp>
      <p:sp>
        <p:nvSpPr>
          <p:cNvPr id="7" name="Ved Waghela and Manish Gadia">
            <a:extLst>
              <a:ext uri="{FF2B5EF4-FFF2-40B4-BE49-F238E27FC236}">
                <a16:creationId xmlns:a16="http://schemas.microsoft.com/office/drawing/2014/main" id="{5719BA95-CBA4-478D-8B29-6E273FAAFA4B}"/>
              </a:ext>
            </a:extLst>
          </p:cNvPr>
          <p:cNvSpPr>
            <a:spLocks noGrp="1"/>
          </p:cNvSpPr>
          <p:nvPr/>
        </p:nvSpPr>
        <p:spPr>
          <a:xfrm>
            <a:off x="609600" y="4667250"/>
            <a:ext cx="10001250" cy="428625"/>
          </a:xfrm>
          <a:prstGeom prst="rect">
            <a:avLst/>
          </a:prstGeom>
          <a:noFill/>
          <a:ln w="0">
            <a:noFill/>
          </a:ln>
        </p:spPr>
        <p:txBody>
          <a:bodyPr wrap="square" lIns="0" tIns="0" rIns="0" bIns="0" anchor="t">
            <a:noAutofit/>
          </a:bodyPr>
          <a:lstStyle>
            <a:defPPr>
              <a:defRPr sz="2100" b="1">
                <a:solidFill>
                  <a:srgbClr val="111827"/>
                </a:solidFill>
                <a:latin typeface="Arial"/>
                <a:ea typeface="Arial"/>
                <a:cs typeface="Arial"/>
              </a:defRPr>
            </a:defPPr>
            <a:lvl1pPr>
              <a:defRPr sz="2100" b="1">
                <a:solidFill>
                  <a:srgbClr val="111827"/>
                </a:solidFill>
                <a:latin typeface="Arial"/>
                <a:ea typeface="Arial"/>
                <a:cs typeface="Arial"/>
              </a:defRPr>
            </a:lvl1pPr>
            <a:lvl2pPr>
              <a:defRPr sz="2100" b="1">
                <a:solidFill>
                  <a:srgbClr val="111827"/>
                </a:solidFill>
                <a:latin typeface="Arial"/>
                <a:ea typeface="Arial"/>
                <a:cs typeface="Arial"/>
              </a:defRPr>
            </a:lvl2pPr>
            <a:lvl3pPr>
              <a:defRPr sz="2100" b="1">
                <a:solidFill>
                  <a:srgbClr val="111827"/>
                </a:solidFill>
                <a:latin typeface="Arial"/>
                <a:ea typeface="Arial"/>
                <a:cs typeface="Arial"/>
              </a:defRPr>
            </a:lvl3pPr>
            <a:lvl4pPr>
              <a:defRPr sz="2100" b="1">
                <a:solidFill>
                  <a:srgbClr val="111827"/>
                </a:solidFill>
                <a:latin typeface="Arial"/>
                <a:ea typeface="Arial"/>
                <a:cs typeface="Arial"/>
              </a:defRPr>
            </a:lvl4pPr>
            <a:lvl5pPr>
              <a:defRPr sz="2100" b="1">
                <a:solidFill>
                  <a:srgbClr val="111827"/>
                </a:solidFill>
                <a:latin typeface="Arial"/>
                <a:ea typeface="Arial"/>
                <a:cs typeface="Arial"/>
              </a:defRPr>
            </a:lvl5pPr>
            <a:lvl6pPr>
              <a:defRPr sz="2100" b="1">
                <a:solidFill>
                  <a:srgbClr val="111827"/>
                </a:solidFill>
                <a:latin typeface="Arial"/>
                <a:ea typeface="Arial"/>
                <a:cs typeface="Arial"/>
              </a:defRPr>
            </a:lvl6pPr>
            <a:lvl7pPr>
              <a:defRPr sz="2100" b="1">
                <a:solidFill>
                  <a:srgbClr val="111827"/>
                </a:solidFill>
                <a:latin typeface="Arial"/>
                <a:ea typeface="Arial"/>
                <a:cs typeface="Arial"/>
              </a:defRPr>
            </a:lvl7pPr>
            <a:lvl8pPr>
              <a:defRPr sz="2100" b="1">
                <a:solidFill>
                  <a:srgbClr val="111827"/>
                </a:solidFill>
                <a:latin typeface="Arial"/>
                <a:ea typeface="Arial"/>
                <a:cs typeface="Arial"/>
              </a:defRPr>
            </a:lvl8pPr>
            <a:lvl9pPr>
              <a:defRPr sz="2100" b="1">
                <a:solidFill>
                  <a:srgbClr val="111827"/>
                </a:solidFill>
                <a:latin typeface="Arial"/>
                <a:ea typeface="Arial"/>
                <a:cs typeface="Arial"/>
              </a:defRPr>
            </a:lvl9pPr>
          </a:lstStyle>
          <a:p>
            <a:pPr>
              <a:defRPr sz="2100" b="1">
                <a:solidFill>
                  <a:srgbClr val="111827"/>
                </a:solidFill>
                <a:latin typeface="Arial"/>
                <a:ea typeface="Arial"/>
                <a:cs typeface="Arial"/>
              </a:defRPr>
            </a:pPr>
            <a:r>
              <a:rPr sz="2100" b="1">
                <a:solidFill>
                  <a:srgbClr val="111827"/>
                </a:solidFill>
                <a:latin typeface="Arial"/>
                <a:ea typeface="Arial"/>
                <a:cs typeface="Arial"/>
              </a:rPr>
              <a:t>Ved Waghela and Manish Gadia</a:t>
            </a:r>
          </a:p>
        </p:txBody>
      </p:sp>
      <p:sp>
        <p:nvSpPr>
          <p:cNvPr id="8" name="COMPSCI 764 research project&#10;University ">
            <a:extLst>
              <a:ext uri="{FF2B5EF4-FFF2-40B4-BE49-F238E27FC236}">
                <a16:creationId xmlns:a16="http://schemas.microsoft.com/office/drawing/2014/main" id="{05AAF82F-BE8B-492B-9951-61AE27750D11}"/>
              </a:ext>
            </a:extLst>
          </p:cNvPr>
          <p:cNvSpPr>
            <a:spLocks noGrp="1"/>
          </p:cNvSpPr>
          <p:nvPr/>
        </p:nvSpPr>
        <p:spPr>
          <a:xfrm>
            <a:off x="609600" y="5238750"/>
            <a:ext cx="9525000" cy="666750"/>
          </a:xfrm>
          <a:prstGeom prst="rect">
            <a:avLst/>
          </a:prstGeom>
          <a:noFill/>
          <a:ln w="0">
            <a:noFill/>
          </a:ln>
        </p:spPr>
        <p:txBody>
          <a:bodyPr wrap="square" lIns="0" tIns="0" rIns="0" bIns="0" anchor="t">
            <a:noAutofit/>
          </a:bodyPr>
          <a:lstStyle>
            <a:defPPr>
              <a:defRPr sz="1800" b="0">
                <a:solidFill>
                  <a:srgbClr val="5B6472"/>
                </a:solidFill>
                <a:latin typeface="Arial"/>
                <a:ea typeface="Arial"/>
                <a:cs typeface="Arial"/>
              </a:defRPr>
            </a:defPPr>
            <a:lvl1pPr>
              <a:defRPr sz="1800" b="0">
                <a:solidFill>
                  <a:srgbClr val="5B6472"/>
                </a:solidFill>
                <a:latin typeface="Arial"/>
                <a:ea typeface="Arial"/>
                <a:cs typeface="Arial"/>
              </a:defRPr>
            </a:lvl1pPr>
            <a:lvl2pPr>
              <a:defRPr sz="1800" b="0">
                <a:solidFill>
                  <a:srgbClr val="5B6472"/>
                </a:solidFill>
                <a:latin typeface="Arial"/>
                <a:ea typeface="Arial"/>
                <a:cs typeface="Arial"/>
              </a:defRPr>
            </a:lvl2pPr>
            <a:lvl3pPr>
              <a:defRPr sz="1800" b="0">
                <a:solidFill>
                  <a:srgbClr val="5B6472"/>
                </a:solidFill>
                <a:latin typeface="Arial"/>
                <a:ea typeface="Arial"/>
                <a:cs typeface="Arial"/>
              </a:defRPr>
            </a:lvl3pPr>
            <a:lvl4pPr>
              <a:defRPr sz="1800" b="0">
                <a:solidFill>
                  <a:srgbClr val="5B6472"/>
                </a:solidFill>
                <a:latin typeface="Arial"/>
                <a:ea typeface="Arial"/>
                <a:cs typeface="Arial"/>
              </a:defRPr>
            </a:lvl4pPr>
            <a:lvl5pPr>
              <a:defRPr sz="1800" b="0">
                <a:solidFill>
                  <a:srgbClr val="5B6472"/>
                </a:solidFill>
                <a:latin typeface="Arial"/>
                <a:ea typeface="Arial"/>
                <a:cs typeface="Arial"/>
              </a:defRPr>
            </a:lvl5pPr>
            <a:lvl6pPr>
              <a:defRPr sz="1800" b="0">
                <a:solidFill>
                  <a:srgbClr val="5B6472"/>
                </a:solidFill>
                <a:latin typeface="Arial"/>
                <a:ea typeface="Arial"/>
                <a:cs typeface="Arial"/>
              </a:defRPr>
            </a:lvl6pPr>
            <a:lvl7pPr>
              <a:defRPr sz="1800" b="0">
                <a:solidFill>
                  <a:srgbClr val="5B6472"/>
                </a:solidFill>
                <a:latin typeface="Arial"/>
                <a:ea typeface="Arial"/>
                <a:cs typeface="Arial"/>
              </a:defRPr>
            </a:lvl7pPr>
            <a:lvl8pPr>
              <a:defRPr sz="1800" b="0">
                <a:solidFill>
                  <a:srgbClr val="5B6472"/>
                </a:solidFill>
                <a:latin typeface="Arial"/>
                <a:ea typeface="Arial"/>
                <a:cs typeface="Arial"/>
              </a:defRPr>
            </a:lvl8pPr>
            <a:lvl9pPr>
              <a:defRPr sz="1800" b="0">
                <a:solidFill>
                  <a:srgbClr val="5B6472"/>
                </a:solidFill>
                <a:latin typeface="Arial"/>
                <a:ea typeface="Arial"/>
                <a:cs typeface="Arial"/>
              </a:defRPr>
            </a:lvl9pPr>
          </a:lstStyle>
          <a:p>
            <a:pPr>
              <a:defRPr sz="1800" b="0">
                <a:solidFill>
                  <a:srgbClr val="5B6472"/>
                </a:solidFill>
                <a:latin typeface="Arial"/>
                <a:ea typeface="Arial"/>
                <a:cs typeface="Arial"/>
              </a:defRPr>
            </a:pPr>
            <a:r>
              <a:rPr sz="1800" b="0">
                <a:solidFill>
                  <a:srgbClr val="5B6472"/>
                </a:solidFill>
                <a:latin typeface="Arial"/>
                <a:ea typeface="Arial"/>
                <a:cs typeface="Arial"/>
              </a:rPr>
              <a:t>COMPSCI 764 research project</a:t>
            </a:r>
          </a:p>
          <a:p>
            <a:pPr>
              <a:defRPr sz="1800" b="0">
                <a:solidFill>
                  <a:srgbClr val="5B6472"/>
                </a:solidFill>
                <a:latin typeface="Arial"/>
                <a:ea typeface="Arial"/>
                <a:cs typeface="Arial"/>
              </a:defRPr>
            </a:pPr>
            <a:r>
              <a:rPr sz="1800" b="0">
                <a:solidFill>
                  <a:srgbClr val="5B6472"/>
                </a:solidFill>
                <a:latin typeface="Arial"/>
                <a:ea typeface="Arial"/>
                <a:cs typeface="Arial"/>
              </a:rPr>
              <a:t>University of Auckland</a:t>
            </a:r>
          </a:p>
        </p:txBody>
      </p:sp>
    </p:spTree>
    <p:extLst>
      <p:ext uri="{BB962C8B-B14F-4D97-AF65-F5344CB8AC3E}">
        <p14:creationId xmlns:p14="http://schemas.microsoft.com/office/powerpoint/2010/main" val="1001408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APPLE DEFECT DETECTION">
            <a:extLst>
              <a:ext uri="{FF2B5EF4-FFF2-40B4-BE49-F238E27FC236}">
                <a16:creationId xmlns:a16="http://schemas.microsoft.com/office/drawing/2014/main" id="{9988D604-8B28-4DD3-9B4B-9202D3CE24C7}"/>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Subtle defects can resemble normal peel ">
            <a:extLst>
              <a:ext uri="{FF2B5EF4-FFF2-40B4-BE49-F238E27FC236}">
                <a16:creationId xmlns:a16="http://schemas.microsoft.com/office/drawing/2014/main" id="{0B6AA669-7CC3-4971-A330-A08957DBC8B4}"/>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Subtle defects can resemble normal peel texture</a:t>
            </a:r>
          </a:p>
        </p:txBody>
      </p:sp>
      <p:sp>
        <p:nvSpPr>
          <p:cNvPr id="3" name="Manish Gadia">
            <a:extLst>
              <a:ext uri="{FF2B5EF4-FFF2-40B4-BE49-F238E27FC236}">
                <a16:creationId xmlns:a16="http://schemas.microsoft.com/office/drawing/2014/main" id="{45B2BB3D-EA14-4C4D-9877-69A112F0084E}"/>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Manish Gadia</a:t>
            </a:r>
          </a:p>
        </p:txBody>
      </p:sp>
      <p:sp>
        <p:nvSpPr>
          <p:cNvPr id="4" name="2">
            <a:extLst>
              <a:ext uri="{FF2B5EF4-FFF2-40B4-BE49-F238E27FC236}">
                <a16:creationId xmlns:a16="http://schemas.microsoft.com/office/drawing/2014/main" id="{78273568-2E5D-469D-BB69-04B27D31FB6B}"/>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2</a:t>
            </a:r>
          </a:p>
        </p:txBody>
      </p:sp>
      <p:pic>
        <p:nvPicPr>
          <p:cNvPr id="5" name="Picture 4">
            <a:extLst>
              <a:ext uri="{FF2B5EF4-FFF2-40B4-BE49-F238E27FC236}">
                <a16:creationId xmlns:a16="http://schemas.microsoft.com/office/drawing/2014/main" id="{92EE613D-0CA5-41E5-98A3-8C42CE21AF9A}"/>
              </a:ext>
            </a:extLst>
          </p:cNvPr>
          <p:cNvPicPr>
            <a:picLocks noChangeAspect="1"/>
          </p:cNvPicPr>
          <p:nvPr/>
        </p:nvPicPr>
        <p:blipFill>
          <a:blip r:embed="rId3"/>
          <a:stretch/>
        </p:blipFill>
        <p:spPr>
          <a:xfrm>
            <a:off x="1181100" y="1809750"/>
            <a:ext cx="4000500" cy="4000500"/>
          </a:xfrm>
          <a:prstGeom prst="rect">
            <a:avLst/>
          </a:prstGeom>
        </p:spPr>
      </p:pic>
      <p:sp>
        <p:nvSpPr>
          <p:cNvPr id="6" name="Where is the defect?">
            <a:extLst>
              <a:ext uri="{FF2B5EF4-FFF2-40B4-BE49-F238E27FC236}">
                <a16:creationId xmlns:a16="http://schemas.microsoft.com/office/drawing/2014/main" id="{2F5A89B8-E0CF-4161-BBED-63055FBDA1E9}"/>
              </a:ext>
            </a:extLst>
          </p:cNvPr>
          <p:cNvSpPr>
            <a:spLocks noGrp="1"/>
          </p:cNvSpPr>
          <p:nvPr/>
        </p:nvSpPr>
        <p:spPr>
          <a:xfrm>
            <a:off x="6286500" y="2000250"/>
            <a:ext cx="5095875" cy="523875"/>
          </a:xfrm>
          <a:prstGeom prst="rect">
            <a:avLst/>
          </a:prstGeom>
          <a:noFill/>
          <a:ln w="0">
            <a:noFill/>
          </a:ln>
        </p:spPr>
        <p:txBody>
          <a:bodyPr wrap="square" lIns="0" tIns="0" rIns="0" bIns="0" anchor="t">
            <a:noAutofit/>
          </a:bodyPr>
          <a:lstStyle>
            <a:defPPr>
              <a:defRPr sz="2550" b="1">
                <a:solidFill>
                  <a:srgbClr val="3D8DFF"/>
                </a:solidFill>
                <a:latin typeface="Arial"/>
                <a:ea typeface="Arial"/>
                <a:cs typeface="Arial"/>
              </a:defRPr>
            </a:defPPr>
            <a:lvl1pPr>
              <a:defRPr sz="2550" b="1">
                <a:solidFill>
                  <a:srgbClr val="3D8DFF"/>
                </a:solidFill>
                <a:latin typeface="Arial"/>
                <a:ea typeface="Arial"/>
                <a:cs typeface="Arial"/>
              </a:defRPr>
            </a:lvl1pPr>
            <a:lvl2pPr>
              <a:defRPr sz="2550" b="1">
                <a:solidFill>
                  <a:srgbClr val="3D8DFF"/>
                </a:solidFill>
                <a:latin typeface="Arial"/>
                <a:ea typeface="Arial"/>
                <a:cs typeface="Arial"/>
              </a:defRPr>
            </a:lvl2pPr>
            <a:lvl3pPr>
              <a:defRPr sz="2550" b="1">
                <a:solidFill>
                  <a:srgbClr val="3D8DFF"/>
                </a:solidFill>
                <a:latin typeface="Arial"/>
                <a:ea typeface="Arial"/>
                <a:cs typeface="Arial"/>
              </a:defRPr>
            </a:lvl3pPr>
            <a:lvl4pPr>
              <a:defRPr sz="2550" b="1">
                <a:solidFill>
                  <a:srgbClr val="3D8DFF"/>
                </a:solidFill>
                <a:latin typeface="Arial"/>
                <a:ea typeface="Arial"/>
                <a:cs typeface="Arial"/>
              </a:defRPr>
            </a:lvl4pPr>
            <a:lvl5pPr>
              <a:defRPr sz="2550" b="1">
                <a:solidFill>
                  <a:srgbClr val="3D8DFF"/>
                </a:solidFill>
                <a:latin typeface="Arial"/>
                <a:ea typeface="Arial"/>
                <a:cs typeface="Arial"/>
              </a:defRPr>
            </a:lvl5pPr>
            <a:lvl6pPr>
              <a:defRPr sz="2550" b="1">
                <a:solidFill>
                  <a:srgbClr val="3D8DFF"/>
                </a:solidFill>
                <a:latin typeface="Arial"/>
                <a:ea typeface="Arial"/>
                <a:cs typeface="Arial"/>
              </a:defRPr>
            </a:lvl6pPr>
            <a:lvl7pPr>
              <a:defRPr sz="2550" b="1">
                <a:solidFill>
                  <a:srgbClr val="3D8DFF"/>
                </a:solidFill>
                <a:latin typeface="Arial"/>
                <a:ea typeface="Arial"/>
                <a:cs typeface="Arial"/>
              </a:defRPr>
            </a:lvl7pPr>
            <a:lvl8pPr>
              <a:defRPr sz="2550" b="1">
                <a:solidFill>
                  <a:srgbClr val="3D8DFF"/>
                </a:solidFill>
                <a:latin typeface="Arial"/>
                <a:ea typeface="Arial"/>
                <a:cs typeface="Arial"/>
              </a:defRPr>
            </a:lvl8pPr>
            <a:lvl9pPr>
              <a:defRPr sz="2550" b="1">
                <a:solidFill>
                  <a:srgbClr val="3D8DFF"/>
                </a:solidFill>
                <a:latin typeface="Arial"/>
                <a:ea typeface="Arial"/>
                <a:cs typeface="Arial"/>
              </a:defRPr>
            </a:lvl9pPr>
          </a:lstStyle>
          <a:p>
            <a:pPr>
              <a:defRPr sz="2550" b="1">
                <a:solidFill>
                  <a:srgbClr val="3D8DFF"/>
                </a:solidFill>
                <a:latin typeface="Arial"/>
                <a:ea typeface="Arial"/>
                <a:cs typeface="Arial"/>
              </a:defRPr>
            </a:pPr>
            <a:r>
              <a:rPr sz="2550" b="1">
                <a:solidFill>
                  <a:srgbClr val="3D8DFF"/>
                </a:solidFill>
                <a:latin typeface="Arial"/>
                <a:ea typeface="Arial"/>
                <a:cs typeface="Arial"/>
              </a:rPr>
              <a:t>Where is the defect?</a:t>
            </a:r>
          </a:p>
        </p:txBody>
      </p:sp>
      <p:sp>
        <p:nvSpPr>
          <p:cNvPr id="7" name="Small, low-contrast damage&#10;Natural textu">
            <a:extLst>
              <a:ext uri="{FF2B5EF4-FFF2-40B4-BE49-F238E27FC236}">
                <a16:creationId xmlns:a16="http://schemas.microsoft.com/office/drawing/2014/main" id="{B0FA39EE-6F82-410B-9DA6-D8F0DAC2E1EB}"/>
              </a:ext>
            </a:extLst>
          </p:cNvPr>
          <p:cNvSpPr>
            <a:spLocks noGrp="1"/>
          </p:cNvSpPr>
          <p:nvPr/>
        </p:nvSpPr>
        <p:spPr>
          <a:xfrm>
            <a:off x="6286500" y="2809875"/>
            <a:ext cx="5095875" cy="1714500"/>
          </a:xfrm>
          <a:prstGeom prst="rect">
            <a:avLst/>
          </a:prstGeom>
          <a:noFill/>
          <a:ln w="0">
            <a:noFill/>
          </a:ln>
        </p:spPr>
        <p:txBody>
          <a:bodyPr wrap="square" lIns="0" tIns="0" rIns="0" bIns="0" anchor="t">
            <a:noAutofit/>
          </a:bodyPr>
          <a:lstStyle>
            <a:defPPr>
              <a:defRPr sz="2100" b="0">
                <a:solidFill>
                  <a:srgbClr val="5B6472"/>
                </a:solidFill>
                <a:latin typeface="Arial"/>
                <a:ea typeface="Arial"/>
                <a:cs typeface="Arial"/>
              </a:defRPr>
            </a:defPPr>
            <a:lvl1pPr>
              <a:defRPr sz="2100" b="0">
                <a:solidFill>
                  <a:srgbClr val="5B6472"/>
                </a:solidFill>
                <a:latin typeface="Arial"/>
                <a:ea typeface="Arial"/>
                <a:cs typeface="Arial"/>
              </a:defRPr>
            </a:lvl1pPr>
            <a:lvl2pPr>
              <a:defRPr sz="2100" b="0">
                <a:solidFill>
                  <a:srgbClr val="5B6472"/>
                </a:solidFill>
                <a:latin typeface="Arial"/>
                <a:ea typeface="Arial"/>
                <a:cs typeface="Arial"/>
              </a:defRPr>
            </a:lvl2pPr>
            <a:lvl3pPr>
              <a:defRPr sz="2100" b="0">
                <a:solidFill>
                  <a:srgbClr val="5B6472"/>
                </a:solidFill>
                <a:latin typeface="Arial"/>
                <a:ea typeface="Arial"/>
                <a:cs typeface="Arial"/>
              </a:defRPr>
            </a:lvl3pPr>
            <a:lvl4pPr>
              <a:defRPr sz="2100" b="0">
                <a:solidFill>
                  <a:srgbClr val="5B6472"/>
                </a:solidFill>
                <a:latin typeface="Arial"/>
                <a:ea typeface="Arial"/>
                <a:cs typeface="Arial"/>
              </a:defRPr>
            </a:lvl4pPr>
            <a:lvl5pPr>
              <a:defRPr sz="2100" b="0">
                <a:solidFill>
                  <a:srgbClr val="5B6472"/>
                </a:solidFill>
                <a:latin typeface="Arial"/>
                <a:ea typeface="Arial"/>
                <a:cs typeface="Arial"/>
              </a:defRPr>
            </a:lvl5pPr>
            <a:lvl6pPr>
              <a:defRPr sz="2100" b="0">
                <a:solidFill>
                  <a:srgbClr val="5B6472"/>
                </a:solidFill>
                <a:latin typeface="Arial"/>
                <a:ea typeface="Arial"/>
                <a:cs typeface="Arial"/>
              </a:defRPr>
            </a:lvl6pPr>
            <a:lvl7pPr>
              <a:defRPr sz="2100" b="0">
                <a:solidFill>
                  <a:srgbClr val="5B6472"/>
                </a:solidFill>
                <a:latin typeface="Arial"/>
                <a:ea typeface="Arial"/>
                <a:cs typeface="Arial"/>
              </a:defRPr>
            </a:lvl7pPr>
            <a:lvl8pPr>
              <a:defRPr sz="2100" b="0">
                <a:solidFill>
                  <a:srgbClr val="5B6472"/>
                </a:solidFill>
                <a:latin typeface="Arial"/>
                <a:ea typeface="Arial"/>
                <a:cs typeface="Arial"/>
              </a:defRPr>
            </a:lvl8pPr>
            <a:lvl9pPr>
              <a:defRPr sz="2100" b="0">
                <a:solidFill>
                  <a:srgbClr val="5B6472"/>
                </a:solidFill>
                <a:latin typeface="Arial"/>
                <a:ea typeface="Arial"/>
                <a:cs typeface="Arial"/>
              </a:defRPr>
            </a:lvl9pPr>
          </a:lstStyle>
          <a:p>
            <a:pPr>
              <a:defRPr sz="2100" b="0">
                <a:solidFill>
                  <a:srgbClr val="5B6472"/>
                </a:solidFill>
                <a:latin typeface="Arial"/>
                <a:ea typeface="Arial"/>
                <a:cs typeface="Arial"/>
              </a:defRPr>
            </a:pPr>
            <a:r>
              <a:rPr sz="2100" b="0">
                <a:solidFill>
                  <a:srgbClr val="5B6472"/>
                </a:solidFill>
                <a:latin typeface="Arial"/>
                <a:ea typeface="Arial"/>
                <a:cs typeface="Arial"/>
              </a:rPr>
              <a:t>Small, low-contrast damage</a:t>
            </a:r>
          </a:p>
          <a:p>
            <a:pPr>
              <a:defRPr sz="2100" b="0">
                <a:solidFill>
                  <a:srgbClr val="5B6472"/>
                </a:solidFill>
                <a:latin typeface="Arial"/>
                <a:ea typeface="Arial"/>
                <a:cs typeface="Arial"/>
              </a:defRPr>
            </a:pPr>
            <a:r>
              <a:rPr sz="2100" b="0">
                <a:solidFill>
                  <a:srgbClr val="5B6472"/>
                </a:solidFill>
                <a:latin typeface="Arial"/>
                <a:ea typeface="Arial"/>
                <a:cs typeface="Arial"/>
              </a:rPr>
              <a:t>Natural texture and colour variation</a:t>
            </a:r>
          </a:p>
          <a:p>
            <a:pPr>
              <a:defRPr sz="2100" b="0">
                <a:solidFill>
                  <a:srgbClr val="5B6472"/>
                </a:solidFill>
                <a:latin typeface="Arial"/>
                <a:ea typeface="Arial"/>
                <a:cs typeface="Arial"/>
              </a:defRPr>
            </a:pPr>
            <a:r>
              <a:rPr sz="2100" b="0">
                <a:solidFill>
                  <a:srgbClr val="5B6472"/>
                </a:solidFill>
                <a:latin typeface="Arial"/>
                <a:ea typeface="Arial"/>
                <a:cs typeface="Arial"/>
              </a:rPr>
              <a:t>Uncertain defect boundaries</a:t>
            </a:r>
          </a:p>
        </p:txBody>
      </p:sp>
      <p:sp>
        <p:nvSpPr>
          <p:cNvPr id="8" name="Our output: defect boxes and classes">
            <a:extLst>
              <a:ext uri="{FF2B5EF4-FFF2-40B4-BE49-F238E27FC236}">
                <a16:creationId xmlns:a16="http://schemas.microsoft.com/office/drawing/2014/main" id="{4E6327E1-0EB5-4F85-A175-193ACD33B3D7}"/>
              </a:ext>
            </a:extLst>
          </p:cNvPr>
          <p:cNvSpPr>
            <a:spLocks noGrp="1"/>
          </p:cNvSpPr>
          <p:nvPr/>
        </p:nvSpPr>
        <p:spPr>
          <a:xfrm>
            <a:off x="6286500" y="4953000"/>
            <a:ext cx="5095875" cy="619125"/>
          </a:xfrm>
          <a:prstGeom prst="rect">
            <a:avLst/>
          </a:prstGeom>
          <a:noFill/>
          <a:ln w="0">
            <a:noFill/>
          </a:ln>
        </p:spPr>
        <p:txBody>
          <a:bodyPr wrap="square" lIns="0" tIns="0" rIns="0" bIns="0" anchor="t">
            <a:noAutofit/>
          </a:bodyPr>
          <a:lstStyle>
            <a:defPPr>
              <a:defRPr sz="2175" b="1">
                <a:solidFill>
                  <a:srgbClr val="111827"/>
                </a:solidFill>
                <a:latin typeface="Arial"/>
                <a:ea typeface="Arial"/>
                <a:cs typeface="Arial"/>
              </a:defRPr>
            </a:defPPr>
            <a:lvl1pPr>
              <a:defRPr sz="2175" b="1">
                <a:solidFill>
                  <a:srgbClr val="111827"/>
                </a:solidFill>
                <a:latin typeface="Arial"/>
                <a:ea typeface="Arial"/>
                <a:cs typeface="Arial"/>
              </a:defRPr>
            </a:lvl1pPr>
            <a:lvl2pPr>
              <a:defRPr sz="2175" b="1">
                <a:solidFill>
                  <a:srgbClr val="111827"/>
                </a:solidFill>
                <a:latin typeface="Arial"/>
                <a:ea typeface="Arial"/>
                <a:cs typeface="Arial"/>
              </a:defRPr>
            </a:lvl2pPr>
            <a:lvl3pPr>
              <a:defRPr sz="2175" b="1">
                <a:solidFill>
                  <a:srgbClr val="111827"/>
                </a:solidFill>
                <a:latin typeface="Arial"/>
                <a:ea typeface="Arial"/>
                <a:cs typeface="Arial"/>
              </a:defRPr>
            </a:lvl3pPr>
            <a:lvl4pPr>
              <a:defRPr sz="2175" b="1">
                <a:solidFill>
                  <a:srgbClr val="111827"/>
                </a:solidFill>
                <a:latin typeface="Arial"/>
                <a:ea typeface="Arial"/>
                <a:cs typeface="Arial"/>
              </a:defRPr>
            </a:lvl4pPr>
            <a:lvl5pPr>
              <a:defRPr sz="2175" b="1">
                <a:solidFill>
                  <a:srgbClr val="111827"/>
                </a:solidFill>
                <a:latin typeface="Arial"/>
                <a:ea typeface="Arial"/>
                <a:cs typeface="Arial"/>
              </a:defRPr>
            </a:lvl5pPr>
            <a:lvl6pPr>
              <a:defRPr sz="2175" b="1">
                <a:solidFill>
                  <a:srgbClr val="111827"/>
                </a:solidFill>
                <a:latin typeface="Arial"/>
                <a:ea typeface="Arial"/>
                <a:cs typeface="Arial"/>
              </a:defRPr>
            </a:lvl6pPr>
            <a:lvl7pPr>
              <a:defRPr sz="2175" b="1">
                <a:solidFill>
                  <a:srgbClr val="111827"/>
                </a:solidFill>
                <a:latin typeface="Arial"/>
                <a:ea typeface="Arial"/>
                <a:cs typeface="Arial"/>
              </a:defRPr>
            </a:lvl7pPr>
            <a:lvl8pPr>
              <a:defRPr sz="2175" b="1">
                <a:solidFill>
                  <a:srgbClr val="111827"/>
                </a:solidFill>
                <a:latin typeface="Arial"/>
                <a:ea typeface="Arial"/>
                <a:cs typeface="Arial"/>
              </a:defRPr>
            </a:lvl8pPr>
            <a:lvl9pPr>
              <a:defRPr sz="2175" b="1">
                <a:solidFill>
                  <a:srgbClr val="111827"/>
                </a:solidFill>
                <a:latin typeface="Arial"/>
                <a:ea typeface="Arial"/>
                <a:cs typeface="Arial"/>
              </a:defRPr>
            </a:lvl9pPr>
          </a:lstStyle>
          <a:p>
            <a:pPr>
              <a:defRPr sz="2175" b="1">
                <a:solidFill>
                  <a:srgbClr val="111827"/>
                </a:solidFill>
                <a:latin typeface="Arial"/>
                <a:ea typeface="Arial"/>
                <a:cs typeface="Arial"/>
              </a:defRPr>
            </a:pPr>
            <a:r>
              <a:rPr sz="2175" b="1">
                <a:solidFill>
                  <a:srgbClr val="111827"/>
                </a:solidFill>
                <a:latin typeface="Arial"/>
                <a:ea typeface="Arial"/>
                <a:cs typeface="Arial"/>
              </a:rPr>
              <a:t>Our output: defect boxes and classes</a:t>
            </a:r>
          </a:p>
        </p:txBody>
      </p:sp>
      <p:sp>
        <p:nvSpPr>
          <p:cNvPr id="9" name="SSDA example [3]. Scope: scratch and pes">
            <a:extLst>
              <a:ext uri="{FF2B5EF4-FFF2-40B4-BE49-F238E27FC236}">
                <a16:creationId xmlns:a16="http://schemas.microsoft.com/office/drawing/2014/main" id="{83370170-05CC-4ED3-B942-413E2961EF4E}"/>
              </a:ext>
            </a:extLst>
          </p:cNvPr>
          <p:cNvSpPr>
            <a:spLocks noGrp="1"/>
          </p:cNvSpPr>
          <p:nvPr/>
        </p:nvSpPr>
        <p:spPr>
          <a:xfrm>
            <a:off x="609600" y="5972175"/>
            <a:ext cx="10477500" cy="247650"/>
          </a:xfrm>
          <a:prstGeom prst="rect">
            <a:avLst/>
          </a:prstGeom>
          <a:noFill/>
          <a:ln w="0">
            <a:noFill/>
          </a:ln>
        </p:spPr>
        <p:txBody>
          <a:bodyPr wrap="square" lIns="0" tIns="0" rIns="0" bIns="0" anchor="t">
            <a:noAutofit/>
          </a:bodyPr>
          <a:lstStyle>
            <a:defPPr>
              <a:defRPr sz="1350" b="0">
                <a:solidFill>
                  <a:srgbClr val="5B6472"/>
                </a:solidFill>
                <a:latin typeface="Arial"/>
                <a:ea typeface="Arial"/>
                <a:cs typeface="Arial"/>
              </a:defRPr>
            </a:defPPr>
            <a:lvl1pPr>
              <a:defRPr sz="1350" b="0">
                <a:solidFill>
                  <a:srgbClr val="5B6472"/>
                </a:solidFill>
                <a:latin typeface="Arial"/>
                <a:ea typeface="Arial"/>
                <a:cs typeface="Arial"/>
              </a:defRPr>
            </a:lvl1pPr>
            <a:lvl2pPr>
              <a:defRPr sz="1350" b="0">
                <a:solidFill>
                  <a:srgbClr val="5B6472"/>
                </a:solidFill>
                <a:latin typeface="Arial"/>
                <a:ea typeface="Arial"/>
                <a:cs typeface="Arial"/>
              </a:defRPr>
            </a:lvl2pPr>
            <a:lvl3pPr>
              <a:defRPr sz="1350" b="0">
                <a:solidFill>
                  <a:srgbClr val="5B6472"/>
                </a:solidFill>
                <a:latin typeface="Arial"/>
                <a:ea typeface="Arial"/>
                <a:cs typeface="Arial"/>
              </a:defRPr>
            </a:lvl3pPr>
            <a:lvl4pPr>
              <a:defRPr sz="1350" b="0">
                <a:solidFill>
                  <a:srgbClr val="5B6472"/>
                </a:solidFill>
                <a:latin typeface="Arial"/>
                <a:ea typeface="Arial"/>
                <a:cs typeface="Arial"/>
              </a:defRPr>
            </a:lvl4pPr>
            <a:lvl5pPr>
              <a:defRPr sz="1350" b="0">
                <a:solidFill>
                  <a:srgbClr val="5B6472"/>
                </a:solidFill>
                <a:latin typeface="Arial"/>
                <a:ea typeface="Arial"/>
                <a:cs typeface="Arial"/>
              </a:defRPr>
            </a:lvl5pPr>
            <a:lvl6pPr>
              <a:defRPr sz="1350" b="0">
                <a:solidFill>
                  <a:srgbClr val="5B6472"/>
                </a:solidFill>
                <a:latin typeface="Arial"/>
                <a:ea typeface="Arial"/>
                <a:cs typeface="Arial"/>
              </a:defRPr>
            </a:lvl6pPr>
            <a:lvl7pPr>
              <a:defRPr sz="1350" b="0">
                <a:solidFill>
                  <a:srgbClr val="5B6472"/>
                </a:solidFill>
                <a:latin typeface="Arial"/>
                <a:ea typeface="Arial"/>
                <a:cs typeface="Arial"/>
              </a:defRPr>
            </a:lvl7pPr>
            <a:lvl8pPr>
              <a:defRPr sz="1350" b="0">
                <a:solidFill>
                  <a:srgbClr val="5B6472"/>
                </a:solidFill>
                <a:latin typeface="Arial"/>
                <a:ea typeface="Arial"/>
                <a:cs typeface="Arial"/>
              </a:defRPr>
            </a:lvl8pPr>
            <a:lvl9pPr>
              <a:defRPr sz="1350" b="0">
                <a:solidFill>
                  <a:srgbClr val="5B6472"/>
                </a:solidFill>
                <a:latin typeface="Arial"/>
                <a:ea typeface="Arial"/>
                <a:cs typeface="Arial"/>
              </a:defRPr>
            </a:lvl9pPr>
          </a:lstStyle>
          <a:p>
            <a:pPr>
              <a:defRPr sz="1350" b="0">
                <a:solidFill>
                  <a:srgbClr val="5B6472"/>
                </a:solidFill>
                <a:latin typeface="Arial"/>
                <a:ea typeface="Arial"/>
                <a:cs typeface="Arial"/>
              </a:defRPr>
            </a:pPr>
            <a:r>
              <a:rPr sz="1350" b="0">
                <a:solidFill>
                  <a:srgbClr val="5B6472"/>
                </a:solidFill>
                <a:latin typeface="Arial"/>
                <a:ea typeface="Arial"/>
                <a:cs typeface="Arial"/>
              </a:rPr>
              <a:t>SSDA example [3]. Scope: scratch and pest damage.</a:t>
            </a:r>
          </a:p>
        </p:txBody>
      </p:sp>
    </p:spTree>
    <p:extLst>
      <p:ext uri="{BB962C8B-B14F-4D97-AF65-F5344CB8AC3E}">
        <p14:creationId xmlns:p14="http://schemas.microsoft.com/office/powerpoint/2010/main" val="305421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APPLE DEFECT DETECTION">
            <a:extLst>
              <a:ext uri="{FF2B5EF4-FFF2-40B4-BE49-F238E27FC236}">
                <a16:creationId xmlns:a16="http://schemas.microsoft.com/office/drawing/2014/main" id="{968BF427-4ABC-4245-B890-FE5A6D388380}"/>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Existing detectors and attention mechani">
            <a:extLst>
              <a:ext uri="{FF2B5EF4-FFF2-40B4-BE49-F238E27FC236}">
                <a16:creationId xmlns:a16="http://schemas.microsoft.com/office/drawing/2014/main" id="{200435F5-0EEA-4BFA-B2D8-FD330DD8BD78}"/>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Existing detectors and attention mechanisms</a:t>
            </a:r>
          </a:p>
        </p:txBody>
      </p:sp>
      <p:sp>
        <p:nvSpPr>
          <p:cNvPr id="3" name="Manish Gadia">
            <a:extLst>
              <a:ext uri="{FF2B5EF4-FFF2-40B4-BE49-F238E27FC236}">
                <a16:creationId xmlns:a16="http://schemas.microsoft.com/office/drawing/2014/main" id="{6B7F05A5-0B85-4659-8712-D7F839ED1F7C}"/>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Manish Gadia</a:t>
            </a:r>
          </a:p>
        </p:txBody>
      </p:sp>
      <p:sp>
        <p:nvSpPr>
          <p:cNvPr id="4" name="3">
            <a:extLst>
              <a:ext uri="{FF2B5EF4-FFF2-40B4-BE49-F238E27FC236}">
                <a16:creationId xmlns:a16="http://schemas.microsoft.com/office/drawing/2014/main" id="{3C54AEB8-64F9-4BB8-B2D2-74A5BC8167B9}"/>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3</a:t>
            </a:r>
          </a:p>
        </p:txBody>
      </p:sp>
      <p:sp>
        <p:nvSpPr>
          <p:cNvPr id="5" name="Apple-defect detection">
            <a:extLst>
              <a:ext uri="{FF2B5EF4-FFF2-40B4-BE49-F238E27FC236}">
                <a16:creationId xmlns:a16="http://schemas.microsoft.com/office/drawing/2014/main" id="{E4575146-8268-4765-B276-622E637F0960}"/>
              </a:ext>
            </a:extLst>
          </p:cNvPr>
          <p:cNvSpPr>
            <a:spLocks noGrp="1"/>
          </p:cNvSpPr>
          <p:nvPr/>
        </p:nvSpPr>
        <p:spPr>
          <a:xfrm>
            <a:off x="609600" y="1809750"/>
            <a:ext cx="4953000" cy="438150"/>
          </a:xfrm>
          <a:prstGeom prst="rect">
            <a:avLst/>
          </a:prstGeom>
          <a:noFill/>
          <a:ln w="0">
            <a:noFill/>
          </a:ln>
        </p:spPr>
        <p:txBody>
          <a:bodyPr wrap="square" lIns="0" tIns="0" rIns="0" bIns="0" anchor="t">
            <a:noAutofit/>
          </a:bodyPr>
          <a:lstStyle>
            <a:defPPr>
              <a:defRPr sz="2175" b="1">
                <a:solidFill>
                  <a:srgbClr val="123B63"/>
                </a:solidFill>
                <a:latin typeface="Arial"/>
                <a:ea typeface="Arial"/>
                <a:cs typeface="Arial"/>
              </a:defRPr>
            </a:defPPr>
            <a:lvl1pPr>
              <a:defRPr sz="2175" b="1">
                <a:solidFill>
                  <a:srgbClr val="123B63"/>
                </a:solidFill>
                <a:latin typeface="Arial"/>
                <a:ea typeface="Arial"/>
                <a:cs typeface="Arial"/>
              </a:defRPr>
            </a:lvl1pPr>
            <a:lvl2pPr>
              <a:defRPr sz="2175" b="1">
                <a:solidFill>
                  <a:srgbClr val="123B63"/>
                </a:solidFill>
                <a:latin typeface="Arial"/>
                <a:ea typeface="Arial"/>
                <a:cs typeface="Arial"/>
              </a:defRPr>
            </a:lvl2pPr>
            <a:lvl3pPr>
              <a:defRPr sz="2175" b="1">
                <a:solidFill>
                  <a:srgbClr val="123B63"/>
                </a:solidFill>
                <a:latin typeface="Arial"/>
                <a:ea typeface="Arial"/>
                <a:cs typeface="Arial"/>
              </a:defRPr>
            </a:lvl3pPr>
            <a:lvl4pPr>
              <a:defRPr sz="2175" b="1">
                <a:solidFill>
                  <a:srgbClr val="123B63"/>
                </a:solidFill>
                <a:latin typeface="Arial"/>
                <a:ea typeface="Arial"/>
                <a:cs typeface="Arial"/>
              </a:defRPr>
            </a:lvl4pPr>
            <a:lvl5pPr>
              <a:defRPr sz="2175" b="1">
                <a:solidFill>
                  <a:srgbClr val="123B63"/>
                </a:solidFill>
                <a:latin typeface="Arial"/>
                <a:ea typeface="Arial"/>
                <a:cs typeface="Arial"/>
              </a:defRPr>
            </a:lvl5pPr>
            <a:lvl6pPr>
              <a:defRPr sz="2175" b="1">
                <a:solidFill>
                  <a:srgbClr val="123B63"/>
                </a:solidFill>
                <a:latin typeface="Arial"/>
                <a:ea typeface="Arial"/>
                <a:cs typeface="Arial"/>
              </a:defRPr>
            </a:lvl6pPr>
            <a:lvl7pPr>
              <a:defRPr sz="2175" b="1">
                <a:solidFill>
                  <a:srgbClr val="123B63"/>
                </a:solidFill>
                <a:latin typeface="Arial"/>
                <a:ea typeface="Arial"/>
                <a:cs typeface="Arial"/>
              </a:defRPr>
            </a:lvl7pPr>
            <a:lvl8pPr>
              <a:defRPr sz="2175" b="1">
                <a:solidFill>
                  <a:srgbClr val="123B63"/>
                </a:solidFill>
                <a:latin typeface="Arial"/>
                <a:ea typeface="Arial"/>
                <a:cs typeface="Arial"/>
              </a:defRPr>
            </a:lvl8pPr>
            <a:lvl9pPr>
              <a:defRPr sz="2175" b="1">
                <a:solidFill>
                  <a:srgbClr val="123B63"/>
                </a:solidFill>
                <a:latin typeface="Arial"/>
                <a:ea typeface="Arial"/>
                <a:cs typeface="Arial"/>
              </a:defRPr>
            </a:lvl9pPr>
          </a:lstStyle>
          <a:p>
            <a:pPr>
              <a:defRPr sz="2175" b="1">
                <a:solidFill>
                  <a:srgbClr val="123B63"/>
                </a:solidFill>
                <a:latin typeface="Arial"/>
                <a:ea typeface="Arial"/>
                <a:cs typeface="Arial"/>
              </a:defRPr>
            </a:pPr>
            <a:r>
              <a:rPr sz="2175" b="1">
                <a:solidFill>
                  <a:srgbClr val="123B63"/>
                </a:solidFill>
                <a:latin typeface="Arial"/>
                <a:ea typeface="Arial"/>
                <a:cs typeface="Arial"/>
              </a:rPr>
              <a:t>Apple-defect detection</a:t>
            </a:r>
          </a:p>
        </p:txBody>
      </p:sp>
      <p:sp>
        <p:nvSpPr>
          <p:cNvPr id="6" name="HAFREE targets subtle apple defects [2].">
            <a:extLst>
              <a:ext uri="{FF2B5EF4-FFF2-40B4-BE49-F238E27FC236}">
                <a16:creationId xmlns:a16="http://schemas.microsoft.com/office/drawing/2014/main" id="{4886201C-F9FB-4C91-9E01-9C68D0E44622}"/>
              </a:ext>
            </a:extLst>
          </p:cNvPr>
          <p:cNvSpPr>
            <a:spLocks noGrp="1"/>
          </p:cNvSpPr>
          <p:nvPr/>
        </p:nvSpPr>
        <p:spPr>
          <a:xfrm>
            <a:off x="609600" y="2381250"/>
            <a:ext cx="10572750" cy="809625"/>
          </a:xfrm>
          <a:prstGeom prst="rect">
            <a:avLst/>
          </a:prstGeom>
          <a:noFill/>
          <a:ln w="0">
            <a:noFill/>
          </a:ln>
        </p:spPr>
        <p:txBody>
          <a:bodyPr wrap="square" lIns="0" tIns="0" rIns="0" bIns="0" anchor="t">
            <a:noAutofit/>
          </a:bodyPr>
          <a:lstStyle>
            <a:defPPr>
              <a:defRPr sz="2025" b="0">
                <a:solidFill>
                  <a:srgbClr val="5B6472"/>
                </a:solidFill>
                <a:latin typeface="Arial"/>
                <a:ea typeface="Arial"/>
                <a:cs typeface="Arial"/>
              </a:defRPr>
            </a:defPPr>
            <a:lvl1pPr>
              <a:defRPr sz="2025" b="0">
                <a:solidFill>
                  <a:srgbClr val="5B6472"/>
                </a:solidFill>
                <a:latin typeface="Arial"/>
                <a:ea typeface="Arial"/>
                <a:cs typeface="Arial"/>
              </a:defRPr>
            </a:lvl1pPr>
            <a:lvl2pPr>
              <a:defRPr sz="2025" b="0">
                <a:solidFill>
                  <a:srgbClr val="5B6472"/>
                </a:solidFill>
                <a:latin typeface="Arial"/>
                <a:ea typeface="Arial"/>
                <a:cs typeface="Arial"/>
              </a:defRPr>
            </a:lvl2pPr>
            <a:lvl3pPr>
              <a:defRPr sz="2025" b="0">
                <a:solidFill>
                  <a:srgbClr val="5B6472"/>
                </a:solidFill>
                <a:latin typeface="Arial"/>
                <a:ea typeface="Arial"/>
                <a:cs typeface="Arial"/>
              </a:defRPr>
            </a:lvl3pPr>
            <a:lvl4pPr>
              <a:defRPr sz="2025" b="0">
                <a:solidFill>
                  <a:srgbClr val="5B6472"/>
                </a:solidFill>
                <a:latin typeface="Arial"/>
                <a:ea typeface="Arial"/>
                <a:cs typeface="Arial"/>
              </a:defRPr>
            </a:lvl4pPr>
            <a:lvl5pPr>
              <a:defRPr sz="2025" b="0">
                <a:solidFill>
                  <a:srgbClr val="5B6472"/>
                </a:solidFill>
                <a:latin typeface="Arial"/>
                <a:ea typeface="Arial"/>
                <a:cs typeface="Arial"/>
              </a:defRPr>
            </a:lvl5pPr>
            <a:lvl6pPr>
              <a:defRPr sz="2025" b="0">
                <a:solidFill>
                  <a:srgbClr val="5B6472"/>
                </a:solidFill>
                <a:latin typeface="Arial"/>
                <a:ea typeface="Arial"/>
                <a:cs typeface="Arial"/>
              </a:defRPr>
            </a:lvl6pPr>
            <a:lvl7pPr>
              <a:defRPr sz="2025" b="0">
                <a:solidFill>
                  <a:srgbClr val="5B6472"/>
                </a:solidFill>
                <a:latin typeface="Arial"/>
                <a:ea typeface="Arial"/>
                <a:cs typeface="Arial"/>
              </a:defRPr>
            </a:lvl7pPr>
            <a:lvl8pPr>
              <a:defRPr sz="2025" b="0">
                <a:solidFill>
                  <a:srgbClr val="5B6472"/>
                </a:solidFill>
                <a:latin typeface="Arial"/>
                <a:ea typeface="Arial"/>
                <a:cs typeface="Arial"/>
              </a:defRPr>
            </a:lvl8pPr>
            <a:lvl9pPr>
              <a:defRPr sz="2025" b="0">
                <a:solidFill>
                  <a:srgbClr val="5B6472"/>
                </a:solidFill>
                <a:latin typeface="Arial"/>
                <a:ea typeface="Arial"/>
                <a:cs typeface="Arial"/>
              </a:defRPr>
            </a:lvl9pPr>
          </a:lstStyle>
          <a:p>
            <a:pPr>
              <a:defRPr sz="2025" b="0">
                <a:solidFill>
                  <a:srgbClr val="5B6472"/>
                </a:solidFill>
                <a:latin typeface="Arial"/>
                <a:ea typeface="Arial"/>
                <a:cs typeface="Arial"/>
              </a:defRPr>
            </a:pPr>
            <a:r>
              <a:rPr sz="2025" b="0">
                <a:solidFill>
                  <a:srgbClr val="5B6472"/>
                </a:solidFill>
                <a:latin typeface="Arial"/>
                <a:ea typeface="Arial"/>
                <a:cs typeface="Arial"/>
              </a:rPr>
              <a:t>HAFREE targets subtle apple defects [2].</a:t>
            </a:r>
          </a:p>
          <a:p>
            <a:pPr>
              <a:defRPr sz="2025" b="0">
                <a:solidFill>
                  <a:srgbClr val="5B6472"/>
                </a:solidFill>
                <a:latin typeface="Arial"/>
                <a:ea typeface="Arial"/>
                <a:cs typeface="Arial"/>
              </a:defRPr>
            </a:pPr>
            <a:r>
              <a:rPr sz="2025" b="0">
                <a:solidFill>
                  <a:srgbClr val="5B6472"/>
                </a:solidFill>
                <a:latin typeface="Arial"/>
                <a:ea typeface="Arial"/>
                <a:cs typeface="Arial"/>
              </a:rPr>
              <a:t>YOLOv8n provides our compact baseline [10].</a:t>
            </a:r>
          </a:p>
        </p:txBody>
      </p:sp>
      <p:graphicFrame>
        <p:nvGraphicFramePr>
          <p:cNvPr id="7" name="Table 6">
            <a:extLst>
              <a:ext uri="{FF2B5EF4-FFF2-40B4-BE49-F238E27FC236}">
                <a16:creationId xmlns:a16="http://schemas.microsoft.com/office/drawing/2014/main" id="{60A542A0-E1DB-4944-A8F6-F1A2091DECE9}"/>
              </a:ext>
            </a:extLst>
          </p:cNvPr>
          <p:cNvGraphicFramePr/>
          <p:nvPr/>
        </p:nvGraphicFramePr>
        <p:xfrm>
          <a:off x="609600" y="3524250"/>
          <a:ext cx="10972800" cy="2190752"/>
        </p:xfrm>
        <a:graphic>
          <a:graphicData uri="http://schemas.openxmlformats.org/drawingml/2006/table">
            <a:tbl>
              <a:tblPr/>
              <a:tblGrid>
                <a:gridCol w="2428875">
                  <a:extLst>
                    <a:ext uri="{9D8B030D-6E8A-4147-A177-3AD203B41FA5}">
                      <a16:colId xmlns:a16="http://schemas.microsoft.com/office/drawing/2014/main" val="20000"/>
                    </a:ext>
                  </a:extLst>
                </a:gridCol>
                <a:gridCol w="4257675">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47688">
                <a:tc>
                  <a:txBody>
                    <a:bodyPr/>
                    <a:lstStyle/>
                    <a:p>
                      <a:r>
                        <a:rPr sz="1725" b="1">
                          <a:solidFill>
                            <a:srgbClr val="123B63"/>
                          </a:solidFill>
                          <a:latin typeface="Arial"/>
                          <a:ea typeface="Arial"/>
                          <a:cs typeface="Arial"/>
                        </a:rPr>
                        <a:t>Module</a:t>
                      </a:r>
                    </a:p>
                  </a:txBody>
                  <a:tcPr anchor="ctr">
                    <a:lnL w="9525">
                      <a:solidFill>
                        <a:srgbClr val="E2E6EB"/>
                      </a:solidFill>
                    </a:lnL>
                    <a:lnR w="9525">
                      <a:solidFill>
                        <a:srgbClr val="E2E6EB"/>
                      </a:solidFill>
                    </a:lnR>
                    <a:lnT w="9525">
                      <a:solidFill>
                        <a:srgbClr val="E2E6EB"/>
                      </a:solidFill>
                    </a:lnT>
                    <a:lnB w="9525">
                      <a:solidFill>
                        <a:srgbClr val="E2E6EB"/>
                      </a:solidFill>
                    </a:lnB>
                    <a:solidFill>
                      <a:srgbClr val="EEF4FF"/>
                    </a:solidFill>
                  </a:tcPr>
                </a:tc>
                <a:tc>
                  <a:txBody>
                    <a:bodyPr/>
                    <a:lstStyle/>
                    <a:p>
                      <a:r>
                        <a:rPr sz="1725" b="1">
                          <a:solidFill>
                            <a:srgbClr val="123B63"/>
                          </a:solidFill>
                          <a:latin typeface="Arial"/>
                          <a:ea typeface="Arial"/>
                          <a:cs typeface="Arial"/>
                        </a:rPr>
                        <a:t>Mechanism</a:t>
                      </a:r>
                    </a:p>
                  </a:txBody>
                  <a:tcPr anchor="ctr">
                    <a:lnL w="9525" cap="flat" cmpd="sng" algn="ctr">
                      <a:solidFill>
                        <a:srgbClr val="E2E6EB"/>
                      </a:solidFill>
                      <a:prstDash val="solid"/>
                      <a:round/>
                      <a:headEnd type="none" w="med" len="med"/>
                      <a:tailEnd type="none" w="med" len="med"/>
                    </a:lnL>
                    <a:lnR w="9525">
                      <a:solidFill>
                        <a:srgbClr val="E2E6EB"/>
                      </a:solidFill>
                    </a:lnR>
                    <a:lnT w="9525">
                      <a:solidFill>
                        <a:srgbClr val="E2E6EB"/>
                      </a:solidFill>
                    </a:lnT>
                    <a:lnB w="9525">
                      <a:solidFill>
                        <a:srgbClr val="E2E6EB"/>
                      </a:solidFill>
                    </a:lnB>
                    <a:solidFill>
                      <a:srgbClr val="EEF4FF"/>
                    </a:solidFill>
                  </a:tcPr>
                </a:tc>
                <a:tc>
                  <a:txBody>
                    <a:bodyPr/>
                    <a:lstStyle/>
                    <a:p>
                      <a:r>
                        <a:rPr sz="1725" b="1">
                          <a:solidFill>
                            <a:srgbClr val="123B63"/>
                          </a:solidFill>
                          <a:latin typeface="Arial"/>
                          <a:ea typeface="Arial"/>
                          <a:cs typeface="Arial"/>
                        </a:rPr>
                        <a:t>Intuition</a:t>
                      </a:r>
                    </a:p>
                  </a:txBody>
                  <a:tcPr anchor="ctr">
                    <a:lnL w="9525" cap="flat" cmpd="sng" algn="ctr">
                      <a:solidFill>
                        <a:srgbClr val="E2E6EB"/>
                      </a:solidFill>
                      <a:prstDash val="solid"/>
                      <a:round/>
                      <a:headEnd type="none" w="med" len="med"/>
                      <a:tailEnd type="none" w="med" len="med"/>
                    </a:lnL>
                    <a:lnR w="9525">
                      <a:solidFill>
                        <a:srgbClr val="E2E6EB"/>
                      </a:solidFill>
                    </a:lnR>
                    <a:lnT w="9525">
                      <a:solidFill>
                        <a:srgbClr val="E2E6EB"/>
                      </a:solidFill>
                    </a:lnT>
                    <a:lnB w="9525">
                      <a:solidFill>
                        <a:srgbClr val="E2E6EB"/>
                      </a:solidFill>
                    </a:lnB>
                    <a:solidFill>
                      <a:srgbClr val="EEF4FF"/>
                    </a:solidFill>
                  </a:tcPr>
                </a:tc>
                <a:extLst>
                  <a:ext uri="{0D108BD9-81ED-4DB2-BD59-A6C34878D82A}">
                    <a16:rowId xmlns:a16="http://schemas.microsoft.com/office/drawing/2014/main" val="10000"/>
                  </a:ext>
                </a:extLst>
              </a:tr>
              <a:tr h="547688">
                <a:tc>
                  <a:txBody>
                    <a:bodyPr/>
                    <a:lstStyle/>
                    <a:p>
                      <a:r>
                        <a:rPr sz="1725" b="0">
                          <a:solidFill>
                            <a:srgbClr val="111827"/>
                          </a:solidFill>
                          <a:latin typeface="Arial"/>
                          <a:ea typeface="Arial"/>
                          <a:cs typeface="Arial"/>
                        </a:rPr>
                        <a:t>SE [4]</a:t>
                      </a:r>
                    </a:p>
                  </a:txBody>
                  <a:tcPr anchor="ctr">
                    <a:lnL w="9525">
                      <a:solidFill>
                        <a:srgbClr val="E2E6EB"/>
                      </a:solidFill>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Weights feature channels</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Which learned features matter?</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extLst>
                  <a:ext uri="{0D108BD9-81ED-4DB2-BD59-A6C34878D82A}">
                    <a16:rowId xmlns:a16="http://schemas.microsoft.com/office/drawing/2014/main" val="10001"/>
                  </a:ext>
                </a:extLst>
              </a:tr>
              <a:tr h="547688">
                <a:tc>
                  <a:txBody>
                    <a:bodyPr/>
                    <a:lstStyle/>
                    <a:p>
                      <a:r>
                        <a:rPr sz="1725" b="0">
                          <a:solidFill>
                            <a:srgbClr val="111827"/>
                          </a:solidFill>
                          <a:latin typeface="Arial"/>
                          <a:ea typeface="Arial"/>
                          <a:cs typeface="Arial"/>
                        </a:rPr>
                        <a:t>CBAM [5]</a:t>
                      </a:r>
                    </a:p>
                  </a:txBody>
                  <a:tcPr anchor="ctr">
                    <a:lnL w="9525">
                      <a:solidFill>
                        <a:srgbClr val="E2E6EB"/>
                      </a:solidFill>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Weights channels and locations</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Which features, and where?</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extLst>
                  <a:ext uri="{0D108BD9-81ED-4DB2-BD59-A6C34878D82A}">
                    <a16:rowId xmlns:a16="http://schemas.microsoft.com/office/drawing/2014/main" val="10002"/>
                  </a:ext>
                </a:extLst>
              </a:tr>
              <a:tr h="547688">
                <a:tc>
                  <a:txBody>
                    <a:bodyPr/>
                    <a:lstStyle/>
                    <a:p>
                      <a:r>
                        <a:rPr sz="1725" b="0">
                          <a:solidFill>
                            <a:srgbClr val="111827"/>
                          </a:solidFill>
                          <a:latin typeface="Arial"/>
                          <a:ea typeface="Arial"/>
                          <a:cs typeface="Arial"/>
                        </a:rPr>
                        <a:t>Coordinate [6]</a:t>
                      </a:r>
                    </a:p>
                  </a:txBody>
                  <a:tcPr anchor="ctr">
                    <a:lnL w="9525">
                      <a:solidFill>
                        <a:srgbClr val="E2E6EB"/>
                      </a:solidFill>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Retains height and width information</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Where along each direction?</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48649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APPLE DEFECT DETECTION">
            <a:extLst>
              <a:ext uri="{FF2B5EF4-FFF2-40B4-BE49-F238E27FC236}">
                <a16:creationId xmlns:a16="http://schemas.microsoft.com/office/drawing/2014/main" id="{EDFA8DA8-78AE-4A24-AD34-C529286E0A9F}"/>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Research question and working hypothesis">
            <a:extLst>
              <a:ext uri="{FF2B5EF4-FFF2-40B4-BE49-F238E27FC236}">
                <a16:creationId xmlns:a16="http://schemas.microsoft.com/office/drawing/2014/main" id="{8E900DE5-9416-4181-90B2-CE704AA3DF09}"/>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Research question and working hypothesis</a:t>
            </a:r>
          </a:p>
        </p:txBody>
      </p:sp>
      <p:sp>
        <p:nvSpPr>
          <p:cNvPr id="3" name="Manish Gadia">
            <a:extLst>
              <a:ext uri="{FF2B5EF4-FFF2-40B4-BE49-F238E27FC236}">
                <a16:creationId xmlns:a16="http://schemas.microsoft.com/office/drawing/2014/main" id="{7C553F65-3C58-440E-B789-04078C915807}"/>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Manish Gadia</a:t>
            </a:r>
          </a:p>
        </p:txBody>
      </p:sp>
      <p:sp>
        <p:nvSpPr>
          <p:cNvPr id="4" name="4">
            <a:extLst>
              <a:ext uri="{FF2B5EF4-FFF2-40B4-BE49-F238E27FC236}">
                <a16:creationId xmlns:a16="http://schemas.microsoft.com/office/drawing/2014/main" id="{CB6CC2D6-67A6-4228-A596-FD5CE43FC450}"/>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4</a:t>
            </a:r>
          </a:p>
        </p:txBody>
      </p:sp>
      <p:sp>
        <p:nvSpPr>
          <p:cNvPr id="5" name="Which attention module offers the best d">
            <a:extLst>
              <a:ext uri="{FF2B5EF4-FFF2-40B4-BE49-F238E27FC236}">
                <a16:creationId xmlns:a16="http://schemas.microsoft.com/office/drawing/2014/main" id="{F5C019AC-6512-4105-834F-B81932C530AF}"/>
              </a:ext>
            </a:extLst>
          </p:cNvPr>
          <p:cNvSpPr>
            <a:spLocks noGrp="1"/>
          </p:cNvSpPr>
          <p:nvPr/>
        </p:nvSpPr>
        <p:spPr>
          <a:xfrm>
            <a:off x="609600" y="1905000"/>
            <a:ext cx="10858500" cy="1190625"/>
          </a:xfrm>
          <a:prstGeom prst="rect">
            <a:avLst/>
          </a:prstGeom>
          <a:noFill/>
          <a:ln w="0">
            <a:noFill/>
          </a:ln>
        </p:spPr>
        <p:txBody>
          <a:bodyPr wrap="square" lIns="0" tIns="0" rIns="0" bIns="0" anchor="t">
            <a:noAutofit/>
          </a:bodyPr>
          <a:lstStyle>
            <a:defPPr>
              <a:defRPr sz="2850" b="1">
                <a:solidFill>
                  <a:srgbClr val="3D8DFF"/>
                </a:solidFill>
                <a:latin typeface="Arial"/>
                <a:ea typeface="Arial"/>
                <a:cs typeface="Arial"/>
              </a:defRPr>
            </a:defPPr>
            <a:lvl1pPr>
              <a:defRPr sz="2850" b="1">
                <a:solidFill>
                  <a:srgbClr val="3D8DFF"/>
                </a:solidFill>
                <a:latin typeface="Arial"/>
                <a:ea typeface="Arial"/>
                <a:cs typeface="Arial"/>
              </a:defRPr>
            </a:lvl1pPr>
            <a:lvl2pPr>
              <a:defRPr sz="2850" b="1">
                <a:solidFill>
                  <a:srgbClr val="3D8DFF"/>
                </a:solidFill>
                <a:latin typeface="Arial"/>
                <a:ea typeface="Arial"/>
                <a:cs typeface="Arial"/>
              </a:defRPr>
            </a:lvl2pPr>
            <a:lvl3pPr>
              <a:defRPr sz="2850" b="1">
                <a:solidFill>
                  <a:srgbClr val="3D8DFF"/>
                </a:solidFill>
                <a:latin typeface="Arial"/>
                <a:ea typeface="Arial"/>
                <a:cs typeface="Arial"/>
              </a:defRPr>
            </a:lvl3pPr>
            <a:lvl4pPr>
              <a:defRPr sz="2850" b="1">
                <a:solidFill>
                  <a:srgbClr val="3D8DFF"/>
                </a:solidFill>
                <a:latin typeface="Arial"/>
                <a:ea typeface="Arial"/>
                <a:cs typeface="Arial"/>
              </a:defRPr>
            </a:lvl4pPr>
            <a:lvl5pPr>
              <a:defRPr sz="2850" b="1">
                <a:solidFill>
                  <a:srgbClr val="3D8DFF"/>
                </a:solidFill>
                <a:latin typeface="Arial"/>
                <a:ea typeface="Arial"/>
                <a:cs typeface="Arial"/>
              </a:defRPr>
            </a:lvl5pPr>
            <a:lvl6pPr>
              <a:defRPr sz="2850" b="1">
                <a:solidFill>
                  <a:srgbClr val="3D8DFF"/>
                </a:solidFill>
                <a:latin typeface="Arial"/>
                <a:ea typeface="Arial"/>
                <a:cs typeface="Arial"/>
              </a:defRPr>
            </a:lvl6pPr>
            <a:lvl7pPr>
              <a:defRPr sz="2850" b="1">
                <a:solidFill>
                  <a:srgbClr val="3D8DFF"/>
                </a:solidFill>
                <a:latin typeface="Arial"/>
                <a:ea typeface="Arial"/>
                <a:cs typeface="Arial"/>
              </a:defRPr>
            </a:lvl7pPr>
            <a:lvl8pPr>
              <a:defRPr sz="2850" b="1">
                <a:solidFill>
                  <a:srgbClr val="3D8DFF"/>
                </a:solidFill>
                <a:latin typeface="Arial"/>
                <a:ea typeface="Arial"/>
                <a:cs typeface="Arial"/>
              </a:defRPr>
            </a:lvl8pPr>
            <a:lvl9pPr>
              <a:defRPr sz="2850" b="1">
                <a:solidFill>
                  <a:srgbClr val="3D8DFF"/>
                </a:solidFill>
                <a:latin typeface="Arial"/>
                <a:ea typeface="Arial"/>
                <a:cs typeface="Arial"/>
              </a:defRPr>
            </a:lvl9pPr>
          </a:lstStyle>
          <a:p>
            <a:pPr>
              <a:defRPr sz="2850" b="1">
                <a:solidFill>
                  <a:srgbClr val="3D8DFF"/>
                </a:solidFill>
                <a:latin typeface="Arial"/>
                <a:ea typeface="Arial"/>
                <a:cs typeface="Arial"/>
              </a:defRPr>
            </a:pPr>
            <a:r>
              <a:rPr sz="2850" b="1">
                <a:solidFill>
                  <a:srgbClr val="3D8DFF"/>
                </a:solidFill>
                <a:latin typeface="Arial"/>
                <a:ea typeface="Arial"/>
                <a:cs typeface="Arial"/>
              </a:rPr>
              <a:t>Which attention module offers the best detection</a:t>
            </a:r>
          </a:p>
          <a:p>
            <a:pPr>
              <a:defRPr sz="2850" b="1">
                <a:solidFill>
                  <a:srgbClr val="3D8DFF"/>
                </a:solidFill>
                <a:latin typeface="Arial"/>
                <a:ea typeface="Arial"/>
                <a:cs typeface="Arial"/>
              </a:defRPr>
            </a:pPr>
            <a:r>
              <a:rPr sz="2850" b="1">
                <a:solidFill>
                  <a:srgbClr val="3D8DFF"/>
                </a:solidFill>
                <a:latin typeface="Arial"/>
                <a:ea typeface="Arial"/>
                <a:cs typeface="Arial"/>
              </a:rPr>
              <a:t>performance versus computational cost?</a:t>
            </a:r>
          </a:p>
        </p:txBody>
      </p:sp>
      <p:sp>
        <p:nvSpPr>
          <p:cNvPr id="6" name="Hypothesis">
            <a:extLst>
              <a:ext uri="{FF2B5EF4-FFF2-40B4-BE49-F238E27FC236}">
                <a16:creationId xmlns:a16="http://schemas.microsoft.com/office/drawing/2014/main" id="{6EBB925A-07C6-4F16-BEFB-B1E34AFEAAD0}"/>
              </a:ext>
            </a:extLst>
          </p:cNvPr>
          <p:cNvSpPr>
            <a:spLocks noGrp="1"/>
          </p:cNvSpPr>
          <p:nvPr/>
        </p:nvSpPr>
        <p:spPr>
          <a:xfrm>
            <a:off x="609600" y="3476625"/>
            <a:ext cx="2857500" cy="400050"/>
          </a:xfrm>
          <a:prstGeom prst="rect">
            <a:avLst/>
          </a:prstGeom>
          <a:noFill/>
          <a:ln w="0">
            <a:noFill/>
          </a:ln>
        </p:spPr>
        <p:txBody>
          <a:bodyPr wrap="square" lIns="0" tIns="0" rIns="0" bIns="0" anchor="t">
            <a:noAutofit/>
          </a:bodyPr>
          <a:lstStyle>
            <a:defPPr>
              <a:defRPr sz="2100" b="1">
                <a:solidFill>
                  <a:srgbClr val="123B63"/>
                </a:solidFill>
                <a:latin typeface="Arial"/>
                <a:ea typeface="Arial"/>
                <a:cs typeface="Arial"/>
              </a:defRPr>
            </a:defPPr>
            <a:lvl1pPr>
              <a:defRPr sz="2100" b="1">
                <a:solidFill>
                  <a:srgbClr val="123B63"/>
                </a:solidFill>
                <a:latin typeface="Arial"/>
                <a:ea typeface="Arial"/>
                <a:cs typeface="Arial"/>
              </a:defRPr>
            </a:lvl1pPr>
            <a:lvl2pPr>
              <a:defRPr sz="2100" b="1">
                <a:solidFill>
                  <a:srgbClr val="123B63"/>
                </a:solidFill>
                <a:latin typeface="Arial"/>
                <a:ea typeface="Arial"/>
                <a:cs typeface="Arial"/>
              </a:defRPr>
            </a:lvl2pPr>
            <a:lvl3pPr>
              <a:defRPr sz="2100" b="1">
                <a:solidFill>
                  <a:srgbClr val="123B63"/>
                </a:solidFill>
                <a:latin typeface="Arial"/>
                <a:ea typeface="Arial"/>
                <a:cs typeface="Arial"/>
              </a:defRPr>
            </a:lvl3pPr>
            <a:lvl4pPr>
              <a:defRPr sz="2100" b="1">
                <a:solidFill>
                  <a:srgbClr val="123B63"/>
                </a:solidFill>
                <a:latin typeface="Arial"/>
                <a:ea typeface="Arial"/>
                <a:cs typeface="Arial"/>
              </a:defRPr>
            </a:lvl4pPr>
            <a:lvl5pPr>
              <a:defRPr sz="2100" b="1">
                <a:solidFill>
                  <a:srgbClr val="123B63"/>
                </a:solidFill>
                <a:latin typeface="Arial"/>
                <a:ea typeface="Arial"/>
                <a:cs typeface="Arial"/>
              </a:defRPr>
            </a:lvl5pPr>
            <a:lvl6pPr>
              <a:defRPr sz="2100" b="1">
                <a:solidFill>
                  <a:srgbClr val="123B63"/>
                </a:solidFill>
                <a:latin typeface="Arial"/>
                <a:ea typeface="Arial"/>
                <a:cs typeface="Arial"/>
              </a:defRPr>
            </a:lvl6pPr>
            <a:lvl7pPr>
              <a:defRPr sz="2100" b="1">
                <a:solidFill>
                  <a:srgbClr val="123B63"/>
                </a:solidFill>
                <a:latin typeface="Arial"/>
                <a:ea typeface="Arial"/>
                <a:cs typeface="Arial"/>
              </a:defRPr>
            </a:lvl7pPr>
            <a:lvl8pPr>
              <a:defRPr sz="2100" b="1">
                <a:solidFill>
                  <a:srgbClr val="123B63"/>
                </a:solidFill>
                <a:latin typeface="Arial"/>
                <a:ea typeface="Arial"/>
                <a:cs typeface="Arial"/>
              </a:defRPr>
            </a:lvl8pPr>
            <a:lvl9pPr>
              <a:defRPr sz="2100" b="1">
                <a:solidFill>
                  <a:srgbClr val="123B63"/>
                </a:solidFill>
                <a:latin typeface="Arial"/>
                <a:ea typeface="Arial"/>
                <a:cs typeface="Arial"/>
              </a:defRPr>
            </a:lvl9pPr>
          </a:lstStyle>
          <a:p>
            <a:pPr>
              <a:defRPr sz="2100" b="1">
                <a:solidFill>
                  <a:srgbClr val="123B63"/>
                </a:solidFill>
                <a:latin typeface="Arial"/>
                <a:ea typeface="Arial"/>
                <a:cs typeface="Arial"/>
              </a:defRPr>
            </a:pPr>
            <a:r>
              <a:rPr sz="2100" b="1">
                <a:solidFill>
                  <a:srgbClr val="123B63"/>
                </a:solidFill>
                <a:latin typeface="Arial"/>
                <a:ea typeface="Arial"/>
                <a:cs typeface="Arial"/>
              </a:rPr>
              <a:t>Hypothesis</a:t>
            </a:r>
          </a:p>
        </p:txBody>
      </p:sp>
      <p:sp>
        <p:nvSpPr>
          <p:cNvPr id="7" name="Selective feature weighting may improve ">
            <a:extLst>
              <a:ext uri="{FF2B5EF4-FFF2-40B4-BE49-F238E27FC236}">
                <a16:creationId xmlns:a16="http://schemas.microsoft.com/office/drawing/2014/main" id="{8B49A1FB-3AF5-4898-9F9F-7FA598BE2477}"/>
              </a:ext>
            </a:extLst>
          </p:cNvPr>
          <p:cNvSpPr>
            <a:spLocks noGrp="1"/>
          </p:cNvSpPr>
          <p:nvPr/>
        </p:nvSpPr>
        <p:spPr>
          <a:xfrm>
            <a:off x="609600" y="4019550"/>
            <a:ext cx="10906125" cy="904875"/>
          </a:xfrm>
          <a:prstGeom prst="rect">
            <a:avLst/>
          </a:prstGeom>
          <a:noFill/>
          <a:ln w="0">
            <a:noFill/>
          </a:ln>
        </p:spPr>
        <p:txBody>
          <a:bodyPr wrap="square" lIns="0" tIns="0" rIns="0" bIns="0" anchor="t">
            <a:noAutofit/>
          </a:bodyPr>
          <a:lstStyle>
            <a:defPPr>
              <a:defRPr sz="2175" b="0">
                <a:solidFill>
                  <a:srgbClr val="5B6472"/>
                </a:solidFill>
                <a:latin typeface="Arial"/>
                <a:ea typeface="Arial"/>
                <a:cs typeface="Arial"/>
              </a:defRPr>
            </a:defPPr>
            <a:lvl1pPr>
              <a:defRPr sz="2175" b="0">
                <a:solidFill>
                  <a:srgbClr val="5B6472"/>
                </a:solidFill>
                <a:latin typeface="Arial"/>
                <a:ea typeface="Arial"/>
                <a:cs typeface="Arial"/>
              </a:defRPr>
            </a:lvl1pPr>
            <a:lvl2pPr>
              <a:defRPr sz="2175" b="0">
                <a:solidFill>
                  <a:srgbClr val="5B6472"/>
                </a:solidFill>
                <a:latin typeface="Arial"/>
                <a:ea typeface="Arial"/>
                <a:cs typeface="Arial"/>
              </a:defRPr>
            </a:lvl2pPr>
            <a:lvl3pPr>
              <a:defRPr sz="2175" b="0">
                <a:solidFill>
                  <a:srgbClr val="5B6472"/>
                </a:solidFill>
                <a:latin typeface="Arial"/>
                <a:ea typeface="Arial"/>
                <a:cs typeface="Arial"/>
              </a:defRPr>
            </a:lvl3pPr>
            <a:lvl4pPr>
              <a:defRPr sz="2175" b="0">
                <a:solidFill>
                  <a:srgbClr val="5B6472"/>
                </a:solidFill>
                <a:latin typeface="Arial"/>
                <a:ea typeface="Arial"/>
                <a:cs typeface="Arial"/>
              </a:defRPr>
            </a:lvl4pPr>
            <a:lvl5pPr>
              <a:defRPr sz="2175" b="0">
                <a:solidFill>
                  <a:srgbClr val="5B6472"/>
                </a:solidFill>
                <a:latin typeface="Arial"/>
                <a:ea typeface="Arial"/>
                <a:cs typeface="Arial"/>
              </a:defRPr>
            </a:lvl5pPr>
            <a:lvl6pPr>
              <a:defRPr sz="2175" b="0">
                <a:solidFill>
                  <a:srgbClr val="5B6472"/>
                </a:solidFill>
                <a:latin typeface="Arial"/>
                <a:ea typeface="Arial"/>
                <a:cs typeface="Arial"/>
              </a:defRPr>
            </a:lvl6pPr>
            <a:lvl7pPr>
              <a:defRPr sz="2175" b="0">
                <a:solidFill>
                  <a:srgbClr val="5B6472"/>
                </a:solidFill>
                <a:latin typeface="Arial"/>
                <a:ea typeface="Arial"/>
                <a:cs typeface="Arial"/>
              </a:defRPr>
            </a:lvl7pPr>
            <a:lvl8pPr>
              <a:defRPr sz="2175" b="0">
                <a:solidFill>
                  <a:srgbClr val="5B6472"/>
                </a:solidFill>
                <a:latin typeface="Arial"/>
                <a:ea typeface="Arial"/>
                <a:cs typeface="Arial"/>
              </a:defRPr>
            </a:lvl8pPr>
            <a:lvl9pPr>
              <a:defRPr sz="2175" b="0">
                <a:solidFill>
                  <a:srgbClr val="5B6472"/>
                </a:solidFill>
                <a:latin typeface="Arial"/>
                <a:ea typeface="Arial"/>
                <a:cs typeface="Arial"/>
              </a:defRPr>
            </a:lvl9pPr>
          </a:lstStyle>
          <a:p>
            <a:pPr>
              <a:defRPr sz="2175" b="0">
                <a:solidFill>
                  <a:srgbClr val="5B6472"/>
                </a:solidFill>
                <a:latin typeface="Arial"/>
                <a:ea typeface="Arial"/>
                <a:cs typeface="Arial"/>
              </a:defRPr>
            </a:pPr>
            <a:r>
              <a:rPr sz="2175" b="0">
                <a:solidFill>
                  <a:srgbClr val="5B6472"/>
                </a:solidFill>
                <a:latin typeface="Arial"/>
                <a:ea typeface="Arial"/>
                <a:cs typeface="Arial"/>
              </a:rPr>
              <a:t>Selective feature weighting may improve subtle-defect localisation.</a:t>
            </a:r>
          </a:p>
          <a:p>
            <a:pPr>
              <a:defRPr sz="2175" b="0">
                <a:solidFill>
                  <a:srgbClr val="5B6472"/>
                </a:solidFill>
                <a:latin typeface="Arial"/>
                <a:ea typeface="Arial"/>
                <a:cs typeface="Arial"/>
              </a:defRPr>
            </a:pPr>
            <a:r>
              <a:rPr sz="2175" b="0">
                <a:solidFill>
                  <a:srgbClr val="5B6472"/>
                </a:solidFill>
                <a:latin typeface="Arial"/>
                <a:ea typeface="Arial"/>
                <a:cs typeface="Arial"/>
              </a:rPr>
              <a:t>Spatial information may help, but adds execution cost.</a:t>
            </a:r>
          </a:p>
        </p:txBody>
      </p:sp>
      <p:sp>
        <p:nvSpPr>
          <p:cNvPr id="8" name="Contribution: a matched comparison at on">
            <a:extLst>
              <a:ext uri="{FF2B5EF4-FFF2-40B4-BE49-F238E27FC236}">
                <a16:creationId xmlns:a16="http://schemas.microsoft.com/office/drawing/2014/main" id="{38DCB9A5-990B-4FD7-9C59-E0D21A174F7B}"/>
              </a:ext>
            </a:extLst>
          </p:cNvPr>
          <p:cNvSpPr>
            <a:spLocks noGrp="1"/>
          </p:cNvSpPr>
          <p:nvPr/>
        </p:nvSpPr>
        <p:spPr>
          <a:xfrm>
            <a:off x="609600" y="5429250"/>
            <a:ext cx="10858500" cy="619125"/>
          </a:xfrm>
          <a:prstGeom prst="rect">
            <a:avLst/>
          </a:prstGeom>
          <a:noFill/>
          <a:ln w="0">
            <a:noFill/>
          </a:ln>
        </p:spPr>
        <p:txBody>
          <a:bodyPr wrap="square" lIns="0" tIns="0" rIns="0" bIns="0" anchor="t">
            <a:noAutofit/>
          </a:bodyPr>
          <a:lstStyle>
            <a:defPPr>
              <a:defRPr sz="2025" b="1">
                <a:solidFill>
                  <a:srgbClr val="111827"/>
                </a:solidFill>
                <a:latin typeface="Arial"/>
                <a:ea typeface="Arial"/>
                <a:cs typeface="Arial"/>
              </a:defRPr>
            </a:defPPr>
            <a:lvl1pPr>
              <a:defRPr sz="2025" b="1">
                <a:solidFill>
                  <a:srgbClr val="111827"/>
                </a:solidFill>
                <a:latin typeface="Arial"/>
                <a:ea typeface="Arial"/>
                <a:cs typeface="Arial"/>
              </a:defRPr>
            </a:lvl1pPr>
            <a:lvl2pPr>
              <a:defRPr sz="2025" b="1">
                <a:solidFill>
                  <a:srgbClr val="111827"/>
                </a:solidFill>
                <a:latin typeface="Arial"/>
                <a:ea typeface="Arial"/>
                <a:cs typeface="Arial"/>
              </a:defRPr>
            </a:lvl2pPr>
            <a:lvl3pPr>
              <a:defRPr sz="2025" b="1">
                <a:solidFill>
                  <a:srgbClr val="111827"/>
                </a:solidFill>
                <a:latin typeface="Arial"/>
                <a:ea typeface="Arial"/>
                <a:cs typeface="Arial"/>
              </a:defRPr>
            </a:lvl3pPr>
            <a:lvl4pPr>
              <a:defRPr sz="2025" b="1">
                <a:solidFill>
                  <a:srgbClr val="111827"/>
                </a:solidFill>
                <a:latin typeface="Arial"/>
                <a:ea typeface="Arial"/>
                <a:cs typeface="Arial"/>
              </a:defRPr>
            </a:lvl4pPr>
            <a:lvl5pPr>
              <a:defRPr sz="2025" b="1">
                <a:solidFill>
                  <a:srgbClr val="111827"/>
                </a:solidFill>
                <a:latin typeface="Arial"/>
                <a:ea typeface="Arial"/>
                <a:cs typeface="Arial"/>
              </a:defRPr>
            </a:lvl5pPr>
            <a:lvl6pPr>
              <a:defRPr sz="2025" b="1">
                <a:solidFill>
                  <a:srgbClr val="111827"/>
                </a:solidFill>
                <a:latin typeface="Arial"/>
                <a:ea typeface="Arial"/>
                <a:cs typeface="Arial"/>
              </a:defRPr>
            </a:lvl6pPr>
            <a:lvl7pPr>
              <a:defRPr sz="2025" b="1">
                <a:solidFill>
                  <a:srgbClr val="111827"/>
                </a:solidFill>
                <a:latin typeface="Arial"/>
                <a:ea typeface="Arial"/>
                <a:cs typeface="Arial"/>
              </a:defRPr>
            </a:lvl7pPr>
            <a:lvl8pPr>
              <a:defRPr sz="2025" b="1">
                <a:solidFill>
                  <a:srgbClr val="111827"/>
                </a:solidFill>
                <a:latin typeface="Arial"/>
                <a:ea typeface="Arial"/>
                <a:cs typeface="Arial"/>
              </a:defRPr>
            </a:lvl8pPr>
            <a:lvl9pPr>
              <a:defRPr sz="2025" b="1">
                <a:solidFill>
                  <a:srgbClr val="111827"/>
                </a:solidFill>
                <a:latin typeface="Arial"/>
                <a:ea typeface="Arial"/>
                <a:cs typeface="Arial"/>
              </a:defRPr>
            </a:lvl9pPr>
          </a:lstStyle>
          <a:p>
            <a:pPr>
              <a:defRPr sz="2025" b="1">
                <a:solidFill>
                  <a:srgbClr val="111827"/>
                </a:solidFill>
                <a:latin typeface="Arial"/>
                <a:ea typeface="Arial"/>
                <a:cs typeface="Arial"/>
              </a:defRPr>
            </a:pPr>
            <a:r>
              <a:rPr sz="2025" b="1">
                <a:solidFill>
                  <a:srgbClr val="111827"/>
                </a:solidFill>
                <a:latin typeface="Arial"/>
                <a:ea typeface="Arial"/>
                <a:cs typeface="Arial"/>
              </a:rPr>
              <a:t>Contribution: a matched comparison at one fixed insertion point</a:t>
            </a:r>
          </a:p>
        </p:txBody>
      </p:sp>
    </p:spTree>
    <p:extLst>
      <p:ext uri="{BB962C8B-B14F-4D97-AF65-F5344CB8AC3E}">
        <p14:creationId xmlns:p14="http://schemas.microsoft.com/office/powerpoint/2010/main" val="572223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6" name="Connector: Elbow 15">
            <a:extLst>
              <a:ext uri="{FF2B5EF4-FFF2-40B4-BE49-F238E27FC236}">
                <a16:creationId xmlns:a16="http://schemas.microsoft.com/office/drawing/2014/main" id="{4FE18DF9-441B-4CAB-B489-4F4E6A94DC00}"/>
              </a:ext>
            </a:extLst>
          </p:cNvPr>
          <p:cNvCxnSpPr>
            <a:stCxn id="7" idx="2"/>
            <a:endCxn id="9" idx="1"/>
          </p:cNvCxnSpPr>
          <p:nvPr/>
        </p:nvCxnSpPr>
        <p:spPr>
          <a:xfrm>
            <a:off x="7239000" y="3048000"/>
            <a:ext cx="2162175" cy="1476375"/>
          </a:xfrm>
          <a:prstGeom prst="bentConnector4">
            <a:avLst/>
          </a:prstGeom>
          <a:ln w="19050">
            <a:solidFill>
              <a:srgbClr val="3D8DFF"/>
            </a:solidFill>
            <a:tailEnd type="triangle" w="med" len="med"/>
          </a:ln>
        </p:spPr>
      </p:cxnSp>
      <p:cxnSp>
        <p:nvCxnSpPr>
          <p:cNvPr id="15" name="Connector: Elbow 14">
            <a:extLst>
              <a:ext uri="{FF2B5EF4-FFF2-40B4-BE49-F238E27FC236}">
                <a16:creationId xmlns:a16="http://schemas.microsoft.com/office/drawing/2014/main" id="{DCCDBC7A-5C85-4B3F-8366-E14336558368}"/>
              </a:ext>
            </a:extLst>
          </p:cNvPr>
          <p:cNvCxnSpPr>
            <a:stCxn id="9" idx="2"/>
            <a:endCxn id="10" idx="2"/>
          </p:cNvCxnSpPr>
          <p:nvPr/>
        </p:nvCxnSpPr>
        <p:spPr>
          <a:xfrm flipH="1">
            <a:off x="7239000" y="5000625"/>
            <a:ext cx="3190875" cy="228600"/>
          </a:xfrm>
          <a:prstGeom prst="bentConnector4">
            <a:avLst/>
          </a:prstGeom>
          <a:ln w="19050">
            <a:solidFill>
              <a:srgbClr val="123B63"/>
            </a:solidFill>
            <a:tailEnd type="triangle" w="med" len="med"/>
          </a:ln>
        </p:spPr>
      </p:cxnSp>
      <p:cxnSp>
        <p:nvCxnSpPr>
          <p:cNvPr id="14" name="Straight Arrow Connector 13">
            <a:extLst>
              <a:ext uri="{FF2B5EF4-FFF2-40B4-BE49-F238E27FC236}">
                <a16:creationId xmlns:a16="http://schemas.microsoft.com/office/drawing/2014/main" id="{96D3BAF7-F031-4F8F-8644-8E85DB0BE1A2}"/>
              </a:ext>
            </a:extLst>
          </p:cNvPr>
          <p:cNvCxnSpPr>
            <a:stCxn id="8" idx="2"/>
            <a:endCxn id="9" idx="0"/>
          </p:cNvCxnSpPr>
          <p:nvPr/>
        </p:nvCxnSpPr>
        <p:spPr>
          <a:xfrm>
            <a:off x="10429875" y="3000375"/>
            <a:ext cx="0" cy="1047750"/>
          </a:xfrm>
          <a:prstGeom prst="straightConnector1">
            <a:avLst/>
          </a:prstGeom>
          <a:ln w="19050">
            <a:solidFill>
              <a:srgbClr val="123B63"/>
            </a:solidFill>
            <a:tailEnd type="triangle" w="med" len="med"/>
          </a:ln>
        </p:spPr>
      </p:cxnSp>
      <p:cxnSp>
        <p:nvCxnSpPr>
          <p:cNvPr id="13" name="Straight Arrow Connector 12">
            <a:extLst>
              <a:ext uri="{FF2B5EF4-FFF2-40B4-BE49-F238E27FC236}">
                <a16:creationId xmlns:a16="http://schemas.microsoft.com/office/drawing/2014/main" id="{EA62084B-6BF8-41BD-9FE3-12D5F100E16D}"/>
              </a:ext>
            </a:extLst>
          </p:cNvPr>
          <p:cNvCxnSpPr>
            <a:stCxn id="7" idx="3"/>
            <a:endCxn id="8" idx="1"/>
          </p:cNvCxnSpPr>
          <p:nvPr/>
        </p:nvCxnSpPr>
        <p:spPr>
          <a:xfrm>
            <a:off x="8667750" y="2524125"/>
            <a:ext cx="666750" cy="0"/>
          </a:xfrm>
          <a:prstGeom prst="straightConnector1">
            <a:avLst/>
          </a:prstGeom>
          <a:ln w="19050">
            <a:solidFill>
              <a:srgbClr val="123B63"/>
            </a:solidFill>
            <a:tailEnd type="triangle" w="med" len="med"/>
          </a:ln>
        </p:spPr>
      </p:cxnSp>
      <p:cxnSp>
        <p:nvCxnSpPr>
          <p:cNvPr id="12" name="Straight Arrow Connector 11">
            <a:extLst>
              <a:ext uri="{FF2B5EF4-FFF2-40B4-BE49-F238E27FC236}">
                <a16:creationId xmlns:a16="http://schemas.microsoft.com/office/drawing/2014/main" id="{A746FBED-E04D-4ADC-9425-2DB46D2B167C}"/>
              </a:ext>
            </a:extLst>
          </p:cNvPr>
          <p:cNvCxnSpPr>
            <a:stCxn id="6" idx="3"/>
            <a:endCxn id="7" idx="1"/>
          </p:cNvCxnSpPr>
          <p:nvPr/>
        </p:nvCxnSpPr>
        <p:spPr>
          <a:xfrm>
            <a:off x="5143500" y="2524125"/>
            <a:ext cx="666750" cy="0"/>
          </a:xfrm>
          <a:prstGeom prst="straightConnector1">
            <a:avLst/>
          </a:prstGeom>
          <a:ln w="19050">
            <a:solidFill>
              <a:srgbClr val="123B63"/>
            </a:solidFill>
            <a:tailEnd type="triangle" w="med" len="med"/>
          </a:ln>
        </p:spPr>
      </p:cxnSp>
      <p:cxnSp>
        <p:nvCxnSpPr>
          <p:cNvPr id="11" name="Straight Arrow Connector 10">
            <a:extLst>
              <a:ext uri="{FF2B5EF4-FFF2-40B4-BE49-F238E27FC236}">
                <a16:creationId xmlns:a16="http://schemas.microsoft.com/office/drawing/2014/main" id="{389567FA-027E-4312-A482-8622D97CDAB5}"/>
              </a:ext>
            </a:extLst>
          </p:cNvPr>
          <p:cNvCxnSpPr>
            <a:stCxn id="5" idx="3"/>
            <a:endCxn id="6" idx="1"/>
          </p:cNvCxnSpPr>
          <p:nvPr/>
        </p:nvCxnSpPr>
        <p:spPr>
          <a:xfrm>
            <a:off x="2419350" y="2524125"/>
            <a:ext cx="628650" cy="0"/>
          </a:xfrm>
          <a:prstGeom prst="straightConnector1">
            <a:avLst/>
          </a:prstGeom>
          <a:ln w="19050">
            <a:solidFill>
              <a:srgbClr val="123B63"/>
            </a:solidFill>
            <a:tailEnd type="triangle" w="med" len="med"/>
          </a:ln>
        </p:spPr>
      </p:cxnSp>
      <p:sp>
        <p:nvSpPr>
          <p:cNvPr id="22" name="APPLE DEFECT DETECTION">
            <a:extLst>
              <a:ext uri="{FF2B5EF4-FFF2-40B4-BE49-F238E27FC236}">
                <a16:creationId xmlns:a16="http://schemas.microsoft.com/office/drawing/2014/main" id="{6DD161E4-C315-480F-815E-F05E4602AE41}"/>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One attention insertion point in the bac">
            <a:extLst>
              <a:ext uri="{FF2B5EF4-FFF2-40B4-BE49-F238E27FC236}">
                <a16:creationId xmlns:a16="http://schemas.microsoft.com/office/drawing/2014/main" id="{4BA1D326-3038-4A7B-B015-BE3CD8B481B6}"/>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One attention insertion point in the backbone</a:t>
            </a:r>
          </a:p>
        </p:txBody>
      </p:sp>
      <p:sp>
        <p:nvSpPr>
          <p:cNvPr id="3" name="Manish Gadia">
            <a:extLst>
              <a:ext uri="{FF2B5EF4-FFF2-40B4-BE49-F238E27FC236}">
                <a16:creationId xmlns:a16="http://schemas.microsoft.com/office/drawing/2014/main" id="{6FCFC120-D1DE-4071-94F9-0E34DDDBC9F7}"/>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Manish Gadia</a:t>
            </a:r>
          </a:p>
        </p:txBody>
      </p:sp>
      <p:sp>
        <p:nvSpPr>
          <p:cNvPr id="4" name="5">
            <a:extLst>
              <a:ext uri="{FF2B5EF4-FFF2-40B4-BE49-F238E27FC236}">
                <a16:creationId xmlns:a16="http://schemas.microsoft.com/office/drawing/2014/main" id="{83E9DEDE-873C-4779-83E0-0FAF8CC824BB}"/>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5</a:t>
            </a:r>
          </a:p>
        </p:txBody>
      </p:sp>
      <p:sp>
        <p:nvSpPr>
          <p:cNvPr id="5" name="Rectangle 4">
            <a:extLst>
              <a:ext uri="{FF2B5EF4-FFF2-40B4-BE49-F238E27FC236}">
                <a16:creationId xmlns:a16="http://schemas.microsoft.com/office/drawing/2014/main" id="{E31D8298-ADCA-4C44-8DFC-E44F11833B15}"/>
              </a:ext>
            </a:extLst>
          </p:cNvPr>
          <p:cNvSpPr>
            <a:spLocks noGrp="1"/>
          </p:cNvSpPr>
          <p:nvPr/>
        </p:nvSpPr>
        <p:spPr>
          <a:xfrm>
            <a:off x="609600" y="2047875"/>
            <a:ext cx="1809750" cy="952500"/>
          </a:xfrm>
          <a:prstGeom prst="rect">
            <a:avLst/>
          </a:prstGeom>
          <a:solidFill>
            <a:srgbClr val="F6F7F9"/>
          </a:solidFill>
          <a:ln w="19050">
            <a:solidFill>
              <a:srgbClr val="D8DFE8"/>
            </a:solidFill>
          </a:ln>
        </p:spPr>
        <p:txBody>
          <a:bodyPr lIns="95250" tIns="95250" rIns="95250" bIns="95250" anchor="ctr"/>
          <a:lstStyle>
            <a:defPPr algn="ctr">
              <a:defRPr sz="1800" b="1">
                <a:solidFill>
                  <a:srgbClr val="111827"/>
                </a:solidFill>
                <a:latin typeface="Arial"/>
                <a:ea typeface="Arial"/>
                <a:cs typeface="Arial"/>
              </a:defRPr>
            </a:defPPr>
            <a:lvl1pPr algn="ctr">
              <a:defRPr sz="1800" b="1">
                <a:solidFill>
                  <a:srgbClr val="111827"/>
                </a:solidFill>
                <a:latin typeface="Arial"/>
                <a:ea typeface="Arial"/>
                <a:cs typeface="Arial"/>
              </a:defRPr>
            </a:lvl1pPr>
            <a:lvl2pPr algn="ctr">
              <a:defRPr sz="1800" b="1">
                <a:solidFill>
                  <a:srgbClr val="111827"/>
                </a:solidFill>
                <a:latin typeface="Arial"/>
                <a:ea typeface="Arial"/>
                <a:cs typeface="Arial"/>
              </a:defRPr>
            </a:lvl2pPr>
            <a:lvl3pPr algn="ctr">
              <a:defRPr sz="1800" b="1">
                <a:solidFill>
                  <a:srgbClr val="111827"/>
                </a:solidFill>
                <a:latin typeface="Arial"/>
                <a:ea typeface="Arial"/>
                <a:cs typeface="Arial"/>
              </a:defRPr>
            </a:lvl3pPr>
            <a:lvl4pPr algn="ctr">
              <a:defRPr sz="1800" b="1">
                <a:solidFill>
                  <a:srgbClr val="111827"/>
                </a:solidFill>
                <a:latin typeface="Arial"/>
                <a:ea typeface="Arial"/>
                <a:cs typeface="Arial"/>
              </a:defRPr>
            </a:lvl4pPr>
            <a:lvl5pPr algn="ctr">
              <a:defRPr sz="1800" b="1">
                <a:solidFill>
                  <a:srgbClr val="111827"/>
                </a:solidFill>
                <a:latin typeface="Arial"/>
                <a:ea typeface="Arial"/>
                <a:cs typeface="Arial"/>
              </a:defRPr>
            </a:lvl5pPr>
            <a:lvl6pPr algn="ctr">
              <a:defRPr sz="1800" b="1">
                <a:solidFill>
                  <a:srgbClr val="111827"/>
                </a:solidFill>
                <a:latin typeface="Arial"/>
                <a:ea typeface="Arial"/>
                <a:cs typeface="Arial"/>
              </a:defRPr>
            </a:lvl6pPr>
            <a:lvl7pPr algn="ctr">
              <a:defRPr sz="1800" b="1">
                <a:solidFill>
                  <a:srgbClr val="111827"/>
                </a:solidFill>
                <a:latin typeface="Arial"/>
                <a:ea typeface="Arial"/>
                <a:cs typeface="Arial"/>
              </a:defRPr>
            </a:lvl7pPr>
            <a:lvl8pPr algn="ctr">
              <a:defRPr sz="1800" b="1">
                <a:solidFill>
                  <a:srgbClr val="111827"/>
                </a:solidFill>
                <a:latin typeface="Arial"/>
                <a:ea typeface="Arial"/>
                <a:cs typeface="Arial"/>
              </a:defRPr>
            </a:lvl8pPr>
            <a:lvl9pPr algn="ctr">
              <a:defRPr sz="1800" b="1">
                <a:solidFill>
                  <a:srgbClr val="111827"/>
                </a:solidFill>
                <a:latin typeface="Arial"/>
                <a:ea typeface="Arial"/>
                <a:cs typeface="Arial"/>
              </a:defRPr>
            </a:lvl9pPr>
          </a:lstStyle>
          <a:p>
            <a:pPr algn="ctr">
              <a:defRPr sz="1800" b="1">
                <a:solidFill>
                  <a:srgbClr val="111827"/>
                </a:solidFill>
                <a:latin typeface="Arial"/>
                <a:ea typeface="Arial"/>
                <a:cs typeface="Arial"/>
              </a:defRPr>
            </a:pPr>
            <a:r>
              <a:rPr sz="1800" b="1">
                <a:solidFill>
                  <a:srgbClr val="111827"/>
                </a:solidFill>
                <a:latin typeface="Arial"/>
                <a:ea typeface="Arial"/>
                <a:cs typeface="Arial"/>
              </a:rPr>
              <a:t>Input image</a:t>
            </a:r>
          </a:p>
          <a:p>
            <a:pPr algn="ctr">
              <a:defRPr sz="1800" b="1">
                <a:solidFill>
                  <a:srgbClr val="111827"/>
                </a:solidFill>
                <a:latin typeface="Arial"/>
                <a:ea typeface="Arial"/>
                <a:cs typeface="Arial"/>
              </a:defRPr>
            </a:pPr>
            <a:r>
              <a:rPr sz="1800" b="1">
                <a:solidFill>
                  <a:srgbClr val="111827"/>
                </a:solidFill>
                <a:latin typeface="Arial"/>
                <a:ea typeface="Arial"/>
                <a:cs typeface="Arial"/>
              </a:rPr>
              <a:t>640 x 640</a:t>
            </a:r>
          </a:p>
        </p:txBody>
      </p:sp>
      <p:sp>
        <p:nvSpPr>
          <p:cNvPr id="6" name="Rectangle 5">
            <a:extLst>
              <a:ext uri="{FF2B5EF4-FFF2-40B4-BE49-F238E27FC236}">
                <a16:creationId xmlns:a16="http://schemas.microsoft.com/office/drawing/2014/main" id="{1C8568EF-0CB9-484F-ADBC-BC4DFDE13867}"/>
              </a:ext>
            </a:extLst>
          </p:cNvPr>
          <p:cNvSpPr>
            <a:spLocks noGrp="1"/>
          </p:cNvSpPr>
          <p:nvPr/>
        </p:nvSpPr>
        <p:spPr>
          <a:xfrm>
            <a:off x="3048000" y="2047875"/>
            <a:ext cx="2095500" cy="952500"/>
          </a:xfrm>
          <a:prstGeom prst="rect">
            <a:avLst/>
          </a:prstGeom>
          <a:solidFill>
            <a:srgbClr val="F6F7F9"/>
          </a:solidFill>
          <a:ln w="19050">
            <a:solidFill>
              <a:srgbClr val="D8DFE8"/>
            </a:solidFill>
          </a:ln>
        </p:spPr>
        <p:txBody>
          <a:bodyPr lIns="95250" tIns="95250" rIns="95250" bIns="95250" anchor="ctr"/>
          <a:lstStyle>
            <a:defPPr algn="ctr">
              <a:defRPr sz="1800" b="1">
                <a:solidFill>
                  <a:srgbClr val="111827"/>
                </a:solidFill>
                <a:latin typeface="Arial"/>
                <a:ea typeface="Arial"/>
                <a:cs typeface="Arial"/>
              </a:defRPr>
            </a:defPPr>
            <a:lvl1pPr algn="ctr">
              <a:defRPr sz="1800" b="1">
                <a:solidFill>
                  <a:srgbClr val="111827"/>
                </a:solidFill>
                <a:latin typeface="Arial"/>
                <a:ea typeface="Arial"/>
                <a:cs typeface="Arial"/>
              </a:defRPr>
            </a:lvl1pPr>
            <a:lvl2pPr algn="ctr">
              <a:defRPr sz="1800" b="1">
                <a:solidFill>
                  <a:srgbClr val="111827"/>
                </a:solidFill>
                <a:latin typeface="Arial"/>
                <a:ea typeface="Arial"/>
                <a:cs typeface="Arial"/>
              </a:defRPr>
            </a:lvl2pPr>
            <a:lvl3pPr algn="ctr">
              <a:defRPr sz="1800" b="1">
                <a:solidFill>
                  <a:srgbClr val="111827"/>
                </a:solidFill>
                <a:latin typeface="Arial"/>
                <a:ea typeface="Arial"/>
                <a:cs typeface="Arial"/>
              </a:defRPr>
            </a:lvl3pPr>
            <a:lvl4pPr algn="ctr">
              <a:defRPr sz="1800" b="1">
                <a:solidFill>
                  <a:srgbClr val="111827"/>
                </a:solidFill>
                <a:latin typeface="Arial"/>
                <a:ea typeface="Arial"/>
                <a:cs typeface="Arial"/>
              </a:defRPr>
            </a:lvl4pPr>
            <a:lvl5pPr algn="ctr">
              <a:defRPr sz="1800" b="1">
                <a:solidFill>
                  <a:srgbClr val="111827"/>
                </a:solidFill>
                <a:latin typeface="Arial"/>
                <a:ea typeface="Arial"/>
                <a:cs typeface="Arial"/>
              </a:defRPr>
            </a:lvl5pPr>
            <a:lvl6pPr algn="ctr">
              <a:defRPr sz="1800" b="1">
                <a:solidFill>
                  <a:srgbClr val="111827"/>
                </a:solidFill>
                <a:latin typeface="Arial"/>
                <a:ea typeface="Arial"/>
                <a:cs typeface="Arial"/>
              </a:defRPr>
            </a:lvl6pPr>
            <a:lvl7pPr algn="ctr">
              <a:defRPr sz="1800" b="1">
                <a:solidFill>
                  <a:srgbClr val="111827"/>
                </a:solidFill>
                <a:latin typeface="Arial"/>
                <a:ea typeface="Arial"/>
                <a:cs typeface="Arial"/>
              </a:defRPr>
            </a:lvl7pPr>
            <a:lvl8pPr algn="ctr">
              <a:defRPr sz="1800" b="1">
                <a:solidFill>
                  <a:srgbClr val="111827"/>
                </a:solidFill>
                <a:latin typeface="Arial"/>
                <a:ea typeface="Arial"/>
                <a:cs typeface="Arial"/>
              </a:defRPr>
            </a:lvl8pPr>
            <a:lvl9pPr algn="ctr">
              <a:defRPr sz="1800" b="1">
                <a:solidFill>
                  <a:srgbClr val="111827"/>
                </a:solidFill>
                <a:latin typeface="Arial"/>
                <a:ea typeface="Arial"/>
                <a:cs typeface="Arial"/>
              </a:defRPr>
            </a:lvl9pPr>
          </a:lstStyle>
          <a:p>
            <a:pPr algn="ctr">
              <a:defRPr sz="1800" b="1">
                <a:solidFill>
                  <a:srgbClr val="111827"/>
                </a:solidFill>
                <a:latin typeface="Arial"/>
                <a:ea typeface="Arial"/>
                <a:cs typeface="Arial"/>
              </a:defRPr>
            </a:pPr>
            <a:r>
              <a:rPr sz="1800" b="1">
                <a:solidFill>
                  <a:srgbClr val="111827"/>
                </a:solidFill>
                <a:latin typeface="Arial"/>
                <a:ea typeface="Arial"/>
                <a:cs typeface="Arial"/>
              </a:rPr>
              <a:t>Backbone</a:t>
            </a:r>
          </a:p>
          <a:p>
            <a:pPr algn="ctr">
              <a:defRPr sz="1800" b="1">
                <a:solidFill>
                  <a:srgbClr val="111827"/>
                </a:solidFill>
                <a:latin typeface="Arial"/>
                <a:ea typeface="Arial"/>
                <a:cs typeface="Arial"/>
              </a:defRPr>
            </a:pPr>
            <a:r>
              <a:rPr sz="1800" b="1">
                <a:solidFill>
                  <a:srgbClr val="111827"/>
                </a:solidFill>
                <a:latin typeface="Arial"/>
                <a:ea typeface="Arial"/>
                <a:cs typeface="Arial"/>
              </a:rPr>
              <a:t>C2f layer 6</a:t>
            </a:r>
          </a:p>
        </p:txBody>
      </p:sp>
      <p:sp>
        <p:nvSpPr>
          <p:cNvPr id="7" name="Rectangle 6">
            <a:extLst>
              <a:ext uri="{FF2B5EF4-FFF2-40B4-BE49-F238E27FC236}">
                <a16:creationId xmlns:a16="http://schemas.microsoft.com/office/drawing/2014/main" id="{39C232CB-1AB4-4255-85FA-7938BA1886D1}"/>
              </a:ext>
            </a:extLst>
          </p:cNvPr>
          <p:cNvSpPr>
            <a:spLocks noGrp="1"/>
          </p:cNvSpPr>
          <p:nvPr/>
        </p:nvSpPr>
        <p:spPr>
          <a:xfrm>
            <a:off x="5810250" y="2000250"/>
            <a:ext cx="2857500" cy="1047750"/>
          </a:xfrm>
          <a:prstGeom prst="rect">
            <a:avLst/>
          </a:prstGeom>
          <a:solidFill>
            <a:srgbClr val="EEF4FF"/>
          </a:solidFill>
          <a:ln w="19050">
            <a:solidFill>
              <a:srgbClr val="3D8DFF"/>
            </a:solidFill>
          </a:ln>
        </p:spPr>
        <p:txBody>
          <a:bodyPr lIns="95250" tIns="95250" rIns="95250" bIns="95250" anchor="ctr"/>
          <a:lstStyle>
            <a:defPPr algn="ctr">
              <a:defRPr sz="1800" b="1">
                <a:solidFill>
                  <a:srgbClr val="3D8DFF"/>
                </a:solidFill>
                <a:latin typeface="Arial"/>
                <a:ea typeface="Arial"/>
                <a:cs typeface="Arial"/>
              </a:defRPr>
            </a:defPPr>
            <a:lvl1pPr algn="ctr">
              <a:defRPr sz="1800" b="1">
                <a:solidFill>
                  <a:srgbClr val="3D8DFF"/>
                </a:solidFill>
                <a:latin typeface="Arial"/>
                <a:ea typeface="Arial"/>
                <a:cs typeface="Arial"/>
              </a:defRPr>
            </a:lvl1pPr>
            <a:lvl2pPr algn="ctr">
              <a:defRPr sz="1800" b="1">
                <a:solidFill>
                  <a:srgbClr val="3D8DFF"/>
                </a:solidFill>
                <a:latin typeface="Arial"/>
                <a:ea typeface="Arial"/>
                <a:cs typeface="Arial"/>
              </a:defRPr>
            </a:lvl2pPr>
            <a:lvl3pPr algn="ctr">
              <a:defRPr sz="1800" b="1">
                <a:solidFill>
                  <a:srgbClr val="3D8DFF"/>
                </a:solidFill>
                <a:latin typeface="Arial"/>
                <a:ea typeface="Arial"/>
                <a:cs typeface="Arial"/>
              </a:defRPr>
            </a:lvl3pPr>
            <a:lvl4pPr algn="ctr">
              <a:defRPr sz="1800" b="1">
                <a:solidFill>
                  <a:srgbClr val="3D8DFF"/>
                </a:solidFill>
                <a:latin typeface="Arial"/>
                <a:ea typeface="Arial"/>
                <a:cs typeface="Arial"/>
              </a:defRPr>
            </a:lvl4pPr>
            <a:lvl5pPr algn="ctr">
              <a:defRPr sz="1800" b="1">
                <a:solidFill>
                  <a:srgbClr val="3D8DFF"/>
                </a:solidFill>
                <a:latin typeface="Arial"/>
                <a:ea typeface="Arial"/>
                <a:cs typeface="Arial"/>
              </a:defRPr>
            </a:lvl5pPr>
            <a:lvl6pPr algn="ctr">
              <a:defRPr sz="1800" b="1">
                <a:solidFill>
                  <a:srgbClr val="3D8DFF"/>
                </a:solidFill>
                <a:latin typeface="Arial"/>
                <a:ea typeface="Arial"/>
                <a:cs typeface="Arial"/>
              </a:defRPr>
            </a:lvl6pPr>
            <a:lvl7pPr algn="ctr">
              <a:defRPr sz="1800" b="1">
                <a:solidFill>
                  <a:srgbClr val="3D8DFF"/>
                </a:solidFill>
                <a:latin typeface="Arial"/>
                <a:ea typeface="Arial"/>
                <a:cs typeface="Arial"/>
              </a:defRPr>
            </a:lvl7pPr>
            <a:lvl8pPr algn="ctr">
              <a:defRPr sz="1800" b="1">
                <a:solidFill>
                  <a:srgbClr val="3D8DFF"/>
                </a:solidFill>
                <a:latin typeface="Arial"/>
                <a:ea typeface="Arial"/>
                <a:cs typeface="Arial"/>
              </a:defRPr>
            </a:lvl8pPr>
            <a:lvl9pPr algn="ctr">
              <a:defRPr sz="1800" b="1">
                <a:solidFill>
                  <a:srgbClr val="3D8DFF"/>
                </a:solidFill>
                <a:latin typeface="Arial"/>
                <a:ea typeface="Arial"/>
                <a:cs typeface="Arial"/>
              </a:defRPr>
            </a:lvl9pPr>
          </a:lstStyle>
          <a:p>
            <a:pPr algn="ctr">
              <a:defRPr sz="1800" b="1">
                <a:solidFill>
                  <a:srgbClr val="3D8DFF"/>
                </a:solidFill>
                <a:latin typeface="Arial"/>
                <a:ea typeface="Arial"/>
                <a:cs typeface="Arial"/>
              </a:defRPr>
            </a:pPr>
            <a:r>
              <a:rPr sz="1800" b="1">
                <a:solidFill>
                  <a:srgbClr val="3D8DFF"/>
                </a:solidFill>
                <a:latin typeface="Arial"/>
                <a:ea typeface="Arial"/>
                <a:cs typeface="Arial"/>
              </a:rPr>
              <a:t>Attention</a:t>
            </a:r>
          </a:p>
          <a:p>
            <a:pPr algn="ctr">
              <a:defRPr sz="1800" b="1">
                <a:solidFill>
                  <a:srgbClr val="3D8DFF"/>
                </a:solidFill>
                <a:latin typeface="Arial"/>
                <a:ea typeface="Arial"/>
                <a:cs typeface="Arial"/>
              </a:defRPr>
            </a:pPr>
            <a:r>
              <a:rPr sz="1800" b="1">
                <a:solidFill>
                  <a:srgbClr val="3D8DFF"/>
                </a:solidFill>
                <a:latin typeface="Arial"/>
                <a:ea typeface="Arial"/>
                <a:cs typeface="Arial"/>
              </a:rPr>
              <a:t>None / SE / CBAM / CA</a:t>
            </a:r>
          </a:p>
        </p:txBody>
      </p:sp>
      <p:sp>
        <p:nvSpPr>
          <p:cNvPr id="8" name="Rectangle 7">
            <a:extLst>
              <a:ext uri="{FF2B5EF4-FFF2-40B4-BE49-F238E27FC236}">
                <a16:creationId xmlns:a16="http://schemas.microsoft.com/office/drawing/2014/main" id="{7165279F-1271-48F2-88BD-65C15732AEA8}"/>
              </a:ext>
            </a:extLst>
          </p:cNvPr>
          <p:cNvSpPr>
            <a:spLocks noGrp="1"/>
          </p:cNvSpPr>
          <p:nvPr/>
        </p:nvSpPr>
        <p:spPr>
          <a:xfrm>
            <a:off x="9334500" y="2047875"/>
            <a:ext cx="2190750" cy="952500"/>
          </a:xfrm>
          <a:prstGeom prst="rect">
            <a:avLst/>
          </a:prstGeom>
          <a:solidFill>
            <a:srgbClr val="F6F7F9"/>
          </a:solidFill>
          <a:ln w="19050">
            <a:solidFill>
              <a:srgbClr val="D8DFE8"/>
            </a:solidFill>
          </a:ln>
        </p:spPr>
        <p:txBody>
          <a:bodyPr lIns="95250" tIns="95250" rIns="95250" bIns="95250" anchor="ctr"/>
          <a:lstStyle>
            <a:defPPr algn="ctr">
              <a:defRPr sz="1800" b="1">
                <a:solidFill>
                  <a:srgbClr val="111827"/>
                </a:solidFill>
                <a:latin typeface="Arial"/>
                <a:ea typeface="Arial"/>
                <a:cs typeface="Arial"/>
              </a:defRPr>
            </a:defPPr>
            <a:lvl1pPr algn="ctr">
              <a:defRPr sz="1800" b="1">
                <a:solidFill>
                  <a:srgbClr val="111827"/>
                </a:solidFill>
                <a:latin typeface="Arial"/>
                <a:ea typeface="Arial"/>
                <a:cs typeface="Arial"/>
              </a:defRPr>
            </a:lvl1pPr>
            <a:lvl2pPr algn="ctr">
              <a:defRPr sz="1800" b="1">
                <a:solidFill>
                  <a:srgbClr val="111827"/>
                </a:solidFill>
                <a:latin typeface="Arial"/>
                <a:ea typeface="Arial"/>
                <a:cs typeface="Arial"/>
              </a:defRPr>
            </a:lvl2pPr>
            <a:lvl3pPr algn="ctr">
              <a:defRPr sz="1800" b="1">
                <a:solidFill>
                  <a:srgbClr val="111827"/>
                </a:solidFill>
                <a:latin typeface="Arial"/>
                <a:ea typeface="Arial"/>
                <a:cs typeface="Arial"/>
              </a:defRPr>
            </a:lvl3pPr>
            <a:lvl4pPr algn="ctr">
              <a:defRPr sz="1800" b="1">
                <a:solidFill>
                  <a:srgbClr val="111827"/>
                </a:solidFill>
                <a:latin typeface="Arial"/>
                <a:ea typeface="Arial"/>
                <a:cs typeface="Arial"/>
              </a:defRPr>
            </a:lvl4pPr>
            <a:lvl5pPr algn="ctr">
              <a:defRPr sz="1800" b="1">
                <a:solidFill>
                  <a:srgbClr val="111827"/>
                </a:solidFill>
                <a:latin typeface="Arial"/>
                <a:ea typeface="Arial"/>
                <a:cs typeface="Arial"/>
              </a:defRPr>
            </a:lvl5pPr>
            <a:lvl6pPr algn="ctr">
              <a:defRPr sz="1800" b="1">
                <a:solidFill>
                  <a:srgbClr val="111827"/>
                </a:solidFill>
                <a:latin typeface="Arial"/>
                <a:ea typeface="Arial"/>
                <a:cs typeface="Arial"/>
              </a:defRPr>
            </a:lvl6pPr>
            <a:lvl7pPr algn="ctr">
              <a:defRPr sz="1800" b="1">
                <a:solidFill>
                  <a:srgbClr val="111827"/>
                </a:solidFill>
                <a:latin typeface="Arial"/>
                <a:ea typeface="Arial"/>
                <a:cs typeface="Arial"/>
              </a:defRPr>
            </a:lvl7pPr>
            <a:lvl8pPr algn="ctr">
              <a:defRPr sz="1800" b="1">
                <a:solidFill>
                  <a:srgbClr val="111827"/>
                </a:solidFill>
                <a:latin typeface="Arial"/>
                <a:ea typeface="Arial"/>
                <a:cs typeface="Arial"/>
              </a:defRPr>
            </a:lvl8pPr>
            <a:lvl9pPr algn="ctr">
              <a:defRPr sz="1800" b="1">
                <a:solidFill>
                  <a:srgbClr val="111827"/>
                </a:solidFill>
                <a:latin typeface="Arial"/>
                <a:ea typeface="Arial"/>
                <a:cs typeface="Arial"/>
              </a:defRPr>
            </a:lvl9pPr>
          </a:lstStyle>
          <a:p>
            <a:pPr algn="ctr">
              <a:defRPr sz="1800" b="1">
                <a:solidFill>
                  <a:srgbClr val="111827"/>
                </a:solidFill>
                <a:latin typeface="Arial"/>
                <a:ea typeface="Arial"/>
                <a:cs typeface="Arial"/>
              </a:defRPr>
            </a:pPr>
            <a:r>
              <a:rPr sz="1800" b="1">
                <a:solidFill>
                  <a:srgbClr val="111827"/>
                </a:solidFill>
                <a:latin typeface="Arial"/>
                <a:ea typeface="Arial"/>
                <a:cs typeface="Arial"/>
              </a:rPr>
              <a:t>Remaining</a:t>
            </a:r>
          </a:p>
          <a:p>
            <a:pPr algn="ctr">
              <a:defRPr sz="1800" b="1">
                <a:solidFill>
                  <a:srgbClr val="111827"/>
                </a:solidFill>
                <a:latin typeface="Arial"/>
                <a:ea typeface="Arial"/>
                <a:cs typeface="Arial"/>
              </a:defRPr>
            </a:pPr>
            <a:r>
              <a:rPr sz="1800" b="1">
                <a:solidFill>
                  <a:srgbClr val="111827"/>
                </a:solidFill>
                <a:latin typeface="Arial"/>
                <a:ea typeface="Arial"/>
                <a:cs typeface="Arial"/>
              </a:rPr>
              <a:t>backbone</a:t>
            </a:r>
          </a:p>
        </p:txBody>
      </p:sp>
      <p:sp>
        <p:nvSpPr>
          <p:cNvPr id="9" name="Rectangle 8">
            <a:extLst>
              <a:ext uri="{FF2B5EF4-FFF2-40B4-BE49-F238E27FC236}">
                <a16:creationId xmlns:a16="http://schemas.microsoft.com/office/drawing/2014/main" id="{F98D6EEE-00F2-4E60-8E4C-6C84DEA24862}"/>
              </a:ext>
            </a:extLst>
          </p:cNvPr>
          <p:cNvSpPr>
            <a:spLocks noGrp="1"/>
          </p:cNvSpPr>
          <p:nvPr/>
        </p:nvSpPr>
        <p:spPr>
          <a:xfrm>
            <a:off x="9334500" y="4048125"/>
            <a:ext cx="2190750" cy="952500"/>
          </a:xfrm>
          <a:prstGeom prst="rect">
            <a:avLst/>
          </a:prstGeom>
          <a:solidFill>
            <a:srgbClr val="F6F7F9"/>
          </a:solidFill>
          <a:ln w="19050">
            <a:solidFill>
              <a:srgbClr val="D8DFE8"/>
            </a:solidFill>
          </a:ln>
        </p:spPr>
        <p:txBody>
          <a:bodyPr lIns="95250" tIns="95250" rIns="95250" bIns="95250" anchor="ctr"/>
          <a:lstStyle>
            <a:defPPr algn="ctr">
              <a:defRPr sz="1800" b="1">
                <a:solidFill>
                  <a:srgbClr val="111827"/>
                </a:solidFill>
                <a:latin typeface="Arial"/>
                <a:ea typeface="Arial"/>
                <a:cs typeface="Arial"/>
              </a:defRPr>
            </a:defPPr>
            <a:lvl1pPr algn="ctr">
              <a:defRPr sz="1800" b="1">
                <a:solidFill>
                  <a:srgbClr val="111827"/>
                </a:solidFill>
                <a:latin typeface="Arial"/>
                <a:ea typeface="Arial"/>
                <a:cs typeface="Arial"/>
              </a:defRPr>
            </a:lvl1pPr>
            <a:lvl2pPr algn="ctr">
              <a:defRPr sz="1800" b="1">
                <a:solidFill>
                  <a:srgbClr val="111827"/>
                </a:solidFill>
                <a:latin typeface="Arial"/>
                <a:ea typeface="Arial"/>
                <a:cs typeface="Arial"/>
              </a:defRPr>
            </a:lvl2pPr>
            <a:lvl3pPr algn="ctr">
              <a:defRPr sz="1800" b="1">
                <a:solidFill>
                  <a:srgbClr val="111827"/>
                </a:solidFill>
                <a:latin typeface="Arial"/>
                <a:ea typeface="Arial"/>
                <a:cs typeface="Arial"/>
              </a:defRPr>
            </a:lvl3pPr>
            <a:lvl4pPr algn="ctr">
              <a:defRPr sz="1800" b="1">
                <a:solidFill>
                  <a:srgbClr val="111827"/>
                </a:solidFill>
                <a:latin typeface="Arial"/>
                <a:ea typeface="Arial"/>
                <a:cs typeface="Arial"/>
              </a:defRPr>
            </a:lvl4pPr>
            <a:lvl5pPr algn="ctr">
              <a:defRPr sz="1800" b="1">
                <a:solidFill>
                  <a:srgbClr val="111827"/>
                </a:solidFill>
                <a:latin typeface="Arial"/>
                <a:ea typeface="Arial"/>
                <a:cs typeface="Arial"/>
              </a:defRPr>
            </a:lvl5pPr>
            <a:lvl6pPr algn="ctr">
              <a:defRPr sz="1800" b="1">
                <a:solidFill>
                  <a:srgbClr val="111827"/>
                </a:solidFill>
                <a:latin typeface="Arial"/>
                <a:ea typeface="Arial"/>
                <a:cs typeface="Arial"/>
              </a:defRPr>
            </a:lvl6pPr>
            <a:lvl7pPr algn="ctr">
              <a:defRPr sz="1800" b="1">
                <a:solidFill>
                  <a:srgbClr val="111827"/>
                </a:solidFill>
                <a:latin typeface="Arial"/>
                <a:ea typeface="Arial"/>
                <a:cs typeface="Arial"/>
              </a:defRPr>
            </a:lvl7pPr>
            <a:lvl8pPr algn="ctr">
              <a:defRPr sz="1800" b="1">
                <a:solidFill>
                  <a:srgbClr val="111827"/>
                </a:solidFill>
                <a:latin typeface="Arial"/>
                <a:ea typeface="Arial"/>
                <a:cs typeface="Arial"/>
              </a:defRPr>
            </a:lvl8pPr>
            <a:lvl9pPr algn="ctr">
              <a:defRPr sz="1800" b="1">
                <a:solidFill>
                  <a:srgbClr val="111827"/>
                </a:solidFill>
                <a:latin typeface="Arial"/>
                <a:ea typeface="Arial"/>
                <a:cs typeface="Arial"/>
              </a:defRPr>
            </a:lvl9pPr>
          </a:lstStyle>
          <a:p>
            <a:pPr algn="ctr">
              <a:defRPr sz="1800" b="1">
                <a:solidFill>
                  <a:srgbClr val="111827"/>
                </a:solidFill>
                <a:latin typeface="Arial"/>
                <a:ea typeface="Arial"/>
                <a:cs typeface="Arial"/>
              </a:defRPr>
            </a:pPr>
            <a:r>
              <a:rPr sz="1800" b="1">
                <a:solidFill>
                  <a:srgbClr val="111827"/>
                </a:solidFill>
                <a:latin typeface="Arial"/>
                <a:ea typeface="Arial"/>
                <a:cs typeface="Arial"/>
              </a:rPr>
              <a:t>Neck</a:t>
            </a:r>
          </a:p>
          <a:p>
            <a:pPr algn="ctr">
              <a:defRPr sz="1800" b="1">
                <a:solidFill>
                  <a:srgbClr val="111827"/>
                </a:solidFill>
                <a:latin typeface="Arial"/>
                <a:ea typeface="Arial"/>
                <a:cs typeface="Arial"/>
              </a:defRPr>
            </a:pPr>
            <a:r>
              <a:rPr sz="1800" b="1">
                <a:solidFill>
                  <a:srgbClr val="111827"/>
                </a:solidFill>
                <a:latin typeface="Arial"/>
                <a:ea typeface="Arial"/>
                <a:cs typeface="Arial"/>
              </a:rPr>
              <a:t>Feature fusion</a:t>
            </a:r>
          </a:p>
        </p:txBody>
      </p:sp>
      <p:sp>
        <p:nvSpPr>
          <p:cNvPr id="10" name="Rectangle 9">
            <a:extLst>
              <a:ext uri="{FF2B5EF4-FFF2-40B4-BE49-F238E27FC236}">
                <a16:creationId xmlns:a16="http://schemas.microsoft.com/office/drawing/2014/main" id="{1E3661AA-7C6C-4299-B95C-983B59BDB90C}"/>
              </a:ext>
            </a:extLst>
          </p:cNvPr>
          <p:cNvSpPr>
            <a:spLocks noGrp="1"/>
          </p:cNvSpPr>
          <p:nvPr/>
        </p:nvSpPr>
        <p:spPr>
          <a:xfrm>
            <a:off x="5810250" y="4048125"/>
            <a:ext cx="2857500" cy="952500"/>
          </a:xfrm>
          <a:prstGeom prst="rect">
            <a:avLst/>
          </a:prstGeom>
          <a:solidFill>
            <a:srgbClr val="F6F7F9"/>
          </a:solidFill>
          <a:ln w="19050">
            <a:solidFill>
              <a:srgbClr val="D8DFE8"/>
            </a:solidFill>
          </a:ln>
        </p:spPr>
        <p:txBody>
          <a:bodyPr lIns="95250" tIns="95250" rIns="95250" bIns="95250" anchor="ctr"/>
          <a:lstStyle>
            <a:defPPr algn="ctr">
              <a:defRPr sz="1800" b="1">
                <a:solidFill>
                  <a:srgbClr val="111827"/>
                </a:solidFill>
                <a:latin typeface="Arial"/>
                <a:ea typeface="Arial"/>
                <a:cs typeface="Arial"/>
              </a:defRPr>
            </a:defPPr>
            <a:lvl1pPr algn="ctr">
              <a:defRPr sz="1800" b="1">
                <a:solidFill>
                  <a:srgbClr val="111827"/>
                </a:solidFill>
                <a:latin typeface="Arial"/>
                <a:ea typeface="Arial"/>
                <a:cs typeface="Arial"/>
              </a:defRPr>
            </a:lvl1pPr>
            <a:lvl2pPr algn="ctr">
              <a:defRPr sz="1800" b="1">
                <a:solidFill>
                  <a:srgbClr val="111827"/>
                </a:solidFill>
                <a:latin typeface="Arial"/>
                <a:ea typeface="Arial"/>
                <a:cs typeface="Arial"/>
              </a:defRPr>
            </a:lvl2pPr>
            <a:lvl3pPr algn="ctr">
              <a:defRPr sz="1800" b="1">
                <a:solidFill>
                  <a:srgbClr val="111827"/>
                </a:solidFill>
                <a:latin typeface="Arial"/>
                <a:ea typeface="Arial"/>
                <a:cs typeface="Arial"/>
              </a:defRPr>
            </a:lvl3pPr>
            <a:lvl4pPr algn="ctr">
              <a:defRPr sz="1800" b="1">
                <a:solidFill>
                  <a:srgbClr val="111827"/>
                </a:solidFill>
                <a:latin typeface="Arial"/>
                <a:ea typeface="Arial"/>
                <a:cs typeface="Arial"/>
              </a:defRPr>
            </a:lvl4pPr>
            <a:lvl5pPr algn="ctr">
              <a:defRPr sz="1800" b="1">
                <a:solidFill>
                  <a:srgbClr val="111827"/>
                </a:solidFill>
                <a:latin typeface="Arial"/>
                <a:ea typeface="Arial"/>
                <a:cs typeface="Arial"/>
              </a:defRPr>
            </a:lvl5pPr>
            <a:lvl6pPr algn="ctr">
              <a:defRPr sz="1800" b="1">
                <a:solidFill>
                  <a:srgbClr val="111827"/>
                </a:solidFill>
                <a:latin typeface="Arial"/>
                <a:ea typeface="Arial"/>
                <a:cs typeface="Arial"/>
              </a:defRPr>
            </a:lvl6pPr>
            <a:lvl7pPr algn="ctr">
              <a:defRPr sz="1800" b="1">
                <a:solidFill>
                  <a:srgbClr val="111827"/>
                </a:solidFill>
                <a:latin typeface="Arial"/>
                <a:ea typeface="Arial"/>
                <a:cs typeface="Arial"/>
              </a:defRPr>
            </a:lvl7pPr>
            <a:lvl8pPr algn="ctr">
              <a:defRPr sz="1800" b="1">
                <a:solidFill>
                  <a:srgbClr val="111827"/>
                </a:solidFill>
                <a:latin typeface="Arial"/>
                <a:ea typeface="Arial"/>
                <a:cs typeface="Arial"/>
              </a:defRPr>
            </a:lvl8pPr>
            <a:lvl9pPr algn="ctr">
              <a:defRPr sz="1800" b="1">
                <a:solidFill>
                  <a:srgbClr val="111827"/>
                </a:solidFill>
                <a:latin typeface="Arial"/>
                <a:ea typeface="Arial"/>
                <a:cs typeface="Arial"/>
              </a:defRPr>
            </a:lvl9pPr>
          </a:lstStyle>
          <a:p>
            <a:pPr algn="ctr">
              <a:defRPr sz="1800" b="1">
                <a:solidFill>
                  <a:srgbClr val="111827"/>
                </a:solidFill>
                <a:latin typeface="Arial"/>
                <a:ea typeface="Arial"/>
                <a:cs typeface="Arial"/>
              </a:defRPr>
            </a:pPr>
            <a:r>
              <a:rPr sz="1800" b="1">
                <a:solidFill>
                  <a:srgbClr val="111827"/>
                </a:solidFill>
                <a:latin typeface="Arial"/>
                <a:ea typeface="Arial"/>
                <a:cs typeface="Arial"/>
              </a:rPr>
              <a:t>Detection head</a:t>
            </a:r>
          </a:p>
          <a:p>
            <a:pPr algn="ctr">
              <a:defRPr sz="1800" b="1">
                <a:solidFill>
                  <a:srgbClr val="111827"/>
                </a:solidFill>
                <a:latin typeface="Arial"/>
                <a:ea typeface="Arial"/>
                <a:cs typeface="Arial"/>
              </a:defRPr>
            </a:pPr>
            <a:r>
              <a:rPr sz="1800" b="1">
                <a:solidFill>
                  <a:srgbClr val="111827"/>
                </a:solidFill>
                <a:latin typeface="Arial"/>
                <a:ea typeface="Arial"/>
                <a:cs typeface="Arial"/>
              </a:rPr>
              <a:t>Defect boxes and classes</a:t>
            </a:r>
          </a:p>
        </p:txBody>
      </p:sp>
      <p:sp>
        <p:nvSpPr>
          <p:cNvPr id="17" name="Existing stride-16 connection">
            <a:extLst>
              <a:ext uri="{FF2B5EF4-FFF2-40B4-BE49-F238E27FC236}">
                <a16:creationId xmlns:a16="http://schemas.microsoft.com/office/drawing/2014/main" id="{F72CED03-44ED-4302-828C-37E86BED0A00}"/>
              </a:ext>
            </a:extLst>
          </p:cNvPr>
          <p:cNvSpPr>
            <a:spLocks noGrp="1"/>
          </p:cNvSpPr>
          <p:nvPr/>
        </p:nvSpPr>
        <p:spPr>
          <a:xfrm>
            <a:off x="6191250" y="3429000"/>
            <a:ext cx="3095625" cy="304800"/>
          </a:xfrm>
          <a:prstGeom prst="rect">
            <a:avLst/>
          </a:prstGeom>
          <a:noFill/>
          <a:ln w="0">
            <a:noFill/>
          </a:ln>
        </p:spPr>
        <p:txBody>
          <a:bodyPr wrap="square" lIns="0" tIns="0" rIns="0" bIns="0" anchor="t">
            <a:noAutofit/>
          </a:bodyPr>
          <a:lstStyle>
            <a:defPPr>
              <a:defRPr sz="1500" b="0">
                <a:solidFill>
                  <a:srgbClr val="3D8DFF"/>
                </a:solidFill>
                <a:latin typeface="Arial"/>
                <a:ea typeface="Arial"/>
                <a:cs typeface="Arial"/>
              </a:defRPr>
            </a:defPPr>
            <a:lvl1pPr>
              <a:defRPr sz="1500" b="0">
                <a:solidFill>
                  <a:srgbClr val="3D8DFF"/>
                </a:solidFill>
                <a:latin typeface="Arial"/>
                <a:ea typeface="Arial"/>
                <a:cs typeface="Arial"/>
              </a:defRPr>
            </a:lvl1pPr>
            <a:lvl2pPr>
              <a:defRPr sz="1500" b="0">
                <a:solidFill>
                  <a:srgbClr val="3D8DFF"/>
                </a:solidFill>
                <a:latin typeface="Arial"/>
                <a:ea typeface="Arial"/>
                <a:cs typeface="Arial"/>
              </a:defRPr>
            </a:lvl2pPr>
            <a:lvl3pPr>
              <a:defRPr sz="1500" b="0">
                <a:solidFill>
                  <a:srgbClr val="3D8DFF"/>
                </a:solidFill>
                <a:latin typeface="Arial"/>
                <a:ea typeface="Arial"/>
                <a:cs typeface="Arial"/>
              </a:defRPr>
            </a:lvl3pPr>
            <a:lvl4pPr>
              <a:defRPr sz="1500" b="0">
                <a:solidFill>
                  <a:srgbClr val="3D8DFF"/>
                </a:solidFill>
                <a:latin typeface="Arial"/>
                <a:ea typeface="Arial"/>
                <a:cs typeface="Arial"/>
              </a:defRPr>
            </a:lvl4pPr>
            <a:lvl5pPr>
              <a:defRPr sz="1500" b="0">
                <a:solidFill>
                  <a:srgbClr val="3D8DFF"/>
                </a:solidFill>
                <a:latin typeface="Arial"/>
                <a:ea typeface="Arial"/>
                <a:cs typeface="Arial"/>
              </a:defRPr>
            </a:lvl5pPr>
            <a:lvl6pPr>
              <a:defRPr sz="1500" b="0">
                <a:solidFill>
                  <a:srgbClr val="3D8DFF"/>
                </a:solidFill>
                <a:latin typeface="Arial"/>
                <a:ea typeface="Arial"/>
                <a:cs typeface="Arial"/>
              </a:defRPr>
            </a:lvl6pPr>
            <a:lvl7pPr>
              <a:defRPr sz="1500" b="0">
                <a:solidFill>
                  <a:srgbClr val="3D8DFF"/>
                </a:solidFill>
                <a:latin typeface="Arial"/>
                <a:ea typeface="Arial"/>
                <a:cs typeface="Arial"/>
              </a:defRPr>
            </a:lvl7pPr>
            <a:lvl8pPr>
              <a:defRPr sz="1500" b="0">
                <a:solidFill>
                  <a:srgbClr val="3D8DFF"/>
                </a:solidFill>
                <a:latin typeface="Arial"/>
                <a:ea typeface="Arial"/>
                <a:cs typeface="Arial"/>
              </a:defRPr>
            </a:lvl8pPr>
            <a:lvl9pPr>
              <a:defRPr sz="1500" b="0">
                <a:solidFill>
                  <a:srgbClr val="3D8DFF"/>
                </a:solidFill>
                <a:latin typeface="Arial"/>
                <a:ea typeface="Arial"/>
                <a:cs typeface="Arial"/>
              </a:defRPr>
            </a:lvl9pPr>
          </a:lstStyle>
          <a:p>
            <a:pPr>
              <a:defRPr sz="1500" b="0">
                <a:solidFill>
                  <a:srgbClr val="3D8DFF"/>
                </a:solidFill>
                <a:latin typeface="Arial"/>
                <a:ea typeface="Arial"/>
                <a:cs typeface="Arial"/>
              </a:defRPr>
            </a:pPr>
            <a:r>
              <a:rPr sz="1500" b="0">
                <a:solidFill>
                  <a:srgbClr val="3D8DFF"/>
                </a:solidFill>
                <a:latin typeface="Arial"/>
                <a:ea typeface="Arial"/>
                <a:cs typeface="Arial"/>
              </a:rPr>
              <a:t>Existing stride-16 connection</a:t>
            </a:r>
          </a:p>
        </p:txBody>
      </p:sp>
      <p:sp>
        <p:nvSpPr>
          <p:cNvPr id="18" name="128 channels&#10;40 x 40 feature map">
            <a:extLst>
              <a:ext uri="{FF2B5EF4-FFF2-40B4-BE49-F238E27FC236}">
                <a16:creationId xmlns:a16="http://schemas.microsoft.com/office/drawing/2014/main" id="{E0A8F86F-10CC-4664-8277-A52C4F7B9C4A}"/>
              </a:ext>
            </a:extLst>
          </p:cNvPr>
          <p:cNvSpPr>
            <a:spLocks noGrp="1"/>
          </p:cNvSpPr>
          <p:nvPr/>
        </p:nvSpPr>
        <p:spPr>
          <a:xfrm>
            <a:off x="3048000" y="3286125"/>
            <a:ext cx="2667000" cy="666750"/>
          </a:xfrm>
          <a:prstGeom prst="rect">
            <a:avLst/>
          </a:prstGeom>
          <a:noFill/>
          <a:ln w="0">
            <a:noFill/>
          </a:ln>
        </p:spPr>
        <p:txBody>
          <a:bodyPr wrap="square" lIns="0" tIns="0" rIns="0" bIns="0" anchor="t">
            <a:noAutofit/>
          </a:bodyPr>
          <a:lstStyle>
            <a:defPPr>
              <a:defRPr sz="1725" b="0">
                <a:solidFill>
                  <a:srgbClr val="5B6472"/>
                </a:solidFill>
                <a:latin typeface="Arial"/>
                <a:ea typeface="Arial"/>
                <a:cs typeface="Arial"/>
              </a:defRPr>
            </a:defPPr>
            <a:lvl1pPr>
              <a:defRPr sz="1725" b="0">
                <a:solidFill>
                  <a:srgbClr val="5B6472"/>
                </a:solidFill>
                <a:latin typeface="Arial"/>
                <a:ea typeface="Arial"/>
                <a:cs typeface="Arial"/>
              </a:defRPr>
            </a:lvl1pPr>
            <a:lvl2pPr>
              <a:defRPr sz="1725" b="0">
                <a:solidFill>
                  <a:srgbClr val="5B6472"/>
                </a:solidFill>
                <a:latin typeface="Arial"/>
                <a:ea typeface="Arial"/>
                <a:cs typeface="Arial"/>
              </a:defRPr>
            </a:lvl2pPr>
            <a:lvl3pPr>
              <a:defRPr sz="1725" b="0">
                <a:solidFill>
                  <a:srgbClr val="5B6472"/>
                </a:solidFill>
                <a:latin typeface="Arial"/>
                <a:ea typeface="Arial"/>
                <a:cs typeface="Arial"/>
              </a:defRPr>
            </a:lvl3pPr>
            <a:lvl4pPr>
              <a:defRPr sz="1725" b="0">
                <a:solidFill>
                  <a:srgbClr val="5B6472"/>
                </a:solidFill>
                <a:latin typeface="Arial"/>
                <a:ea typeface="Arial"/>
                <a:cs typeface="Arial"/>
              </a:defRPr>
            </a:lvl4pPr>
            <a:lvl5pPr>
              <a:defRPr sz="1725" b="0">
                <a:solidFill>
                  <a:srgbClr val="5B6472"/>
                </a:solidFill>
                <a:latin typeface="Arial"/>
                <a:ea typeface="Arial"/>
                <a:cs typeface="Arial"/>
              </a:defRPr>
            </a:lvl5pPr>
            <a:lvl6pPr>
              <a:defRPr sz="1725" b="0">
                <a:solidFill>
                  <a:srgbClr val="5B6472"/>
                </a:solidFill>
                <a:latin typeface="Arial"/>
                <a:ea typeface="Arial"/>
                <a:cs typeface="Arial"/>
              </a:defRPr>
            </a:lvl6pPr>
            <a:lvl7pPr>
              <a:defRPr sz="1725" b="0">
                <a:solidFill>
                  <a:srgbClr val="5B6472"/>
                </a:solidFill>
                <a:latin typeface="Arial"/>
                <a:ea typeface="Arial"/>
                <a:cs typeface="Arial"/>
              </a:defRPr>
            </a:lvl7pPr>
            <a:lvl8pPr>
              <a:defRPr sz="1725" b="0">
                <a:solidFill>
                  <a:srgbClr val="5B6472"/>
                </a:solidFill>
                <a:latin typeface="Arial"/>
                <a:ea typeface="Arial"/>
                <a:cs typeface="Arial"/>
              </a:defRPr>
            </a:lvl8pPr>
            <a:lvl9pPr>
              <a:defRPr sz="1725" b="0">
                <a:solidFill>
                  <a:srgbClr val="5B6472"/>
                </a:solidFill>
                <a:latin typeface="Arial"/>
                <a:ea typeface="Arial"/>
                <a:cs typeface="Arial"/>
              </a:defRPr>
            </a:lvl9pPr>
          </a:lstStyle>
          <a:p>
            <a:pPr>
              <a:defRPr sz="1725" b="0">
                <a:solidFill>
                  <a:srgbClr val="5B6472"/>
                </a:solidFill>
                <a:latin typeface="Arial"/>
                <a:ea typeface="Arial"/>
                <a:cs typeface="Arial"/>
              </a:defRPr>
            </a:pPr>
            <a:r>
              <a:rPr sz="1725" b="0">
                <a:solidFill>
                  <a:srgbClr val="5B6472"/>
                </a:solidFill>
                <a:latin typeface="Arial"/>
                <a:ea typeface="Arial"/>
                <a:cs typeface="Arial"/>
              </a:rPr>
              <a:t>128 channels</a:t>
            </a:r>
          </a:p>
          <a:p>
            <a:pPr>
              <a:defRPr sz="1725" b="0">
                <a:solidFill>
                  <a:srgbClr val="5B6472"/>
                </a:solidFill>
                <a:latin typeface="Arial"/>
                <a:ea typeface="Arial"/>
                <a:cs typeface="Arial"/>
              </a:defRPr>
            </a:pPr>
            <a:r>
              <a:rPr sz="1725" b="0">
                <a:solidFill>
                  <a:srgbClr val="5B6472"/>
                </a:solidFill>
                <a:latin typeface="Arial"/>
                <a:ea typeface="Arial"/>
                <a:cs typeface="Arial"/>
              </a:rPr>
              <a:t>40 x 40 feature map</a:t>
            </a:r>
          </a:p>
        </p:txBody>
      </p:sp>
      <p:sp>
        <p:nvSpPr>
          <p:cNvPr id="19" name="Simplified path; other multiscale connec">
            <a:extLst>
              <a:ext uri="{FF2B5EF4-FFF2-40B4-BE49-F238E27FC236}">
                <a16:creationId xmlns:a16="http://schemas.microsoft.com/office/drawing/2014/main" id="{4F85CE6C-C060-4782-98E8-1FFDFD50DA17}"/>
              </a:ext>
            </a:extLst>
          </p:cNvPr>
          <p:cNvSpPr>
            <a:spLocks noGrp="1"/>
          </p:cNvSpPr>
          <p:nvPr/>
        </p:nvSpPr>
        <p:spPr>
          <a:xfrm>
            <a:off x="609600" y="4524375"/>
            <a:ext cx="4572000" cy="571500"/>
          </a:xfrm>
          <a:prstGeom prst="rect">
            <a:avLst/>
          </a:prstGeom>
          <a:noFill/>
          <a:ln w="0">
            <a:noFill/>
          </a:ln>
        </p:spPr>
        <p:txBody>
          <a:bodyPr wrap="square" lIns="0" tIns="0" rIns="0" bIns="0" anchor="t">
            <a:noAutofit/>
          </a:bodyPr>
          <a:lstStyle>
            <a:defPPr>
              <a:defRPr sz="1500" b="0">
                <a:solidFill>
                  <a:srgbClr val="5B6472"/>
                </a:solidFill>
                <a:latin typeface="Arial"/>
                <a:ea typeface="Arial"/>
                <a:cs typeface="Arial"/>
              </a:defRPr>
            </a:defPPr>
            <a:lvl1pPr>
              <a:defRPr sz="1500" b="0">
                <a:solidFill>
                  <a:srgbClr val="5B6472"/>
                </a:solidFill>
                <a:latin typeface="Arial"/>
                <a:ea typeface="Arial"/>
                <a:cs typeface="Arial"/>
              </a:defRPr>
            </a:lvl1pPr>
            <a:lvl2pPr>
              <a:defRPr sz="1500" b="0">
                <a:solidFill>
                  <a:srgbClr val="5B6472"/>
                </a:solidFill>
                <a:latin typeface="Arial"/>
                <a:ea typeface="Arial"/>
                <a:cs typeface="Arial"/>
              </a:defRPr>
            </a:lvl2pPr>
            <a:lvl3pPr>
              <a:defRPr sz="1500" b="0">
                <a:solidFill>
                  <a:srgbClr val="5B6472"/>
                </a:solidFill>
                <a:latin typeface="Arial"/>
                <a:ea typeface="Arial"/>
                <a:cs typeface="Arial"/>
              </a:defRPr>
            </a:lvl3pPr>
            <a:lvl4pPr>
              <a:defRPr sz="1500" b="0">
                <a:solidFill>
                  <a:srgbClr val="5B6472"/>
                </a:solidFill>
                <a:latin typeface="Arial"/>
                <a:ea typeface="Arial"/>
                <a:cs typeface="Arial"/>
              </a:defRPr>
            </a:lvl4pPr>
            <a:lvl5pPr>
              <a:defRPr sz="1500" b="0">
                <a:solidFill>
                  <a:srgbClr val="5B6472"/>
                </a:solidFill>
                <a:latin typeface="Arial"/>
                <a:ea typeface="Arial"/>
                <a:cs typeface="Arial"/>
              </a:defRPr>
            </a:lvl5pPr>
            <a:lvl6pPr>
              <a:defRPr sz="1500" b="0">
                <a:solidFill>
                  <a:srgbClr val="5B6472"/>
                </a:solidFill>
                <a:latin typeface="Arial"/>
                <a:ea typeface="Arial"/>
                <a:cs typeface="Arial"/>
              </a:defRPr>
            </a:lvl6pPr>
            <a:lvl7pPr>
              <a:defRPr sz="1500" b="0">
                <a:solidFill>
                  <a:srgbClr val="5B6472"/>
                </a:solidFill>
                <a:latin typeface="Arial"/>
                <a:ea typeface="Arial"/>
                <a:cs typeface="Arial"/>
              </a:defRPr>
            </a:lvl7pPr>
            <a:lvl8pPr>
              <a:defRPr sz="1500" b="0">
                <a:solidFill>
                  <a:srgbClr val="5B6472"/>
                </a:solidFill>
                <a:latin typeface="Arial"/>
                <a:ea typeface="Arial"/>
                <a:cs typeface="Arial"/>
              </a:defRPr>
            </a:lvl8pPr>
            <a:lvl9pPr>
              <a:defRPr sz="1500" b="0">
                <a:solidFill>
                  <a:srgbClr val="5B6472"/>
                </a:solidFill>
                <a:latin typeface="Arial"/>
                <a:ea typeface="Arial"/>
                <a:cs typeface="Arial"/>
              </a:defRPr>
            </a:lvl9pPr>
          </a:lstStyle>
          <a:p>
            <a:pPr>
              <a:defRPr sz="1500" b="0">
                <a:solidFill>
                  <a:srgbClr val="5B6472"/>
                </a:solidFill>
                <a:latin typeface="Arial"/>
                <a:ea typeface="Arial"/>
                <a:cs typeface="Arial"/>
              </a:defRPr>
            </a:pPr>
            <a:r>
              <a:rPr sz="1500" b="0">
                <a:solidFill>
                  <a:srgbClr val="5B6472"/>
                </a:solidFill>
                <a:latin typeface="Arial"/>
                <a:ea typeface="Arial"/>
                <a:cs typeface="Arial"/>
              </a:rPr>
              <a:t>Simplified path; other multiscale connections omitted</a:t>
            </a:r>
          </a:p>
        </p:txBody>
      </p:sp>
      <p:sp>
        <p:nvSpPr>
          <p:cNvPr id="20" name="Same COCO starting weights and unchanged">
            <a:extLst>
              <a:ext uri="{FF2B5EF4-FFF2-40B4-BE49-F238E27FC236}">
                <a16:creationId xmlns:a16="http://schemas.microsoft.com/office/drawing/2014/main" id="{AF001CF6-0284-484D-905E-95CAB79470E6}"/>
              </a:ext>
            </a:extLst>
          </p:cNvPr>
          <p:cNvSpPr>
            <a:spLocks noGrp="1"/>
          </p:cNvSpPr>
          <p:nvPr/>
        </p:nvSpPr>
        <p:spPr>
          <a:xfrm>
            <a:off x="609600" y="5381625"/>
            <a:ext cx="10953750" cy="523875"/>
          </a:xfrm>
          <a:prstGeom prst="rect">
            <a:avLst/>
          </a:prstGeom>
          <a:noFill/>
          <a:ln w="0">
            <a:noFill/>
          </a:ln>
        </p:spPr>
        <p:txBody>
          <a:bodyPr wrap="square" lIns="0" tIns="0" rIns="0" bIns="0" anchor="t">
            <a:noAutofit/>
          </a:bodyPr>
          <a:lstStyle>
            <a:defPPr>
              <a:defRPr sz="2175" b="1">
                <a:solidFill>
                  <a:srgbClr val="3D8DFF"/>
                </a:solidFill>
                <a:latin typeface="Arial"/>
                <a:ea typeface="Arial"/>
                <a:cs typeface="Arial"/>
              </a:defRPr>
            </a:defPPr>
            <a:lvl1pPr>
              <a:defRPr sz="2175" b="1">
                <a:solidFill>
                  <a:srgbClr val="3D8DFF"/>
                </a:solidFill>
                <a:latin typeface="Arial"/>
                <a:ea typeface="Arial"/>
                <a:cs typeface="Arial"/>
              </a:defRPr>
            </a:lvl1pPr>
            <a:lvl2pPr>
              <a:defRPr sz="2175" b="1">
                <a:solidFill>
                  <a:srgbClr val="3D8DFF"/>
                </a:solidFill>
                <a:latin typeface="Arial"/>
                <a:ea typeface="Arial"/>
                <a:cs typeface="Arial"/>
              </a:defRPr>
            </a:lvl2pPr>
            <a:lvl3pPr>
              <a:defRPr sz="2175" b="1">
                <a:solidFill>
                  <a:srgbClr val="3D8DFF"/>
                </a:solidFill>
                <a:latin typeface="Arial"/>
                <a:ea typeface="Arial"/>
                <a:cs typeface="Arial"/>
              </a:defRPr>
            </a:lvl3pPr>
            <a:lvl4pPr>
              <a:defRPr sz="2175" b="1">
                <a:solidFill>
                  <a:srgbClr val="3D8DFF"/>
                </a:solidFill>
                <a:latin typeface="Arial"/>
                <a:ea typeface="Arial"/>
                <a:cs typeface="Arial"/>
              </a:defRPr>
            </a:lvl4pPr>
            <a:lvl5pPr>
              <a:defRPr sz="2175" b="1">
                <a:solidFill>
                  <a:srgbClr val="3D8DFF"/>
                </a:solidFill>
                <a:latin typeface="Arial"/>
                <a:ea typeface="Arial"/>
                <a:cs typeface="Arial"/>
              </a:defRPr>
            </a:lvl5pPr>
            <a:lvl6pPr>
              <a:defRPr sz="2175" b="1">
                <a:solidFill>
                  <a:srgbClr val="3D8DFF"/>
                </a:solidFill>
                <a:latin typeface="Arial"/>
                <a:ea typeface="Arial"/>
                <a:cs typeface="Arial"/>
              </a:defRPr>
            </a:lvl6pPr>
            <a:lvl7pPr>
              <a:defRPr sz="2175" b="1">
                <a:solidFill>
                  <a:srgbClr val="3D8DFF"/>
                </a:solidFill>
                <a:latin typeface="Arial"/>
                <a:ea typeface="Arial"/>
                <a:cs typeface="Arial"/>
              </a:defRPr>
            </a:lvl7pPr>
            <a:lvl8pPr>
              <a:defRPr sz="2175" b="1">
                <a:solidFill>
                  <a:srgbClr val="3D8DFF"/>
                </a:solidFill>
                <a:latin typeface="Arial"/>
                <a:ea typeface="Arial"/>
                <a:cs typeface="Arial"/>
              </a:defRPr>
            </a:lvl8pPr>
            <a:lvl9pPr>
              <a:defRPr sz="2175" b="1">
                <a:solidFill>
                  <a:srgbClr val="3D8DFF"/>
                </a:solidFill>
                <a:latin typeface="Arial"/>
                <a:ea typeface="Arial"/>
                <a:cs typeface="Arial"/>
              </a:defRPr>
            </a:lvl9pPr>
          </a:lstStyle>
          <a:p>
            <a:pPr>
              <a:defRPr sz="2175" b="1">
                <a:solidFill>
                  <a:srgbClr val="3D8DFF"/>
                </a:solidFill>
                <a:latin typeface="Arial"/>
                <a:ea typeface="Arial"/>
                <a:cs typeface="Arial"/>
              </a:defRPr>
            </a:pPr>
            <a:r>
              <a:rPr sz="2175" b="1">
                <a:solidFill>
                  <a:srgbClr val="3D8DFF"/>
                </a:solidFill>
                <a:latin typeface="Arial"/>
                <a:ea typeface="Arial"/>
                <a:cs typeface="Arial"/>
              </a:rPr>
              <a:t>Same COCO starting weights and unchanged detection head</a:t>
            </a:r>
          </a:p>
        </p:txBody>
      </p:sp>
      <p:sp>
        <p:nvSpPr>
          <p:cNvPr id="21" name="The study tests one placement, not the o">
            <a:extLst>
              <a:ext uri="{FF2B5EF4-FFF2-40B4-BE49-F238E27FC236}">
                <a16:creationId xmlns:a16="http://schemas.microsoft.com/office/drawing/2014/main" id="{E227A188-2E5F-4E77-A78C-2FCB85A3DE53}"/>
              </a:ext>
            </a:extLst>
          </p:cNvPr>
          <p:cNvSpPr>
            <a:spLocks noGrp="1"/>
          </p:cNvSpPr>
          <p:nvPr/>
        </p:nvSpPr>
        <p:spPr>
          <a:xfrm>
            <a:off x="609600" y="5953125"/>
            <a:ext cx="10858500" cy="257175"/>
          </a:xfrm>
          <a:prstGeom prst="rect">
            <a:avLst/>
          </a:prstGeom>
          <a:noFill/>
          <a:ln w="0">
            <a:noFill/>
          </a:ln>
        </p:spPr>
        <p:txBody>
          <a:bodyPr wrap="square" lIns="0" tIns="0" rIns="0" bIns="0" anchor="t">
            <a:noAutofit/>
          </a:bodyPr>
          <a:lstStyle>
            <a:defPPr>
              <a:defRPr sz="1575" b="0">
                <a:solidFill>
                  <a:srgbClr val="5B6472"/>
                </a:solidFill>
                <a:latin typeface="Arial"/>
                <a:ea typeface="Arial"/>
                <a:cs typeface="Arial"/>
              </a:defRPr>
            </a:defPPr>
            <a:lvl1pPr>
              <a:defRPr sz="1575" b="0">
                <a:solidFill>
                  <a:srgbClr val="5B6472"/>
                </a:solidFill>
                <a:latin typeface="Arial"/>
                <a:ea typeface="Arial"/>
                <a:cs typeface="Arial"/>
              </a:defRPr>
            </a:lvl1pPr>
            <a:lvl2pPr>
              <a:defRPr sz="1575" b="0">
                <a:solidFill>
                  <a:srgbClr val="5B6472"/>
                </a:solidFill>
                <a:latin typeface="Arial"/>
                <a:ea typeface="Arial"/>
                <a:cs typeface="Arial"/>
              </a:defRPr>
            </a:lvl2pPr>
            <a:lvl3pPr>
              <a:defRPr sz="1575" b="0">
                <a:solidFill>
                  <a:srgbClr val="5B6472"/>
                </a:solidFill>
                <a:latin typeface="Arial"/>
                <a:ea typeface="Arial"/>
                <a:cs typeface="Arial"/>
              </a:defRPr>
            </a:lvl3pPr>
            <a:lvl4pPr>
              <a:defRPr sz="1575" b="0">
                <a:solidFill>
                  <a:srgbClr val="5B6472"/>
                </a:solidFill>
                <a:latin typeface="Arial"/>
                <a:ea typeface="Arial"/>
                <a:cs typeface="Arial"/>
              </a:defRPr>
            </a:lvl4pPr>
            <a:lvl5pPr>
              <a:defRPr sz="1575" b="0">
                <a:solidFill>
                  <a:srgbClr val="5B6472"/>
                </a:solidFill>
                <a:latin typeface="Arial"/>
                <a:ea typeface="Arial"/>
                <a:cs typeface="Arial"/>
              </a:defRPr>
            </a:lvl5pPr>
            <a:lvl6pPr>
              <a:defRPr sz="1575" b="0">
                <a:solidFill>
                  <a:srgbClr val="5B6472"/>
                </a:solidFill>
                <a:latin typeface="Arial"/>
                <a:ea typeface="Arial"/>
                <a:cs typeface="Arial"/>
              </a:defRPr>
            </a:lvl6pPr>
            <a:lvl7pPr>
              <a:defRPr sz="1575" b="0">
                <a:solidFill>
                  <a:srgbClr val="5B6472"/>
                </a:solidFill>
                <a:latin typeface="Arial"/>
                <a:ea typeface="Arial"/>
                <a:cs typeface="Arial"/>
              </a:defRPr>
            </a:lvl7pPr>
            <a:lvl8pPr>
              <a:defRPr sz="1575" b="0">
                <a:solidFill>
                  <a:srgbClr val="5B6472"/>
                </a:solidFill>
                <a:latin typeface="Arial"/>
                <a:ea typeface="Arial"/>
                <a:cs typeface="Arial"/>
              </a:defRPr>
            </a:lvl8pPr>
            <a:lvl9pPr>
              <a:defRPr sz="1575" b="0">
                <a:solidFill>
                  <a:srgbClr val="5B6472"/>
                </a:solidFill>
                <a:latin typeface="Arial"/>
                <a:ea typeface="Arial"/>
                <a:cs typeface="Arial"/>
              </a:defRPr>
            </a:lvl9pPr>
          </a:lstStyle>
          <a:p>
            <a:pPr>
              <a:defRPr sz="1575" b="0">
                <a:solidFill>
                  <a:srgbClr val="5B6472"/>
                </a:solidFill>
                <a:latin typeface="Arial"/>
                <a:ea typeface="Arial"/>
                <a:cs typeface="Arial"/>
              </a:defRPr>
            </a:pPr>
            <a:r>
              <a:rPr sz="1575" b="0">
                <a:solidFill>
                  <a:srgbClr val="5B6472"/>
                </a:solidFill>
                <a:latin typeface="Arial"/>
                <a:ea typeface="Arial"/>
                <a:cs typeface="Arial"/>
              </a:rPr>
              <a:t>The study tests one placement, not the optimal placement.</a:t>
            </a:r>
          </a:p>
        </p:txBody>
      </p:sp>
    </p:spTree>
    <p:extLst>
      <p:ext uri="{BB962C8B-B14F-4D97-AF65-F5344CB8AC3E}">
        <p14:creationId xmlns:p14="http://schemas.microsoft.com/office/powerpoint/2010/main" val="407251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APPLE DEFECT DETECTION">
            <a:extLst>
              <a:ext uri="{FF2B5EF4-FFF2-40B4-BE49-F238E27FC236}">
                <a16:creationId xmlns:a16="http://schemas.microsoft.com/office/drawing/2014/main" id="{839DEEB4-8F95-4195-9C19-09C776B30E7D}"/>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A matched evaluation across 12 training ">
            <a:extLst>
              <a:ext uri="{FF2B5EF4-FFF2-40B4-BE49-F238E27FC236}">
                <a16:creationId xmlns:a16="http://schemas.microsoft.com/office/drawing/2014/main" id="{BB52734A-48E5-447C-8346-7DC9578D8B5C}"/>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A matched evaluation across 12 training runs</a:t>
            </a:r>
          </a:p>
        </p:txBody>
      </p:sp>
      <p:sp>
        <p:nvSpPr>
          <p:cNvPr id="3" name="Ved Waghela">
            <a:extLst>
              <a:ext uri="{FF2B5EF4-FFF2-40B4-BE49-F238E27FC236}">
                <a16:creationId xmlns:a16="http://schemas.microsoft.com/office/drawing/2014/main" id="{D7E76C33-A55E-4DFD-B47C-5BF29E3FE070}"/>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Ved Waghela</a:t>
            </a:r>
          </a:p>
        </p:txBody>
      </p:sp>
      <p:sp>
        <p:nvSpPr>
          <p:cNvPr id="4" name="6">
            <a:extLst>
              <a:ext uri="{FF2B5EF4-FFF2-40B4-BE49-F238E27FC236}">
                <a16:creationId xmlns:a16="http://schemas.microsoft.com/office/drawing/2014/main" id="{127854A3-B218-46EC-BA46-6F4D4316CE08}"/>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6</a:t>
            </a:r>
          </a:p>
        </p:txBody>
      </p:sp>
      <p:sp>
        <p:nvSpPr>
          <p:cNvPr id="5" name="710 images">
            <a:extLst>
              <a:ext uri="{FF2B5EF4-FFF2-40B4-BE49-F238E27FC236}">
                <a16:creationId xmlns:a16="http://schemas.microsoft.com/office/drawing/2014/main" id="{3C0BFB34-0A5B-45DF-A4DF-C7E8480D5596}"/>
              </a:ext>
            </a:extLst>
          </p:cNvPr>
          <p:cNvSpPr>
            <a:spLocks noGrp="1"/>
          </p:cNvSpPr>
          <p:nvPr/>
        </p:nvSpPr>
        <p:spPr>
          <a:xfrm>
            <a:off x="609600" y="1809750"/>
            <a:ext cx="4762500" cy="666750"/>
          </a:xfrm>
          <a:prstGeom prst="rect">
            <a:avLst/>
          </a:prstGeom>
          <a:noFill/>
          <a:ln w="0">
            <a:noFill/>
          </a:ln>
        </p:spPr>
        <p:txBody>
          <a:bodyPr wrap="square" lIns="0" tIns="0" rIns="0" bIns="0" anchor="t">
            <a:noAutofit/>
          </a:bodyPr>
          <a:lstStyle>
            <a:defPPr>
              <a:defRPr sz="3900" b="1">
                <a:solidFill>
                  <a:srgbClr val="3D8DFF"/>
                </a:solidFill>
                <a:latin typeface="Arial"/>
                <a:ea typeface="Arial"/>
                <a:cs typeface="Arial"/>
              </a:defRPr>
            </a:defPPr>
            <a:lvl1pPr>
              <a:defRPr sz="3900" b="1">
                <a:solidFill>
                  <a:srgbClr val="3D8DFF"/>
                </a:solidFill>
                <a:latin typeface="Arial"/>
                <a:ea typeface="Arial"/>
                <a:cs typeface="Arial"/>
              </a:defRPr>
            </a:lvl1pPr>
            <a:lvl2pPr>
              <a:defRPr sz="3900" b="1">
                <a:solidFill>
                  <a:srgbClr val="3D8DFF"/>
                </a:solidFill>
                <a:latin typeface="Arial"/>
                <a:ea typeface="Arial"/>
                <a:cs typeface="Arial"/>
              </a:defRPr>
            </a:lvl2pPr>
            <a:lvl3pPr>
              <a:defRPr sz="3900" b="1">
                <a:solidFill>
                  <a:srgbClr val="3D8DFF"/>
                </a:solidFill>
                <a:latin typeface="Arial"/>
                <a:ea typeface="Arial"/>
                <a:cs typeface="Arial"/>
              </a:defRPr>
            </a:lvl3pPr>
            <a:lvl4pPr>
              <a:defRPr sz="3900" b="1">
                <a:solidFill>
                  <a:srgbClr val="3D8DFF"/>
                </a:solidFill>
                <a:latin typeface="Arial"/>
                <a:ea typeface="Arial"/>
                <a:cs typeface="Arial"/>
              </a:defRPr>
            </a:lvl4pPr>
            <a:lvl5pPr>
              <a:defRPr sz="3900" b="1">
                <a:solidFill>
                  <a:srgbClr val="3D8DFF"/>
                </a:solidFill>
                <a:latin typeface="Arial"/>
                <a:ea typeface="Arial"/>
                <a:cs typeface="Arial"/>
              </a:defRPr>
            </a:lvl5pPr>
            <a:lvl6pPr>
              <a:defRPr sz="3900" b="1">
                <a:solidFill>
                  <a:srgbClr val="3D8DFF"/>
                </a:solidFill>
                <a:latin typeface="Arial"/>
                <a:ea typeface="Arial"/>
                <a:cs typeface="Arial"/>
              </a:defRPr>
            </a:lvl6pPr>
            <a:lvl7pPr>
              <a:defRPr sz="3900" b="1">
                <a:solidFill>
                  <a:srgbClr val="3D8DFF"/>
                </a:solidFill>
                <a:latin typeface="Arial"/>
                <a:ea typeface="Arial"/>
                <a:cs typeface="Arial"/>
              </a:defRPr>
            </a:lvl7pPr>
            <a:lvl8pPr>
              <a:defRPr sz="3900" b="1">
                <a:solidFill>
                  <a:srgbClr val="3D8DFF"/>
                </a:solidFill>
                <a:latin typeface="Arial"/>
                <a:ea typeface="Arial"/>
                <a:cs typeface="Arial"/>
              </a:defRPr>
            </a:lvl8pPr>
            <a:lvl9pPr>
              <a:defRPr sz="3900" b="1">
                <a:solidFill>
                  <a:srgbClr val="3D8DFF"/>
                </a:solidFill>
                <a:latin typeface="Arial"/>
                <a:ea typeface="Arial"/>
                <a:cs typeface="Arial"/>
              </a:defRPr>
            </a:lvl9pPr>
          </a:lstStyle>
          <a:p>
            <a:pPr>
              <a:defRPr sz="3900" b="1">
                <a:solidFill>
                  <a:srgbClr val="3D8DFF"/>
                </a:solidFill>
                <a:latin typeface="Arial"/>
                <a:ea typeface="Arial"/>
                <a:cs typeface="Arial"/>
              </a:defRPr>
            </a:pPr>
            <a:r>
              <a:rPr sz="3900" b="1">
                <a:solidFill>
                  <a:srgbClr val="3D8DFF"/>
                </a:solidFill>
                <a:latin typeface="Arial"/>
                <a:ea typeface="Arial"/>
                <a:cs typeface="Arial"/>
              </a:rPr>
              <a:t>710 images</a:t>
            </a:r>
          </a:p>
        </p:txBody>
      </p:sp>
      <p:sp>
        <p:nvSpPr>
          <p:cNvPr id="6" name="1,512 defect boxes&#10;Scratch and pest dama">
            <a:extLst>
              <a:ext uri="{FF2B5EF4-FFF2-40B4-BE49-F238E27FC236}">
                <a16:creationId xmlns:a16="http://schemas.microsoft.com/office/drawing/2014/main" id="{29DC9DCE-7759-4281-B089-B53DCF7B8ED2}"/>
              </a:ext>
            </a:extLst>
          </p:cNvPr>
          <p:cNvSpPr>
            <a:spLocks noGrp="1"/>
          </p:cNvSpPr>
          <p:nvPr/>
        </p:nvSpPr>
        <p:spPr>
          <a:xfrm>
            <a:off x="609600" y="2667000"/>
            <a:ext cx="4762500" cy="904875"/>
          </a:xfrm>
          <a:prstGeom prst="rect">
            <a:avLst/>
          </a:prstGeom>
          <a:noFill/>
          <a:ln w="0">
            <a:noFill/>
          </a:ln>
        </p:spPr>
        <p:txBody>
          <a:bodyPr wrap="square" lIns="0" tIns="0" rIns="0" bIns="0" anchor="t">
            <a:noAutofit/>
          </a:bodyPr>
          <a:lstStyle>
            <a:defPPr>
              <a:defRPr sz="2100" b="0">
                <a:solidFill>
                  <a:srgbClr val="5B6472"/>
                </a:solidFill>
                <a:latin typeface="Arial"/>
                <a:ea typeface="Arial"/>
                <a:cs typeface="Arial"/>
              </a:defRPr>
            </a:defPPr>
            <a:lvl1pPr>
              <a:defRPr sz="2100" b="0">
                <a:solidFill>
                  <a:srgbClr val="5B6472"/>
                </a:solidFill>
                <a:latin typeface="Arial"/>
                <a:ea typeface="Arial"/>
                <a:cs typeface="Arial"/>
              </a:defRPr>
            </a:lvl1pPr>
            <a:lvl2pPr>
              <a:defRPr sz="2100" b="0">
                <a:solidFill>
                  <a:srgbClr val="5B6472"/>
                </a:solidFill>
                <a:latin typeface="Arial"/>
                <a:ea typeface="Arial"/>
                <a:cs typeface="Arial"/>
              </a:defRPr>
            </a:lvl2pPr>
            <a:lvl3pPr>
              <a:defRPr sz="2100" b="0">
                <a:solidFill>
                  <a:srgbClr val="5B6472"/>
                </a:solidFill>
                <a:latin typeface="Arial"/>
                <a:ea typeface="Arial"/>
                <a:cs typeface="Arial"/>
              </a:defRPr>
            </a:lvl3pPr>
            <a:lvl4pPr>
              <a:defRPr sz="2100" b="0">
                <a:solidFill>
                  <a:srgbClr val="5B6472"/>
                </a:solidFill>
                <a:latin typeface="Arial"/>
                <a:ea typeface="Arial"/>
                <a:cs typeface="Arial"/>
              </a:defRPr>
            </a:lvl4pPr>
            <a:lvl5pPr>
              <a:defRPr sz="2100" b="0">
                <a:solidFill>
                  <a:srgbClr val="5B6472"/>
                </a:solidFill>
                <a:latin typeface="Arial"/>
                <a:ea typeface="Arial"/>
                <a:cs typeface="Arial"/>
              </a:defRPr>
            </a:lvl5pPr>
            <a:lvl6pPr>
              <a:defRPr sz="2100" b="0">
                <a:solidFill>
                  <a:srgbClr val="5B6472"/>
                </a:solidFill>
                <a:latin typeface="Arial"/>
                <a:ea typeface="Arial"/>
                <a:cs typeface="Arial"/>
              </a:defRPr>
            </a:lvl6pPr>
            <a:lvl7pPr>
              <a:defRPr sz="2100" b="0">
                <a:solidFill>
                  <a:srgbClr val="5B6472"/>
                </a:solidFill>
                <a:latin typeface="Arial"/>
                <a:ea typeface="Arial"/>
                <a:cs typeface="Arial"/>
              </a:defRPr>
            </a:lvl7pPr>
            <a:lvl8pPr>
              <a:defRPr sz="2100" b="0">
                <a:solidFill>
                  <a:srgbClr val="5B6472"/>
                </a:solidFill>
                <a:latin typeface="Arial"/>
                <a:ea typeface="Arial"/>
                <a:cs typeface="Arial"/>
              </a:defRPr>
            </a:lvl8pPr>
            <a:lvl9pPr>
              <a:defRPr sz="2100" b="0">
                <a:solidFill>
                  <a:srgbClr val="5B6472"/>
                </a:solidFill>
                <a:latin typeface="Arial"/>
                <a:ea typeface="Arial"/>
                <a:cs typeface="Arial"/>
              </a:defRPr>
            </a:lvl9pPr>
          </a:lstStyle>
          <a:p>
            <a:pPr>
              <a:defRPr sz="2100" b="0">
                <a:solidFill>
                  <a:srgbClr val="5B6472"/>
                </a:solidFill>
                <a:latin typeface="Arial"/>
                <a:ea typeface="Arial"/>
                <a:cs typeface="Arial"/>
              </a:defRPr>
            </a:pPr>
            <a:r>
              <a:rPr sz="2100" b="0">
                <a:solidFill>
                  <a:srgbClr val="5B6472"/>
                </a:solidFill>
                <a:latin typeface="Arial"/>
                <a:ea typeface="Arial"/>
                <a:cs typeface="Arial"/>
              </a:rPr>
              <a:t>1,512 defect boxes</a:t>
            </a:r>
          </a:p>
          <a:p>
            <a:pPr>
              <a:defRPr sz="2100" b="0">
                <a:solidFill>
                  <a:srgbClr val="5B6472"/>
                </a:solidFill>
                <a:latin typeface="Arial"/>
                <a:ea typeface="Arial"/>
                <a:cs typeface="Arial"/>
              </a:defRPr>
            </a:pPr>
            <a:r>
              <a:rPr sz="2100" b="0">
                <a:solidFill>
                  <a:srgbClr val="5B6472"/>
                </a:solidFill>
                <a:latin typeface="Arial"/>
                <a:ea typeface="Arial"/>
                <a:cs typeface="Arial"/>
              </a:rPr>
              <a:t>Scratch and pest damage</a:t>
            </a:r>
          </a:p>
        </p:txBody>
      </p:sp>
      <p:graphicFrame>
        <p:nvGraphicFramePr>
          <p:cNvPr id="7" name="Table 6">
            <a:extLst>
              <a:ext uri="{FF2B5EF4-FFF2-40B4-BE49-F238E27FC236}">
                <a16:creationId xmlns:a16="http://schemas.microsoft.com/office/drawing/2014/main" id="{B3754BE8-65B5-47F1-B5E7-8BD136D0D1C4}"/>
              </a:ext>
            </a:extLst>
          </p:cNvPr>
          <p:cNvGraphicFramePr/>
          <p:nvPr/>
        </p:nvGraphicFramePr>
        <p:xfrm>
          <a:off x="609600" y="3905250"/>
          <a:ext cx="4667250" cy="1905000"/>
        </p:xfrm>
        <a:graphic>
          <a:graphicData uri="http://schemas.openxmlformats.org/drawingml/2006/table">
            <a:tbl>
              <a:tblPr/>
              <a:tblGrid>
                <a:gridCol w="28575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476250">
                <a:tc>
                  <a:txBody>
                    <a:bodyPr/>
                    <a:lstStyle/>
                    <a:p>
                      <a:r>
                        <a:rPr sz="1725" b="1">
                          <a:solidFill>
                            <a:srgbClr val="123B63"/>
                          </a:solidFill>
                          <a:latin typeface="Arial"/>
                          <a:ea typeface="Arial"/>
                          <a:cs typeface="Arial"/>
                        </a:rPr>
                        <a:t>Partition</a:t>
                      </a:r>
                    </a:p>
                  </a:txBody>
                  <a:tcPr anchor="ctr">
                    <a:lnL w="9525">
                      <a:solidFill>
                        <a:srgbClr val="E2E6EB"/>
                      </a:solidFill>
                    </a:lnL>
                    <a:lnR w="9525">
                      <a:solidFill>
                        <a:srgbClr val="E2E6EB"/>
                      </a:solidFill>
                    </a:lnR>
                    <a:lnT w="9525">
                      <a:solidFill>
                        <a:srgbClr val="E2E6EB"/>
                      </a:solidFill>
                    </a:lnT>
                    <a:lnB w="9525">
                      <a:solidFill>
                        <a:srgbClr val="E2E6EB"/>
                      </a:solidFill>
                    </a:lnB>
                    <a:solidFill>
                      <a:srgbClr val="EEF4FF"/>
                    </a:solidFill>
                  </a:tcPr>
                </a:tc>
                <a:tc>
                  <a:txBody>
                    <a:bodyPr/>
                    <a:lstStyle/>
                    <a:p>
                      <a:r>
                        <a:rPr sz="1725" b="1">
                          <a:solidFill>
                            <a:srgbClr val="123B63"/>
                          </a:solidFill>
                          <a:latin typeface="Arial"/>
                          <a:ea typeface="Arial"/>
                          <a:cs typeface="Arial"/>
                        </a:rPr>
                        <a:t>Images</a:t>
                      </a:r>
                    </a:p>
                  </a:txBody>
                  <a:tcPr anchor="ctr">
                    <a:lnL w="9525" cap="flat" cmpd="sng" algn="ctr">
                      <a:solidFill>
                        <a:srgbClr val="E2E6EB"/>
                      </a:solidFill>
                      <a:prstDash val="solid"/>
                      <a:round/>
                      <a:headEnd type="none" w="med" len="med"/>
                      <a:tailEnd type="none" w="med" len="med"/>
                    </a:lnL>
                    <a:lnR w="9525">
                      <a:solidFill>
                        <a:srgbClr val="E2E6EB"/>
                      </a:solidFill>
                    </a:lnR>
                    <a:lnT w="9525">
                      <a:solidFill>
                        <a:srgbClr val="E2E6EB"/>
                      </a:solidFill>
                    </a:lnT>
                    <a:lnB w="9525">
                      <a:solidFill>
                        <a:srgbClr val="E2E6EB"/>
                      </a:solidFill>
                    </a:lnB>
                    <a:solidFill>
                      <a:srgbClr val="EEF4FF"/>
                    </a:solidFill>
                  </a:tcPr>
                </a:tc>
                <a:extLst>
                  <a:ext uri="{0D108BD9-81ED-4DB2-BD59-A6C34878D82A}">
                    <a16:rowId xmlns:a16="http://schemas.microsoft.com/office/drawing/2014/main" val="10000"/>
                  </a:ext>
                </a:extLst>
              </a:tr>
              <a:tr h="476250">
                <a:tc>
                  <a:txBody>
                    <a:bodyPr/>
                    <a:lstStyle/>
                    <a:p>
                      <a:r>
                        <a:rPr sz="1725" b="0">
                          <a:solidFill>
                            <a:srgbClr val="111827"/>
                          </a:solidFill>
                          <a:latin typeface="Arial"/>
                          <a:ea typeface="Arial"/>
                          <a:cs typeface="Arial"/>
                        </a:rPr>
                        <a:t>Training</a:t>
                      </a:r>
                    </a:p>
                  </a:txBody>
                  <a:tcPr anchor="ctr">
                    <a:lnL w="9525">
                      <a:solidFill>
                        <a:srgbClr val="E2E6EB"/>
                      </a:solidFill>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500</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extLst>
                  <a:ext uri="{0D108BD9-81ED-4DB2-BD59-A6C34878D82A}">
                    <a16:rowId xmlns:a16="http://schemas.microsoft.com/office/drawing/2014/main" val="10001"/>
                  </a:ext>
                </a:extLst>
              </a:tr>
              <a:tr h="476250">
                <a:tc>
                  <a:txBody>
                    <a:bodyPr/>
                    <a:lstStyle/>
                    <a:p>
                      <a:r>
                        <a:rPr sz="1725" b="0">
                          <a:solidFill>
                            <a:srgbClr val="111827"/>
                          </a:solidFill>
                          <a:latin typeface="Arial"/>
                          <a:ea typeface="Arial"/>
                          <a:cs typeface="Arial"/>
                        </a:rPr>
                        <a:t>Validation</a:t>
                      </a:r>
                    </a:p>
                  </a:txBody>
                  <a:tcPr anchor="ctr">
                    <a:lnL w="9525">
                      <a:solidFill>
                        <a:srgbClr val="E2E6EB"/>
                      </a:solidFill>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106</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extLst>
                  <a:ext uri="{0D108BD9-81ED-4DB2-BD59-A6C34878D82A}">
                    <a16:rowId xmlns:a16="http://schemas.microsoft.com/office/drawing/2014/main" val="10002"/>
                  </a:ext>
                </a:extLst>
              </a:tr>
              <a:tr h="476250">
                <a:tc>
                  <a:txBody>
                    <a:bodyPr/>
                    <a:lstStyle/>
                    <a:p>
                      <a:r>
                        <a:rPr sz="1725" b="0">
                          <a:solidFill>
                            <a:srgbClr val="111827"/>
                          </a:solidFill>
                          <a:latin typeface="Arial"/>
                          <a:ea typeface="Arial"/>
                          <a:cs typeface="Arial"/>
                        </a:rPr>
                        <a:t>Test</a:t>
                      </a:r>
                    </a:p>
                  </a:txBody>
                  <a:tcPr anchor="ctr">
                    <a:lnL w="9525">
                      <a:solidFill>
                        <a:srgbClr val="E2E6EB"/>
                      </a:solidFill>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104</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extLst>
                  <a:ext uri="{0D108BD9-81ED-4DB2-BD59-A6C34878D82A}">
                    <a16:rowId xmlns:a16="http://schemas.microsoft.com/office/drawing/2014/main" val="10003"/>
                  </a:ext>
                </a:extLst>
              </a:tr>
            </a:tbl>
          </a:graphicData>
        </a:graphic>
      </p:graphicFrame>
      <p:sp>
        <p:nvSpPr>
          <p:cNvPr id="8" name="4 models x 3 seeds x 50 epochs">
            <a:extLst>
              <a:ext uri="{FF2B5EF4-FFF2-40B4-BE49-F238E27FC236}">
                <a16:creationId xmlns:a16="http://schemas.microsoft.com/office/drawing/2014/main" id="{BB729F11-31DF-4FDC-B82F-123F5E940FC3}"/>
              </a:ext>
            </a:extLst>
          </p:cNvPr>
          <p:cNvSpPr>
            <a:spLocks noGrp="1"/>
          </p:cNvSpPr>
          <p:nvPr/>
        </p:nvSpPr>
        <p:spPr>
          <a:xfrm>
            <a:off x="6000750" y="1952625"/>
            <a:ext cx="5524500" cy="857250"/>
          </a:xfrm>
          <a:prstGeom prst="rect">
            <a:avLst/>
          </a:prstGeom>
          <a:noFill/>
          <a:ln w="0">
            <a:noFill/>
          </a:ln>
        </p:spPr>
        <p:txBody>
          <a:bodyPr wrap="square" lIns="0" tIns="0" rIns="0" bIns="0" anchor="t">
            <a:noAutofit/>
          </a:bodyPr>
          <a:lstStyle>
            <a:defPPr>
              <a:defRPr sz="2550" b="1">
                <a:solidFill>
                  <a:srgbClr val="111827"/>
                </a:solidFill>
                <a:latin typeface="Arial"/>
                <a:ea typeface="Arial"/>
                <a:cs typeface="Arial"/>
              </a:defRPr>
            </a:defPPr>
            <a:lvl1pPr>
              <a:defRPr sz="2550" b="1">
                <a:solidFill>
                  <a:srgbClr val="111827"/>
                </a:solidFill>
                <a:latin typeface="Arial"/>
                <a:ea typeface="Arial"/>
                <a:cs typeface="Arial"/>
              </a:defRPr>
            </a:lvl1pPr>
            <a:lvl2pPr>
              <a:defRPr sz="2550" b="1">
                <a:solidFill>
                  <a:srgbClr val="111827"/>
                </a:solidFill>
                <a:latin typeface="Arial"/>
                <a:ea typeface="Arial"/>
                <a:cs typeface="Arial"/>
              </a:defRPr>
            </a:lvl2pPr>
            <a:lvl3pPr>
              <a:defRPr sz="2550" b="1">
                <a:solidFill>
                  <a:srgbClr val="111827"/>
                </a:solidFill>
                <a:latin typeface="Arial"/>
                <a:ea typeface="Arial"/>
                <a:cs typeface="Arial"/>
              </a:defRPr>
            </a:lvl3pPr>
            <a:lvl4pPr>
              <a:defRPr sz="2550" b="1">
                <a:solidFill>
                  <a:srgbClr val="111827"/>
                </a:solidFill>
                <a:latin typeface="Arial"/>
                <a:ea typeface="Arial"/>
                <a:cs typeface="Arial"/>
              </a:defRPr>
            </a:lvl4pPr>
            <a:lvl5pPr>
              <a:defRPr sz="2550" b="1">
                <a:solidFill>
                  <a:srgbClr val="111827"/>
                </a:solidFill>
                <a:latin typeface="Arial"/>
                <a:ea typeface="Arial"/>
                <a:cs typeface="Arial"/>
              </a:defRPr>
            </a:lvl5pPr>
            <a:lvl6pPr>
              <a:defRPr sz="2550" b="1">
                <a:solidFill>
                  <a:srgbClr val="111827"/>
                </a:solidFill>
                <a:latin typeface="Arial"/>
                <a:ea typeface="Arial"/>
                <a:cs typeface="Arial"/>
              </a:defRPr>
            </a:lvl6pPr>
            <a:lvl7pPr>
              <a:defRPr sz="2550" b="1">
                <a:solidFill>
                  <a:srgbClr val="111827"/>
                </a:solidFill>
                <a:latin typeface="Arial"/>
                <a:ea typeface="Arial"/>
                <a:cs typeface="Arial"/>
              </a:defRPr>
            </a:lvl7pPr>
            <a:lvl8pPr>
              <a:defRPr sz="2550" b="1">
                <a:solidFill>
                  <a:srgbClr val="111827"/>
                </a:solidFill>
                <a:latin typeface="Arial"/>
                <a:ea typeface="Arial"/>
                <a:cs typeface="Arial"/>
              </a:defRPr>
            </a:lvl8pPr>
            <a:lvl9pPr>
              <a:defRPr sz="2550" b="1">
                <a:solidFill>
                  <a:srgbClr val="111827"/>
                </a:solidFill>
                <a:latin typeface="Arial"/>
                <a:ea typeface="Arial"/>
                <a:cs typeface="Arial"/>
              </a:defRPr>
            </a:lvl9pPr>
          </a:lstStyle>
          <a:p>
            <a:pPr>
              <a:defRPr sz="2550" b="1">
                <a:solidFill>
                  <a:srgbClr val="111827"/>
                </a:solidFill>
                <a:latin typeface="Arial"/>
                <a:ea typeface="Arial"/>
                <a:cs typeface="Arial"/>
              </a:defRPr>
            </a:pPr>
            <a:r>
              <a:rPr sz="2550" b="1">
                <a:solidFill>
                  <a:srgbClr val="111827"/>
                </a:solidFill>
                <a:latin typeface="Arial"/>
                <a:ea typeface="Arial"/>
                <a:cs typeface="Arial"/>
              </a:rPr>
              <a:t>4 models x 3 seeds x 50 epochs</a:t>
            </a:r>
          </a:p>
        </p:txBody>
      </p:sp>
      <p:sp>
        <p:nvSpPr>
          <p:cNvPr id="9" name="Shared input, optimiser and augmentation">
            <a:extLst>
              <a:ext uri="{FF2B5EF4-FFF2-40B4-BE49-F238E27FC236}">
                <a16:creationId xmlns:a16="http://schemas.microsoft.com/office/drawing/2014/main" id="{38A1A09B-95D9-4AC9-B5C6-CB155A49CEB1}"/>
              </a:ext>
            </a:extLst>
          </p:cNvPr>
          <p:cNvSpPr>
            <a:spLocks noGrp="1"/>
          </p:cNvSpPr>
          <p:nvPr/>
        </p:nvSpPr>
        <p:spPr>
          <a:xfrm>
            <a:off x="6000750" y="3143250"/>
            <a:ext cx="5476875" cy="1619250"/>
          </a:xfrm>
          <a:prstGeom prst="rect">
            <a:avLst/>
          </a:prstGeom>
          <a:noFill/>
          <a:ln w="0">
            <a:noFill/>
          </a:ln>
        </p:spPr>
        <p:txBody>
          <a:bodyPr wrap="square" lIns="0" tIns="0" rIns="0" bIns="0" anchor="t">
            <a:noAutofit/>
          </a:bodyPr>
          <a:lstStyle>
            <a:defPPr>
              <a:defRPr sz="2100" b="0">
                <a:solidFill>
                  <a:srgbClr val="5B6472"/>
                </a:solidFill>
                <a:latin typeface="Arial"/>
                <a:ea typeface="Arial"/>
                <a:cs typeface="Arial"/>
              </a:defRPr>
            </a:defPPr>
            <a:lvl1pPr>
              <a:defRPr sz="2100" b="0">
                <a:solidFill>
                  <a:srgbClr val="5B6472"/>
                </a:solidFill>
                <a:latin typeface="Arial"/>
                <a:ea typeface="Arial"/>
                <a:cs typeface="Arial"/>
              </a:defRPr>
            </a:lvl1pPr>
            <a:lvl2pPr>
              <a:defRPr sz="2100" b="0">
                <a:solidFill>
                  <a:srgbClr val="5B6472"/>
                </a:solidFill>
                <a:latin typeface="Arial"/>
                <a:ea typeface="Arial"/>
                <a:cs typeface="Arial"/>
              </a:defRPr>
            </a:lvl2pPr>
            <a:lvl3pPr>
              <a:defRPr sz="2100" b="0">
                <a:solidFill>
                  <a:srgbClr val="5B6472"/>
                </a:solidFill>
                <a:latin typeface="Arial"/>
                <a:ea typeface="Arial"/>
                <a:cs typeface="Arial"/>
              </a:defRPr>
            </a:lvl3pPr>
            <a:lvl4pPr>
              <a:defRPr sz="2100" b="0">
                <a:solidFill>
                  <a:srgbClr val="5B6472"/>
                </a:solidFill>
                <a:latin typeface="Arial"/>
                <a:ea typeface="Arial"/>
                <a:cs typeface="Arial"/>
              </a:defRPr>
            </a:lvl4pPr>
            <a:lvl5pPr>
              <a:defRPr sz="2100" b="0">
                <a:solidFill>
                  <a:srgbClr val="5B6472"/>
                </a:solidFill>
                <a:latin typeface="Arial"/>
                <a:ea typeface="Arial"/>
                <a:cs typeface="Arial"/>
              </a:defRPr>
            </a:lvl5pPr>
            <a:lvl6pPr>
              <a:defRPr sz="2100" b="0">
                <a:solidFill>
                  <a:srgbClr val="5B6472"/>
                </a:solidFill>
                <a:latin typeface="Arial"/>
                <a:ea typeface="Arial"/>
                <a:cs typeface="Arial"/>
              </a:defRPr>
            </a:lvl6pPr>
            <a:lvl7pPr>
              <a:defRPr sz="2100" b="0">
                <a:solidFill>
                  <a:srgbClr val="5B6472"/>
                </a:solidFill>
                <a:latin typeface="Arial"/>
                <a:ea typeface="Arial"/>
                <a:cs typeface="Arial"/>
              </a:defRPr>
            </a:lvl7pPr>
            <a:lvl8pPr>
              <a:defRPr sz="2100" b="0">
                <a:solidFill>
                  <a:srgbClr val="5B6472"/>
                </a:solidFill>
                <a:latin typeface="Arial"/>
                <a:ea typeface="Arial"/>
                <a:cs typeface="Arial"/>
              </a:defRPr>
            </a:lvl8pPr>
            <a:lvl9pPr>
              <a:defRPr sz="2100" b="0">
                <a:solidFill>
                  <a:srgbClr val="5B6472"/>
                </a:solidFill>
                <a:latin typeface="Arial"/>
                <a:ea typeface="Arial"/>
                <a:cs typeface="Arial"/>
              </a:defRPr>
            </a:lvl9pPr>
          </a:lstStyle>
          <a:p>
            <a:pPr>
              <a:defRPr sz="2100" b="0">
                <a:solidFill>
                  <a:srgbClr val="5B6472"/>
                </a:solidFill>
                <a:latin typeface="Arial"/>
                <a:ea typeface="Arial"/>
                <a:cs typeface="Arial"/>
              </a:defRPr>
            </a:pPr>
            <a:r>
              <a:rPr sz="2100" b="0">
                <a:solidFill>
                  <a:srgbClr val="5B6472"/>
                </a:solidFill>
                <a:latin typeface="Arial"/>
                <a:ea typeface="Arial"/>
                <a:cs typeface="Arial"/>
              </a:rPr>
              <a:t>Shared input, optimiser and augmentation</a:t>
            </a:r>
          </a:p>
          <a:p>
            <a:pPr>
              <a:defRPr sz="2100" b="0">
                <a:solidFill>
                  <a:srgbClr val="5B6472"/>
                </a:solidFill>
                <a:latin typeface="Arial"/>
                <a:ea typeface="Arial"/>
                <a:cs typeface="Arial"/>
              </a:defRPr>
            </a:pPr>
            <a:r>
              <a:rPr sz="2100" b="0">
                <a:solidFill>
                  <a:srgbClr val="5B6472"/>
                </a:solidFill>
                <a:latin typeface="Arial"/>
                <a:ea typeface="Arial"/>
                <a:cs typeface="Arial"/>
              </a:rPr>
              <a:t>Validation selects each checkpoint</a:t>
            </a:r>
          </a:p>
          <a:p>
            <a:pPr>
              <a:defRPr sz="2100" b="0">
                <a:solidFill>
                  <a:srgbClr val="5B6472"/>
                </a:solidFill>
                <a:latin typeface="Arial"/>
                <a:ea typeface="Arial"/>
                <a:cs typeface="Arial"/>
              </a:defRPr>
            </a:pPr>
            <a:r>
              <a:rPr sz="2100" b="0">
                <a:solidFill>
                  <a:srgbClr val="5B6472"/>
                </a:solidFill>
                <a:latin typeface="Arial"/>
                <a:ea typeface="Arial"/>
                <a:cs typeface="Arial"/>
              </a:rPr>
              <a:t>Held-out test evaluates final performance</a:t>
            </a:r>
          </a:p>
        </p:txBody>
      </p:sp>
      <p:sp>
        <p:nvSpPr>
          <p:cNvPr id="10" name="Similarity and capture-time grouping&#10;red">
            <a:extLst>
              <a:ext uri="{FF2B5EF4-FFF2-40B4-BE49-F238E27FC236}">
                <a16:creationId xmlns:a16="http://schemas.microsoft.com/office/drawing/2014/main" id="{44C79AFE-BC11-471D-95DE-94083F5FD08D}"/>
              </a:ext>
            </a:extLst>
          </p:cNvPr>
          <p:cNvSpPr>
            <a:spLocks noGrp="1"/>
          </p:cNvSpPr>
          <p:nvPr/>
        </p:nvSpPr>
        <p:spPr>
          <a:xfrm>
            <a:off x="6000750" y="5191125"/>
            <a:ext cx="5476875" cy="666750"/>
          </a:xfrm>
          <a:prstGeom prst="rect">
            <a:avLst/>
          </a:prstGeom>
          <a:noFill/>
          <a:ln w="0">
            <a:noFill/>
          </a:ln>
        </p:spPr>
        <p:txBody>
          <a:bodyPr wrap="square" lIns="0" tIns="0" rIns="0" bIns="0" anchor="t">
            <a:noAutofit/>
          </a:bodyPr>
          <a:lstStyle>
            <a:defPPr>
              <a:defRPr sz="1725" b="0">
                <a:solidFill>
                  <a:srgbClr val="5B6472"/>
                </a:solidFill>
                <a:latin typeface="Arial"/>
                <a:ea typeface="Arial"/>
                <a:cs typeface="Arial"/>
              </a:defRPr>
            </a:defPPr>
            <a:lvl1pPr>
              <a:defRPr sz="1725" b="0">
                <a:solidFill>
                  <a:srgbClr val="5B6472"/>
                </a:solidFill>
                <a:latin typeface="Arial"/>
                <a:ea typeface="Arial"/>
                <a:cs typeface="Arial"/>
              </a:defRPr>
            </a:lvl1pPr>
            <a:lvl2pPr>
              <a:defRPr sz="1725" b="0">
                <a:solidFill>
                  <a:srgbClr val="5B6472"/>
                </a:solidFill>
                <a:latin typeface="Arial"/>
                <a:ea typeface="Arial"/>
                <a:cs typeface="Arial"/>
              </a:defRPr>
            </a:lvl2pPr>
            <a:lvl3pPr>
              <a:defRPr sz="1725" b="0">
                <a:solidFill>
                  <a:srgbClr val="5B6472"/>
                </a:solidFill>
                <a:latin typeface="Arial"/>
                <a:ea typeface="Arial"/>
                <a:cs typeface="Arial"/>
              </a:defRPr>
            </a:lvl3pPr>
            <a:lvl4pPr>
              <a:defRPr sz="1725" b="0">
                <a:solidFill>
                  <a:srgbClr val="5B6472"/>
                </a:solidFill>
                <a:latin typeface="Arial"/>
                <a:ea typeface="Arial"/>
                <a:cs typeface="Arial"/>
              </a:defRPr>
            </a:lvl4pPr>
            <a:lvl5pPr>
              <a:defRPr sz="1725" b="0">
                <a:solidFill>
                  <a:srgbClr val="5B6472"/>
                </a:solidFill>
                <a:latin typeface="Arial"/>
                <a:ea typeface="Arial"/>
                <a:cs typeface="Arial"/>
              </a:defRPr>
            </a:lvl5pPr>
            <a:lvl6pPr>
              <a:defRPr sz="1725" b="0">
                <a:solidFill>
                  <a:srgbClr val="5B6472"/>
                </a:solidFill>
                <a:latin typeface="Arial"/>
                <a:ea typeface="Arial"/>
                <a:cs typeface="Arial"/>
              </a:defRPr>
            </a:lvl6pPr>
            <a:lvl7pPr>
              <a:defRPr sz="1725" b="0">
                <a:solidFill>
                  <a:srgbClr val="5B6472"/>
                </a:solidFill>
                <a:latin typeface="Arial"/>
                <a:ea typeface="Arial"/>
                <a:cs typeface="Arial"/>
              </a:defRPr>
            </a:lvl7pPr>
            <a:lvl8pPr>
              <a:defRPr sz="1725" b="0">
                <a:solidFill>
                  <a:srgbClr val="5B6472"/>
                </a:solidFill>
                <a:latin typeface="Arial"/>
                <a:ea typeface="Arial"/>
                <a:cs typeface="Arial"/>
              </a:defRPr>
            </a:lvl8pPr>
            <a:lvl9pPr>
              <a:defRPr sz="1725" b="0">
                <a:solidFill>
                  <a:srgbClr val="5B6472"/>
                </a:solidFill>
                <a:latin typeface="Arial"/>
                <a:ea typeface="Arial"/>
                <a:cs typeface="Arial"/>
              </a:defRPr>
            </a:lvl9pPr>
          </a:lstStyle>
          <a:p>
            <a:pPr>
              <a:defRPr sz="1725" b="0">
                <a:solidFill>
                  <a:srgbClr val="5B6472"/>
                </a:solidFill>
                <a:latin typeface="Arial"/>
                <a:ea typeface="Arial"/>
                <a:cs typeface="Arial"/>
              </a:defRPr>
            </a:pPr>
            <a:r>
              <a:rPr sz="1725" b="0">
                <a:solidFill>
                  <a:srgbClr val="5B6472"/>
                </a:solidFill>
                <a:latin typeface="Arial"/>
                <a:ea typeface="Arial"/>
                <a:cs typeface="Arial"/>
              </a:rPr>
              <a:t>Similarity and capture-time grouping</a:t>
            </a:r>
          </a:p>
          <a:p>
            <a:pPr>
              <a:defRPr sz="1725" b="0">
                <a:solidFill>
                  <a:srgbClr val="5B6472"/>
                </a:solidFill>
                <a:latin typeface="Arial"/>
                <a:ea typeface="Arial"/>
                <a:cs typeface="Arial"/>
              </a:defRPr>
            </a:pPr>
            <a:r>
              <a:rPr sz="1725" b="0">
                <a:solidFill>
                  <a:srgbClr val="5B6472"/>
                </a:solidFill>
                <a:latin typeface="Arial"/>
                <a:ea typeface="Arial"/>
                <a:cs typeface="Arial"/>
              </a:rPr>
              <a:t>reduces obvious cross-split overlap [3].</a:t>
            </a:r>
          </a:p>
        </p:txBody>
      </p:sp>
    </p:spTree>
    <p:extLst>
      <p:ext uri="{BB962C8B-B14F-4D97-AF65-F5344CB8AC3E}">
        <p14:creationId xmlns:p14="http://schemas.microsoft.com/office/powerpoint/2010/main" val="1037663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APPLE DEFECT DETECTION">
            <a:extLst>
              <a:ext uri="{FF2B5EF4-FFF2-40B4-BE49-F238E27FC236}">
                <a16:creationId xmlns:a16="http://schemas.microsoft.com/office/drawing/2014/main" id="{01AC0747-8C7D-471B-945A-6DEED1437AFF}"/>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CBAM has the highest mean test mAP50-95">
            <a:extLst>
              <a:ext uri="{FF2B5EF4-FFF2-40B4-BE49-F238E27FC236}">
                <a16:creationId xmlns:a16="http://schemas.microsoft.com/office/drawing/2014/main" id="{84759D0E-A51E-4986-824C-4E9CFCC9FA88}"/>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CBAM has the highest mean test mAP50-95</a:t>
            </a:r>
          </a:p>
        </p:txBody>
      </p:sp>
      <p:sp>
        <p:nvSpPr>
          <p:cNvPr id="3" name="Ved Waghela">
            <a:extLst>
              <a:ext uri="{FF2B5EF4-FFF2-40B4-BE49-F238E27FC236}">
                <a16:creationId xmlns:a16="http://schemas.microsoft.com/office/drawing/2014/main" id="{D6C1A033-3F21-4CFD-9564-4A6EF84AB6E7}"/>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Ved Waghela</a:t>
            </a:r>
          </a:p>
        </p:txBody>
      </p:sp>
      <p:sp>
        <p:nvSpPr>
          <p:cNvPr id="4" name="7">
            <a:extLst>
              <a:ext uri="{FF2B5EF4-FFF2-40B4-BE49-F238E27FC236}">
                <a16:creationId xmlns:a16="http://schemas.microsoft.com/office/drawing/2014/main" id="{0CF08849-A9C2-4E96-8F68-FB0CE20913A6}"/>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7</a:t>
            </a:r>
          </a:p>
        </p:txBody>
      </p:sp>
      <p:graphicFrame>
        <p:nvGraphicFramePr>
          <p:cNvPr id="5" name="Chart">
            <a:extLst>
              <a:ext uri="{FF2B5EF4-FFF2-40B4-BE49-F238E27FC236}">
                <a16:creationId xmlns:a16="http://schemas.microsoft.com/office/drawing/2014/main" id="{5DCDE0E9-47EF-4B7A-B62D-97893F99FE0B}"/>
              </a:ext>
            </a:extLst>
          </p:cNvPr>
          <p:cNvGraphicFramePr/>
          <p:nvPr/>
        </p:nvGraphicFramePr>
        <p:xfrm>
          <a:off x="609600" y="1762125"/>
          <a:ext cx="6762750" cy="3095625"/>
        </p:xfrm>
        <a:graphic>
          <a:graphicData uri="http://schemas.openxmlformats.org/drawingml/2006/chart">
            <c:chart xmlns:c="http://schemas.openxmlformats.org/drawingml/2006/chart" xmlns:r="http://schemas.openxmlformats.org/officeDocument/2006/relationships" r:id="rId3"/>
          </a:graphicData>
        </a:graphic>
      </p:graphicFrame>
      <p:sp>
        <p:nvSpPr>
          <p:cNvPr id="6" name="Baseline">
            <a:extLst>
              <a:ext uri="{FF2B5EF4-FFF2-40B4-BE49-F238E27FC236}">
                <a16:creationId xmlns:a16="http://schemas.microsoft.com/office/drawing/2014/main" id="{39827BB2-6042-49BC-85E9-9836ABE9EF97}"/>
              </a:ext>
            </a:extLst>
          </p:cNvPr>
          <p:cNvSpPr>
            <a:spLocks noGrp="1"/>
          </p:cNvSpPr>
          <p:nvPr/>
        </p:nvSpPr>
        <p:spPr>
          <a:xfrm>
            <a:off x="1381125" y="4810125"/>
            <a:ext cx="1428750" cy="285750"/>
          </a:xfrm>
          <a:prstGeom prst="rect">
            <a:avLst/>
          </a:prstGeom>
          <a:noFill/>
          <a:ln w="0">
            <a:noFill/>
          </a:ln>
        </p:spPr>
        <p:txBody>
          <a:bodyPr wrap="square" lIns="0" tIns="0" rIns="0" bIns="0" anchor="t">
            <a:noAutofit/>
          </a:bodyPr>
          <a:lstStyle>
            <a:defPPr>
              <a:defRPr sz="1500" b="0">
                <a:solidFill>
                  <a:srgbClr val="111827"/>
                </a:solidFill>
                <a:latin typeface="Arial"/>
                <a:ea typeface="Arial"/>
                <a:cs typeface="Arial"/>
              </a:defRPr>
            </a:defPPr>
            <a:lvl1pPr>
              <a:defRPr sz="1500" b="0">
                <a:solidFill>
                  <a:srgbClr val="111827"/>
                </a:solidFill>
                <a:latin typeface="Arial"/>
                <a:ea typeface="Arial"/>
                <a:cs typeface="Arial"/>
              </a:defRPr>
            </a:lvl1pPr>
            <a:lvl2pPr>
              <a:defRPr sz="1500" b="0">
                <a:solidFill>
                  <a:srgbClr val="111827"/>
                </a:solidFill>
                <a:latin typeface="Arial"/>
                <a:ea typeface="Arial"/>
                <a:cs typeface="Arial"/>
              </a:defRPr>
            </a:lvl2pPr>
            <a:lvl3pPr>
              <a:defRPr sz="1500" b="0">
                <a:solidFill>
                  <a:srgbClr val="111827"/>
                </a:solidFill>
                <a:latin typeface="Arial"/>
                <a:ea typeface="Arial"/>
                <a:cs typeface="Arial"/>
              </a:defRPr>
            </a:lvl3pPr>
            <a:lvl4pPr>
              <a:defRPr sz="1500" b="0">
                <a:solidFill>
                  <a:srgbClr val="111827"/>
                </a:solidFill>
                <a:latin typeface="Arial"/>
                <a:ea typeface="Arial"/>
                <a:cs typeface="Arial"/>
              </a:defRPr>
            </a:lvl4pPr>
            <a:lvl5pPr>
              <a:defRPr sz="1500" b="0">
                <a:solidFill>
                  <a:srgbClr val="111827"/>
                </a:solidFill>
                <a:latin typeface="Arial"/>
                <a:ea typeface="Arial"/>
                <a:cs typeface="Arial"/>
              </a:defRPr>
            </a:lvl5pPr>
            <a:lvl6pPr>
              <a:defRPr sz="1500" b="0">
                <a:solidFill>
                  <a:srgbClr val="111827"/>
                </a:solidFill>
                <a:latin typeface="Arial"/>
                <a:ea typeface="Arial"/>
                <a:cs typeface="Arial"/>
              </a:defRPr>
            </a:lvl6pPr>
            <a:lvl7pPr>
              <a:defRPr sz="1500" b="0">
                <a:solidFill>
                  <a:srgbClr val="111827"/>
                </a:solidFill>
                <a:latin typeface="Arial"/>
                <a:ea typeface="Arial"/>
                <a:cs typeface="Arial"/>
              </a:defRPr>
            </a:lvl7pPr>
            <a:lvl8pPr>
              <a:defRPr sz="1500" b="0">
                <a:solidFill>
                  <a:srgbClr val="111827"/>
                </a:solidFill>
                <a:latin typeface="Arial"/>
                <a:ea typeface="Arial"/>
                <a:cs typeface="Arial"/>
              </a:defRPr>
            </a:lvl8pPr>
            <a:lvl9pPr>
              <a:defRPr sz="1500" b="0">
                <a:solidFill>
                  <a:srgbClr val="111827"/>
                </a:solidFill>
                <a:latin typeface="Arial"/>
                <a:ea typeface="Arial"/>
                <a:cs typeface="Arial"/>
              </a:defRPr>
            </a:lvl9pPr>
          </a:lstStyle>
          <a:p>
            <a:pPr>
              <a:defRPr sz="1500" b="0">
                <a:solidFill>
                  <a:srgbClr val="111827"/>
                </a:solidFill>
                <a:latin typeface="Arial"/>
                <a:ea typeface="Arial"/>
                <a:cs typeface="Arial"/>
              </a:defRPr>
            </a:pPr>
            <a:r>
              <a:rPr sz="1500" b="0">
                <a:solidFill>
                  <a:srgbClr val="111827"/>
                </a:solidFill>
                <a:latin typeface="Arial"/>
                <a:ea typeface="Arial"/>
                <a:cs typeface="Arial"/>
              </a:rPr>
              <a:t>Baseline</a:t>
            </a:r>
          </a:p>
        </p:txBody>
      </p:sp>
      <p:sp>
        <p:nvSpPr>
          <p:cNvPr id="7" name="SE">
            <a:extLst>
              <a:ext uri="{FF2B5EF4-FFF2-40B4-BE49-F238E27FC236}">
                <a16:creationId xmlns:a16="http://schemas.microsoft.com/office/drawing/2014/main" id="{C5CF24C3-1202-41C9-8987-B3BE922CBE45}"/>
              </a:ext>
            </a:extLst>
          </p:cNvPr>
          <p:cNvSpPr>
            <a:spLocks noGrp="1"/>
          </p:cNvSpPr>
          <p:nvPr/>
        </p:nvSpPr>
        <p:spPr>
          <a:xfrm>
            <a:off x="2857500" y="4810125"/>
            <a:ext cx="1428750" cy="285750"/>
          </a:xfrm>
          <a:prstGeom prst="rect">
            <a:avLst/>
          </a:prstGeom>
          <a:noFill/>
          <a:ln w="0">
            <a:noFill/>
          </a:ln>
        </p:spPr>
        <p:txBody>
          <a:bodyPr wrap="square" lIns="0" tIns="0" rIns="0" bIns="0" anchor="t">
            <a:noAutofit/>
          </a:bodyPr>
          <a:lstStyle>
            <a:defPPr>
              <a:defRPr sz="1500" b="0">
                <a:solidFill>
                  <a:srgbClr val="111827"/>
                </a:solidFill>
                <a:latin typeface="Arial"/>
                <a:ea typeface="Arial"/>
                <a:cs typeface="Arial"/>
              </a:defRPr>
            </a:defPPr>
            <a:lvl1pPr>
              <a:defRPr sz="1500" b="0">
                <a:solidFill>
                  <a:srgbClr val="111827"/>
                </a:solidFill>
                <a:latin typeface="Arial"/>
                <a:ea typeface="Arial"/>
                <a:cs typeface="Arial"/>
              </a:defRPr>
            </a:lvl1pPr>
            <a:lvl2pPr>
              <a:defRPr sz="1500" b="0">
                <a:solidFill>
                  <a:srgbClr val="111827"/>
                </a:solidFill>
                <a:latin typeface="Arial"/>
                <a:ea typeface="Arial"/>
                <a:cs typeface="Arial"/>
              </a:defRPr>
            </a:lvl2pPr>
            <a:lvl3pPr>
              <a:defRPr sz="1500" b="0">
                <a:solidFill>
                  <a:srgbClr val="111827"/>
                </a:solidFill>
                <a:latin typeface="Arial"/>
                <a:ea typeface="Arial"/>
                <a:cs typeface="Arial"/>
              </a:defRPr>
            </a:lvl3pPr>
            <a:lvl4pPr>
              <a:defRPr sz="1500" b="0">
                <a:solidFill>
                  <a:srgbClr val="111827"/>
                </a:solidFill>
                <a:latin typeface="Arial"/>
                <a:ea typeface="Arial"/>
                <a:cs typeface="Arial"/>
              </a:defRPr>
            </a:lvl4pPr>
            <a:lvl5pPr>
              <a:defRPr sz="1500" b="0">
                <a:solidFill>
                  <a:srgbClr val="111827"/>
                </a:solidFill>
                <a:latin typeface="Arial"/>
                <a:ea typeface="Arial"/>
                <a:cs typeface="Arial"/>
              </a:defRPr>
            </a:lvl5pPr>
            <a:lvl6pPr>
              <a:defRPr sz="1500" b="0">
                <a:solidFill>
                  <a:srgbClr val="111827"/>
                </a:solidFill>
                <a:latin typeface="Arial"/>
                <a:ea typeface="Arial"/>
                <a:cs typeface="Arial"/>
              </a:defRPr>
            </a:lvl6pPr>
            <a:lvl7pPr>
              <a:defRPr sz="1500" b="0">
                <a:solidFill>
                  <a:srgbClr val="111827"/>
                </a:solidFill>
                <a:latin typeface="Arial"/>
                <a:ea typeface="Arial"/>
                <a:cs typeface="Arial"/>
              </a:defRPr>
            </a:lvl7pPr>
            <a:lvl8pPr>
              <a:defRPr sz="1500" b="0">
                <a:solidFill>
                  <a:srgbClr val="111827"/>
                </a:solidFill>
                <a:latin typeface="Arial"/>
                <a:ea typeface="Arial"/>
                <a:cs typeface="Arial"/>
              </a:defRPr>
            </a:lvl8pPr>
            <a:lvl9pPr>
              <a:defRPr sz="1500" b="0">
                <a:solidFill>
                  <a:srgbClr val="111827"/>
                </a:solidFill>
                <a:latin typeface="Arial"/>
                <a:ea typeface="Arial"/>
                <a:cs typeface="Arial"/>
              </a:defRPr>
            </a:lvl9pPr>
          </a:lstStyle>
          <a:p>
            <a:pPr>
              <a:defRPr sz="1500" b="0">
                <a:solidFill>
                  <a:srgbClr val="111827"/>
                </a:solidFill>
                <a:latin typeface="Arial"/>
                <a:ea typeface="Arial"/>
                <a:cs typeface="Arial"/>
              </a:defRPr>
            </a:pPr>
            <a:r>
              <a:rPr sz="1500" b="0">
                <a:solidFill>
                  <a:srgbClr val="111827"/>
                </a:solidFill>
                <a:latin typeface="Arial"/>
                <a:ea typeface="Arial"/>
                <a:cs typeface="Arial"/>
              </a:rPr>
              <a:t>SE</a:t>
            </a:r>
          </a:p>
        </p:txBody>
      </p:sp>
      <p:sp>
        <p:nvSpPr>
          <p:cNvPr id="8" name="CBAM">
            <a:extLst>
              <a:ext uri="{FF2B5EF4-FFF2-40B4-BE49-F238E27FC236}">
                <a16:creationId xmlns:a16="http://schemas.microsoft.com/office/drawing/2014/main" id="{99CEEA28-33B1-43AC-B973-7F10B84BAC72}"/>
              </a:ext>
            </a:extLst>
          </p:cNvPr>
          <p:cNvSpPr>
            <a:spLocks noGrp="1"/>
          </p:cNvSpPr>
          <p:nvPr/>
        </p:nvSpPr>
        <p:spPr>
          <a:xfrm>
            <a:off x="4333875" y="4810125"/>
            <a:ext cx="1428750" cy="285750"/>
          </a:xfrm>
          <a:prstGeom prst="rect">
            <a:avLst/>
          </a:prstGeom>
          <a:noFill/>
          <a:ln w="0">
            <a:noFill/>
          </a:ln>
        </p:spPr>
        <p:txBody>
          <a:bodyPr wrap="square" lIns="0" tIns="0" rIns="0" bIns="0" anchor="t">
            <a:noAutofit/>
          </a:bodyPr>
          <a:lstStyle>
            <a:defPPr>
              <a:defRPr sz="1500" b="0">
                <a:solidFill>
                  <a:srgbClr val="111827"/>
                </a:solidFill>
                <a:latin typeface="Arial"/>
                <a:ea typeface="Arial"/>
                <a:cs typeface="Arial"/>
              </a:defRPr>
            </a:defPPr>
            <a:lvl1pPr>
              <a:defRPr sz="1500" b="0">
                <a:solidFill>
                  <a:srgbClr val="111827"/>
                </a:solidFill>
                <a:latin typeface="Arial"/>
                <a:ea typeface="Arial"/>
                <a:cs typeface="Arial"/>
              </a:defRPr>
            </a:lvl1pPr>
            <a:lvl2pPr>
              <a:defRPr sz="1500" b="0">
                <a:solidFill>
                  <a:srgbClr val="111827"/>
                </a:solidFill>
                <a:latin typeface="Arial"/>
                <a:ea typeface="Arial"/>
                <a:cs typeface="Arial"/>
              </a:defRPr>
            </a:lvl2pPr>
            <a:lvl3pPr>
              <a:defRPr sz="1500" b="0">
                <a:solidFill>
                  <a:srgbClr val="111827"/>
                </a:solidFill>
                <a:latin typeface="Arial"/>
                <a:ea typeface="Arial"/>
                <a:cs typeface="Arial"/>
              </a:defRPr>
            </a:lvl3pPr>
            <a:lvl4pPr>
              <a:defRPr sz="1500" b="0">
                <a:solidFill>
                  <a:srgbClr val="111827"/>
                </a:solidFill>
                <a:latin typeface="Arial"/>
                <a:ea typeface="Arial"/>
                <a:cs typeface="Arial"/>
              </a:defRPr>
            </a:lvl4pPr>
            <a:lvl5pPr>
              <a:defRPr sz="1500" b="0">
                <a:solidFill>
                  <a:srgbClr val="111827"/>
                </a:solidFill>
                <a:latin typeface="Arial"/>
                <a:ea typeface="Arial"/>
                <a:cs typeface="Arial"/>
              </a:defRPr>
            </a:lvl5pPr>
            <a:lvl6pPr>
              <a:defRPr sz="1500" b="0">
                <a:solidFill>
                  <a:srgbClr val="111827"/>
                </a:solidFill>
                <a:latin typeface="Arial"/>
                <a:ea typeface="Arial"/>
                <a:cs typeface="Arial"/>
              </a:defRPr>
            </a:lvl6pPr>
            <a:lvl7pPr>
              <a:defRPr sz="1500" b="0">
                <a:solidFill>
                  <a:srgbClr val="111827"/>
                </a:solidFill>
                <a:latin typeface="Arial"/>
                <a:ea typeface="Arial"/>
                <a:cs typeface="Arial"/>
              </a:defRPr>
            </a:lvl7pPr>
            <a:lvl8pPr>
              <a:defRPr sz="1500" b="0">
                <a:solidFill>
                  <a:srgbClr val="111827"/>
                </a:solidFill>
                <a:latin typeface="Arial"/>
                <a:ea typeface="Arial"/>
                <a:cs typeface="Arial"/>
              </a:defRPr>
            </a:lvl8pPr>
            <a:lvl9pPr>
              <a:defRPr sz="1500" b="0">
                <a:solidFill>
                  <a:srgbClr val="111827"/>
                </a:solidFill>
                <a:latin typeface="Arial"/>
                <a:ea typeface="Arial"/>
                <a:cs typeface="Arial"/>
              </a:defRPr>
            </a:lvl9pPr>
          </a:lstStyle>
          <a:p>
            <a:pPr>
              <a:defRPr sz="1500" b="0">
                <a:solidFill>
                  <a:srgbClr val="111827"/>
                </a:solidFill>
                <a:latin typeface="Arial"/>
                <a:ea typeface="Arial"/>
                <a:cs typeface="Arial"/>
              </a:defRPr>
            </a:pPr>
            <a:r>
              <a:rPr sz="1500" b="0">
                <a:solidFill>
                  <a:srgbClr val="111827"/>
                </a:solidFill>
                <a:latin typeface="Arial"/>
                <a:ea typeface="Arial"/>
                <a:cs typeface="Arial"/>
              </a:rPr>
              <a:t>CBAM</a:t>
            </a:r>
          </a:p>
        </p:txBody>
      </p:sp>
      <p:sp>
        <p:nvSpPr>
          <p:cNvPr id="9" name="Coordinate">
            <a:extLst>
              <a:ext uri="{FF2B5EF4-FFF2-40B4-BE49-F238E27FC236}">
                <a16:creationId xmlns:a16="http://schemas.microsoft.com/office/drawing/2014/main" id="{11C37FFC-8305-486E-92B7-995D308E127D}"/>
              </a:ext>
            </a:extLst>
          </p:cNvPr>
          <p:cNvSpPr>
            <a:spLocks noGrp="1"/>
          </p:cNvSpPr>
          <p:nvPr/>
        </p:nvSpPr>
        <p:spPr>
          <a:xfrm>
            <a:off x="5810250" y="4810125"/>
            <a:ext cx="1428750" cy="285750"/>
          </a:xfrm>
          <a:prstGeom prst="rect">
            <a:avLst/>
          </a:prstGeom>
          <a:noFill/>
          <a:ln w="0">
            <a:noFill/>
          </a:ln>
        </p:spPr>
        <p:txBody>
          <a:bodyPr wrap="square" lIns="0" tIns="0" rIns="0" bIns="0" anchor="t">
            <a:noAutofit/>
          </a:bodyPr>
          <a:lstStyle>
            <a:defPPr>
              <a:defRPr sz="1500" b="0">
                <a:solidFill>
                  <a:srgbClr val="111827"/>
                </a:solidFill>
                <a:latin typeface="Arial"/>
                <a:ea typeface="Arial"/>
                <a:cs typeface="Arial"/>
              </a:defRPr>
            </a:defPPr>
            <a:lvl1pPr>
              <a:defRPr sz="1500" b="0">
                <a:solidFill>
                  <a:srgbClr val="111827"/>
                </a:solidFill>
                <a:latin typeface="Arial"/>
                <a:ea typeface="Arial"/>
                <a:cs typeface="Arial"/>
              </a:defRPr>
            </a:lvl1pPr>
            <a:lvl2pPr>
              <a:defRPr sz="1500" b="0">
                <a:solidFill>
                  <a:srgbClr val="111827"/>
                </a:solidFill>
                <a:latin typeface="Arial"/>
                <a:ea typeface="Arial"/>
                <a:cs typeface="Arial"/>
              </a:defRPr>
            </a:lvl2pPr>
            <a:lvl3pPr>
              <a:defRPr sz="1500" b="0">
                <a:solidFill>
                  <a:srgbClr val="111827"/>
                </a:solidFill>
                <a:latin typeface="Arial"/>
                <a:ea typeface="Arial"/>
                <a:cs typeface="Arial"/>
              </a:defRPr>
            </a:lvl3pPr>
            <a:lvl4pPr>
              <a:defRPr sz="1500" b="0">
                <a:solidFill>
                  <a:srgbClr val="111827"/>
                </a:solidFill>
                <a:latin typeface="Arial"/>
                <a:ea typeface="Arial"/>
                <a:cs typeface="Arial"/>
              </a:defRPr>
            </a:lvl4pPr>
            <a:lvl5pPr>
              <a:defRPr sz="1500" b="0">
                <a:solidFill>
                  <a:srgbClr val="111827"/>
                </a:solidFill>
                <a:latin typeface="Arial"/>
                <a:ea typeface="Arial"/>
                <a:cs typeface="Arial"/>
              </a:defRPr>
            </a:lvl5pPr>
            <a:lvl6pPr>
              <a:defRPr sz="1500" b="0">
                <a:solidFill>
                  <a:srgbClr val="111827"/>
                </a:solidFill>
                <a:latin typeface="Arial"/>
                <a:ea typeface="Arial"/>
                <a:cs typeface="Arial"/>
              </a:defRPr>
            </a:lvl6pPr>
            <a:lvl7pPr>
              <a:defRPr sz="1500" b="0">
                <a:solidFill>
                  <a:srgbClr val="111827"/>
                </a:solidFill>
                <a:latin typeface="Arial"/>
                <a:ea typeface="Arial"/>
                <a:cs typeface="Arial"/>
              </a:defRPr>
            </a:lvl7pPr>
            <a:lvl8pPr>
              <a:defRPr sz="1500" b="0">
                <a:solidFill>
                  <a:srgbClr val="111827"/>
                </a:solidFill>
                <a:latin typeface="Arial"/>
                <a:ea typeface="Arial"/>
                <a:cs typeface="Arial"/>
              </a:defRPr>
            </a:lvl8pPr>
            <a:lvl9pPr>
              <a:defRPr sz="1500" b="0">
                <a:solidFill>
                  <a:srgbClr val="111827"/>
                </a:solidFill>
                <a:latin typeface="Arial"/>
                <a:ea typeface="Arial"/>
                <a:cs typeface="Arial"/>
              </a:defRPr>
            </a:lvl9pPr>
          </a:lstStyle>
          <a:p>
            <a:pPr>
              <a:defRPr sz="1500" b="0">
                <a:solidFill>
                  <a:srgbClr val="111827"/>
                </a:solidFill>
                <a:latin typeface="Arial"/>
                <a:ea typeface="Arial"/>
                <a:cs typeface="Arial"/>
              </a:defRPr>
            </a:pPr>
            <a:r>
              <a:rPr sz="1500" b="0">
                <a:solidFill>
                  <a:srgbClr val="111827"/>
                </a:solidFill>
                <a:latin typeface="Arial"/>
                <a:ea typeface="Arial"/>
                <a:cs typeface="Arial"/>
              </a:rPr>
              <a:t>Coordinate</a:t>
            </a:r>
          </a:p>
        </p:txBody>
      </p:sp>
      <p:sp>
        <p:nvSpPr>
          <p:cNvPr id="10" name="Dots: seeds   Diamonds: means   Lines: s">
            <a:extLst>
              <a:ext uri="{FF2B5EF4-FFF2-40B4-BE49-F238E27FC236}">
                <a16:creationId xmlns:a16="http://schemas.microsoft.com/office/drawing/2014/main" id="{C67FA7F9-5C65-450B-B03D-50AB07DFAE31}"/>
              </a:ext>
            </a:extLst>
          </p:cNvPr>
          <p:cNvSpPr>
            <a:spLocks noGrp="1"/>
          </p:cNvSpPr>
          <p:nvPr/>
        </p:nvSpPr>
        <p:spPr>
          <a:xfrm>
            <a:off x="609600" y="5143500"/>
            <a:ext cx="7096125" cy="22860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Dots: seeds   Diamonds: means   Lines: sample SD, not confidence intervals</a:t>
            </a:r>
          </a:p>
        </p:txBody>
      </p:sp>
      <p:sp>
        <p:nvSpPr>
          <p:cNvPr id="11" name="+1.41 pp">
            <a:extLst>
              <a:ext uri="{FF2B5EF4-FFF2-40B4-BE49-F238E27FC236}">
                <a16:creationId xmlns:a16="http://schemas.microsoft.com/office/drawing/2014/main" id="{606415BC-4FF0-4C39-B94F-BF80D01FC4DB}"/>
              </a:ext>
            </a:extLst>
          </p:cNvPr>
          <p:cNvSpPr>
            <a:spLocks noGrp="1"/>
          </p:cNvSpPr>
          <p:nvPr/>
        </p:nvSpPr>
        <p:spPr>
          <a:xfrm>
            <a:off x="7858125" y="2190750"/>
            <a:ext cx="3714750" cy="809625"/>
          </a:xfrm>
          <a:prstGeom prst="rect">
            <a:avLst/>
          </a:prstGeom>
          <a:noFill/>
          <a:ln w="0">
            <a:noFill/>
          </a:ln>
        </p:spPr>
        <p:txBody>
          <a:bodyPr wrap="square" lIns="0" tIns="0" rIns="0" bIns="0" anchor="t">
            <a:noAutofit/>
          </a:bodyPr>
          <a:lstStyle>
            <a:defPPr>
              <a:defRPr sz="4500" b="1">
                <a:solidFill>
                  <a:srgbClr val="3D8DFF"/>
                </a:solidFill>
                <a:latin typeface="Arial"/>
                <a:ea typeface="Arial"/>
                <a:cs typeface="Arial"/>
              </a:defRPr>
            </a:defPPr>
            <a:lvl1pPr>
              <a:defRPr sz="4500" b="1">
                <a:solidFill>
                  <a:srgbClr val="3D8DFF"/>
                </a:solidFill>
                <a:latin typeface="Arial"/>
                <a:ea typeface="Arial"/>
                <a:cs typeface="Arial"/>
              </a:defRPr>
            </a:lvl1pPr>
            <a:lvl2pPr>
              <a:defRPr sz="4500" b="1">
                <a:solidFill>
                  <a:srgbClr val="3D8DFF"/>
                </a:solidFill>
                <a:latin typeface="Arial"/>
                <a:ea typeface="Arial"/>
                <a:cs typeface="Arial"/>
              </a:defRPr>
            </a:lvl2pPr>
            <a:lvl3pPr>
              <a:defRPr sz="4500" b="1">
                <a:solidFill>
                  <a:srgbClr val="3D8DFF"/>
                </a:solidFill>
                <a:latin typeface="Arial"/>
                <a:ea typeface="Arial"/>
                <a:cs typeface="Arial"/>
              </a:defRPr>
            </a:lvl3pPr>
            <a:lvl4pPr>
              <a:defRPr sz="4500" b="1">
                <a:solidFill>
                  <a:srgbClr val="3D8DFF"/>
                </a:solidFill>
                <a:latin typeface="Arial"/>
                <a:ea typeface="Arial"/>
                <a:cs typeface="Arial"/>
              </a:defRPr>
            </a:lvl4pPr>
            <a:lvl5pPr>
              <a:defRPr sz="4500" b="1">
                <a:solidFill>
                  <a:srgbClr val="3D8DFF"/>
                </a:solidFill>
                <a:latin typeface="Arial"/>
                <a:ea typeface="Arial"/>
                <a:cs typeface="Arial"/>
              </a:defRPr>
            </a:lvl5pPr>
            <a:lvl6pPr>
              <a:defRPr sz="4500" b="1">
                <a:solidFill>
                  <a:srgbClr val="3D8DFF"/>
                </a:solidFill>
                <a:latin typeface="Arial"/>
                <a:ea typeface="Arial"/>
                <a:cs typeface="Arial"/>
              </a:defRPr>
            </a:lvl6pPr>
            <a:lvl7pPr>
              <a:defRPr sz="4500" b="1">
                <a:solidFill>
                  <a:srgbClr val="3D8DFF"/>
                </a:solidFill>
                <a:latin typeface="Arial"/>
                <a:ea typeface="Arial"/>
                <a:cs typeface="Arial"/>
              </a:defRPr>
            </a:lvl7pPr>
            <a:lvl8pPr>
              <a:defRPr sz="4500" b="1">
                <a:solidFill>
                  <a:srgbClr val="3D8DFF"/>
                </a:solidFill>
                <a:latin typeface="Arial"/>
                <a:ea typeface="Arial"/>
                <a:cs typeface="Arial"/>
              </a:defRPr>
            </a:lvl8pPr>
            <a:lvl9pPr>
              <a:defRPr sz="4500" b="1">
                <a:solidFill>
                  <a:srgbClr val="3D8DFF"/>
                </a:solidFill>
                <a:latin typeface="Arial"/>
                <a:ea typeface="Arial"/>
                <a:cs typeface="Arial"/>
              </a:defRPr>
            </a:lvl9pPr>
          </a:lstStyle>
          <a:p>
            <a:pPr>
              <a:defRPr sz="4500" b="1">
                <a:solidFill>
                  <a:srgbClr val="3D8DFF"/>
                </a:solidFill>
                <a:latin typeface="Arial"/>
                <a:ea typeface="Arial"/>
                <a:cs typeface="Arial"/>
              </a:defRPr>
            </a:pPr>
            <a:r>
              <a:rPr sz="4500" b="1">
                <a:solidFill>
                  <a:srgbClr val="3D8DFF"/>
                </a:solidFill>
                <a:latin typeface="Arial"/>
                <a:ea typeface="Arial"/>
                <a:cs typeface="Arial"/>
              </a:rPr>
              <a:t>+1.41 pp</a:t>
            </a:r>
          </a:p>
        </p:txBody>
      </p:sp>
      <p:sp>
        <p:nvSpPr>
          <p:cNvPr id="12" name="CBAM versus baseline&#10;Positive gain in al">
            <a:extLst>
              <a:ext uri="{FF2B5EF4-FFF2-40B4-BE49-F238E27FC236}">
                <a16:creationId xmlns:a16="http://schemas.microsoft.com/office/drawing/2014/main" id="{24DA767B-1A08-40A3-923B-FAFCB52F8166}"/>
              </a:ext>
            </a:extLst>
          </p:cNvPr>
          <p:cNvSpPr>
            <a:spLocks noGrp="1"/>
          </p:cNvSpPr>
          <p:nvPr/>
        </p:nvSpPr>
        <p:spPr>
          <a:xfrm>
            <a:off x="7858125" y="3143250"/>
            <a:ext cx="3571875" cy="952500"/>
          </a:xfrm>
          <a:prstGeom prst="rect">
            <a:avLst/>
          </a:prstGeom>
          <a:noFill/>
          <a:ln w="0">
            <a:noFill/>
          </a:ln>
        </p:spPr>
        <p:txBody>
          <a:bodyPr wrap="square" lIns="0" tIns="0" rIns="0" bIns="0" anchor="t">
            <a:noAutofit/>
          </a:bodyPr>
          <a:lstStyle>
            <a:defPPr>
              <a:defRPr sz="2100" b="0">
                <a:solidFill>
                  <a:srgbClr val="5B6472"/>
                </a:solidFill>
                <a:latin typeface="Arial"/>
                <a:ea typeface="Arial"/>
                <a:cs typeface="Arial"/>
              </a:defRPr>
            </a:defPPr>
            <a:lvl1pPr>
              <a:defRPr sz="2100" b="0">
                <a:solidFill>
                  <a:srgbClr val="5B6472"/>
                </a:solidFill>
                <a:latin typeface="Arial"/>
                <a:ea typeface="Arial"/>
                <a:cs typeface="Arial"/>
              </a:defRPr>
            </a:lvl1pPr>
            <a:lvl2pPr>
              <a:defRPr sz="2100" b="0">
                <a:solidFill>
                  <a:srgbClr val="5B6472"/>
                </a:solidFill>
                <a:latin typeface="Arial"/>
                <a:ea typeface="Arial"/>
                <a:cs typeface="Arial"/>
              </a:defRPr>
            </a:lvl2pPr>
            <a:lvl3pPr>
              <a:defRPr sz="2100" b="0">
                <a:solidFill>
                  <a:srgbClr val="5B6472"/>
                </a:solidFill>
                <a:latin typeface="Arial"/>
                <a:ea typeface="Arial"/>
                <a:cs typeface="Arial"/>
              </a:defRPr>
            </a:lvl3pPr>
            <a:lvl4pPr>
              <a:defRPr sz="2100" b="0">
                <a:solidFill>
                  <a:srgbClr val="5B6472"/>
                </a:solidFill>
                <a:latin typeface="Arial"/>
                <a:ea typeface="Arial"/>
                <a:cs typeface="Arial"/>
              </a:defRPr>
            </a:lvl4pPr>
            <a:lvl5pPr>
              <a:defRPr sz="2100" b="0">
                <a:solidFill>
                  <a:srgbClr val="5B6472"/>
                </a:solidFill>
                <a:latin typeface="Arial"/>
                <a:ea typeface="Arial"/>
                <a:cs typeface="Arial"/>
              </a:defRPr>
            </a:lvl5pPr>
            <a:lvl6pPr>
              <a:defRPr sz="2100" b="0">
                <a:solidFill>
                  <a:srgbClr val="5B6472"/>
                </a:solidFill>
                <a:latin typeface="Arial"/>
                <a:ea typeface="Arial"/>
                <a:cs typeface="Arial"/>
              </a:defRPr>
            </a:lvl6pPr>
            <a:lvl7pPr>
              <a:defRPr sz="2100" b="0">
                <a:solidFill>
                  <a:srgbClr val="5B6472"/>
                </a:solidFill>
                <a:latin typeface="Arial"/>
                <a:ea typeface="Arial"/>
                <a:cs typeface="Arial"/>
              </a:defRPr>
            </a:lvl7pPr>
            <a:lvl8pPr>
              <a:defRPr sz="2100" b="0">
                <a:solidFill>
                  <a:srgbClr val="5B6472"/>
                </a:solidFill>
                <a:latin typeface="Arial"/>
                <a:ea typeface="Arial"/>
                <a:cs typeface="Arial"/>
              </a:defRPr>
            </a:lvl8pPr>
            <a:lvl9pPr>
              <a:defRPr sz="2100" b="0">
                <a:solidFill>
                  <a:srgbClr val="5B6472"/>
                </a:solidFill>
                <a:latin typeface="Arial"/>
                <a:ea typeface="Arial"/>
                <a:cs typeface="Arial"/>
              </a:defRPr>
            </a:lvl9pPr>
          </a:lstStyle>
          <a:p>
            <a:pPr>
              <a:defRPr sz="2100" b="0">
                <a:solidFill>
                  <a:srgbClr val="5B6472"/>
                </a:solidFill>
                <a:latin typeface="Arial"/>
                <a:ea typeface="Arial"/>
                <a:cs typeface="Arial"/>
              </a:defRPr>
            </a:pPr>
            <a:r>
              <a:rPr sz="2100" b="0">
                <a:solidFill>
                  <a:srgbClr val="5B6472"/>
                </a:solidFill>
                <a:latin typeface="Arial"/>
                <a:ea typeface="Arial"/>
                <a:cs typeface="Arial"/>
              </a:rPr>
              <a:t>CBAM versus baseline</a:t>
            </a:r>
          </a:p>
          <a:p>
            <a:pPr>
              <a:defRPr sz="2100" b="0">
                <a:solidFill>
                  <a:srgbClr val="5B6472"/>
                </a:solidFill>
                <a:latin typeface="Arial"/>
                <a:ea typeface="Arial"/>
                <a:cs typeface="Arial"/>
              </a:defRPr>
            </a:pPr>
            <a:r>
              <a:rPr sz="2100" b="0">
                <a:solidFill>
                  <a:srgbClr val="5B6472"/>
                </a:solidFill>
                <a:latin typeface="Arial"/>
                <a:ea typeface="Arial"/>
                <a:cs typeface="Arial"/>
              </a:rPr>
              <a:t>Positive gain in all three seeds</a:t>
            </a:r>
          </a:p>
        </p:txBody>
      </p:sp>
      <p:sp>
        <p:nvSpPr>
          <p:cNvPr id="13" name="Three seeds support a descriptive&#10;compar">
            <a:extLst>
              <a:ext uri="{FF2B5EF4-FFF2-40B4-BE49-F238E27FC236}">
                <a16:creationId xmlns:a16="http://schemas.microsoft.com/office/drawing/2014/main" id="{070373B5-2B19-4547-B25A-B6D79FCC88DB}"/>
              </a:ext>
            </a:extLst>
          </p:cNvPr>
          <p:cNvSpPr>
            <a:spLocks noGrp="1"/>
          </p:cNvSpPr>
          <p:nvPr/>
        </p:nvSpPr>
        <p:spPr>
          <a:xfrm>
            <a:off x="7858125" y="4476750"/>
            <a:ext cx="3571875" cy="809625"/>
          </a:xfrm>
          <a:prstGeom prst="rect">
            <a:avLst/>
          </a:prstGeom>
          <a:noFill/>
          <a:ln w="0">
            <a:noFill/>
          </a:ln>
        </p:spPr>
        <p:txBody>
          <a:bodyPr wrap="square" lIns="0" tIns="0" rIns="0" bIns="0" anchor="t">
            <a:noAutofit/>
          </a:bodyPr>
          <a:lstStyle>
            <a:defPPr>
              <a:defRPr sz="1725" b="0">
                <a:solidFill>
                  <a:srgbClr val="5B6472"/>
                </a:solidFill>
                <a:latin typeface="Arial"/>
                <a:ea typeface="Arial"/>
                <a:cs typeface="Arial"/>
              </a:defRPr>
            </a:defPPr>
            <a:lvl1pPr>
              <a:defRPr sz="1725" b="0">
                <a:solidFill>
                  <a:srgbClr val="5B6472"/>
                </a:solidFill>
                <a:latin typeface="Arial"/>
                <a:ea typeface="Arial"/>
                <a:cs typeface="Arial"/>
              </a:defRPr>
            </a:lvl1pPr>
            <a:lvl2pPr>
              <a:defRPr sz="1725" b="0">
                <a:solidFill>
                  <a:srgbClr val="5B6472"/>
                </a:solidFill>
                <a:latin typeface="Arial"/>
                <a:ea typeface="Arial"/>
                <a:cs typeface="Arial"/>
              </a:defRPr>
            </a:lvl2pPr>
            <a:lvl3pPr>
              <a:defRPr sz="1725" b="0">
                <a:solidFill>
                  <a:srgbClr val="5B6472"/>
                </a:solidFill>
                <a:latin typeface="Arial"/>
                <a:ea typeface="Arial"/>
                <a:cs typeface="Arial"/>
              </a:defRPr>
            </a:lvl3pPr>
            <a:lvl4pPr>
              <a:defRPr sz="1725" b="0">
                <a:solidFill>
                  <a:srgbClr val="5B6472"/>
                </a:solidFill>
                <a:latin typeface="Arial"/>
                <a:ea typeface="Arial"/>
                <a:cs typeface="Arial"/>
              </a:defRPr>
            </a:lvl4pPr>
            <a:lvl5pPr>
              <a:defRPr sz="1725" b="0">
                <a:solidFill>
                  <a:srgbClr val="5B6472"/>
                </a:solidFill>
                <a:latin typeface="Arial"/>
                <a:ea typeface="Arial"/>
                <a:cs typeface="Arial"/>
              </a:defRPr>
            </a:lvl5pPr>
            <a:lvl6pPr>
              <a:defRPr sz="1725" b="0">
                <a:solidFill>
                  <a:srgbClr val="5B6472"/>
                </a:solidFill>
                <a:latin typeface="Arial"/>
                <a:ea typeface="Arial"/>
                <a:cs typeface="Arial"/>
              </a:defRPr>
            </a:lvl6pPr>
            <a:lvl7pPr>
              <a:defRPr sz="1725" b="0">
                <a:solidFill>
                  <a:srgbClr val="5B6472"/>
                </a:solidFill>
                <a:latin typeface="Arial"/>
                <a:ea typeface="Arial"/>
                <a:cs typeface="Arial"/>
              </a:defRPr>
            </a:lvl7pPr>
            <a:lvl8pPr>
              <a:defRPr sz="1725" b="0">
                <a:solidFill>
                  <a:srgbClr val="5B6472"/>
                </a:solidFill>
                <a:latin typeface="Arial"/>
                <a:ea typeface="Arial"/>
                <a:cs typeface="Arial"/>
              </a:defRPr>
            </a:lvl8pPr>
            <a:lvl9pPr>
              <a:defRPr sz="1725" b="0">
                <a:solidFill>
                  <a:srgbClr val="5B6472"/>
                </a:solidFill>
                <a:latin typeface="Arial"/>
                <a:ea typeface="Arial"/>
                <a:cs typeface="Arial"/>
              </a:defRPr>
            </a:lvl9pPr>
          </a:lstStyle>
          <a:p>
            <a:pPr>
              <a:defRPr sz="1725" b="0">
                <a:solidFill>
                  <a:srgbClr val="5B6472"/>
                </a:solidFill>
                <a:latin typeface="Arial"/>
                <a:ea typeface="Arial"/>
                <a:cs typeface="Arial"/>
              </a:defRPr>
            </a:pPr>
            <a:r>
              <a:rPr sz="1725" b="0">
                <a:solidFill>
                  <a:srgbClr val="5B6472"/>
                </a:solidFill>
                <a:latin typeface="Arial"/>
                <a:ea typeface="Arial"/>
                <a:cs typeface="Arial"/>
              </a:rPr>
              <a:t>Three seeds support a descriptive</a:t>
            </a:r>
          </a:p>
          <a:p>
            <a:pPr>
              <a:defRPr sz="1725" b="0">
                <a:solidFill>
                  <a:srgbClr val="5B6472"/>
                </a:solidFill>
                <a:latin typeface="Arial"/>
                <a:ea typeface="Arial"/>
                <a:cs typeface="Arial"/>
              </a:defRPr>
            </a:pPr>
            <a:r>
              <a:rPr sz="1725" b="0">
                <a:solidFill>
                  <a:srgbClr val="5B6472"/>
                </a:solidFill>
                <a:latin typeface="Arial"/>
                <a:ea typeface="Arial"/>
                <a:cs typeface="Arial"/>
              </a:rPr>
              <a:t>comparison, not a significance claim.</a:t>
            </a:r>
          </a:p>
        </p:txBody>
      </p:sp>
      <p:graphicFrame>
        <p:nvGraphicFramePr>
          <p:cNvPr id="14" name="Table 13">
            <a:extLst>
              <a:ext uri="{FF2B5EF4-FFF2-40B4-BE49-F238E27FC236}">
                <a16:creationId xmlns:a16="http://schemas.microsoft.com/office/drawing/2014/main" id="{64883215-0D13-451D-A013-251CCFB32614}"/>
              </a:ext>
            </a:extLst>
          </p:cNvPr>
          <p:cNvGraphicFramePr/>
          <p:nvPr/>
        </p:nvGraphicFramePr>
        <p:xfrm>
          <a:off x="609600" y="5505450"/>
          <a:ext cx="10972800" cy="714376"/>
        </p:xfrm>
        <a:graphic>
          <a:graphicData uri="http://schemas.openxmlformats.org/drawingml/2006/table">
            <a:tbl>
              <a:tblPr/>
              <a:tblGrid>
                <a:gridCol w="342900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885950">
                  <a:extLst>
                    <a:ext uri="{9D8B030D-6E8A-4147-A177-3AD203B41FA5}">
                      <a16:colId xmlns:a16="http://schemas.microsoft.com/office/drawing/2014/main" val="20002"/>
                    </a:ext>
                  </a:extLst>
                </a:gridCol>
                <a:gridCol w="1885950">
                  <a:extLst>
                    <a:ext uri="{9D8B030D-6E8A-4147-A177-3AD203B41FA5}">
                      <a16:colId xmlns:a16="http://schemas.microsoft.com/office/drawing/2014/main" val="20003"/>
                    </a:ext>
                  </a:extLst>
                </a:gridCol>
                <a:gridCol w="1885950">
                  <a:extLst>
                    <a:ext uri="{9D8B030D-6E8A-4147-A177-3AD203B41FA5}">
                      <a16:colId xmlns:a16="http://schemas.microsoft.com/office/drawing/2014/main" val="20004"/>
                    </a:ext>
                  </a:extLst>
                </a:gridCol>
              </a:tblGrid>
              <a:tr h="357188">
                <a:tc>
                  <a:txBody>
                    <a:bodyPr/>
                    <a:lstStyle/>
                    <a:p>
                      <a:r>
                        <a:rPr sz="1725" b="1">
                          <a:solidFill>
                            <a:srgbClr val="123B63"/>
                          </a:solidFill>
                          <a:latin typeface="Arial"/>
                          <a:ea typeface="Arial"/>
                          <a:cs typeface="Arial"/>
                        </a:rPr>
                        <a:t>Mean test AP (%)</a:t>
                      </a:r>
                    </a:p>
                  </a:txBody>
                  <a:tcPr anchor="ctr">
                    <a:lnL w="9525">
                      <a:solidFill>
                        <a:srgbClr val="E2E6EB"/>
                      </a:solidFill>
                    </a:lnL>
                    <a:lnR w="9525">
                      <a:solidFill>
                        <a:srgbClr val="E2E6EB"/>
                      </a:solidFill>
                    </a:lnR>
                    <a:lnT w="9525">
                      <a:solidFill>
                        <a:srgbClr val="E2E6EB"/>
                      </a:solidFill>
                    </a:lnT>
                    <a:lnB w="9525">
                      <a:solidFill>
                        <a:srgbClr val="E2E6EB"/>
                      </a:solidFill>
                    </a:lnB>
                    <a:solidFill>
                      <a:srgbClr val="EEF4FF"/>
                    </a:solidFill>
                  </a:tcPr>
                </a:tc>
                <a:tc>
                  <a:txBody>
                    <a:bodyPr/>
                    <a:lstStyle/>
                    <a:p>
                      <a:r>
                        <a:rPr sz="1725" b="1">
                          <a:solidFill>
                            <a:srgbClr val="123B63"/>
                          </a:solidFill>
                          <a:latin typeface="Arial"/>
                          <a:ea typeface="Arial"/>
                          <a:cs typeface="Arial"/>
                        </a:rPr>
                        <a:t>Baseline</a:t>
                      </a:r>
                    </a:p>
                  </a:txBody>
                  <a:tcPr anchor="ctr">
                    <a:lnL w="9525" cap="flat" cmpd="sng" algn="ctr">
                      <a:solidFill>
                        <a:srgbClr val="E2E6EB"/>
                      </a:solidFill>
                      <a:prstDash val="solid"/>
                      <a:round/>
                      <a:headEnd type="none" w="med" len="med"/>
                      <a:tailEnd type="none" w="med" len="med"/>
                    </a:lnL>
                    <a:lnR w="9525">
                      <a:solidFill>
                        <a:srgbClr val="E2E6EB"/>
                      </a:solidFill>
                    </a:lnR>
                    <a:lnT w="9525">
                      <a:solidFill>
                        <a:srgbClr val="E2E6EB"/>
                      </a:solidFill>
                    </a:lnT>
                    <a:lnB w="9525">
                      <a:solidFill>
                        <a:srgbClr val="E2E6EB"/>
                      </a:solidFill>
                    </a:lnB>
                    <a:solidFill>
                      <a:srgbClr val="EEF4FF"/>
                    </a:solidFill>
                  </a:tcPr>
                </a:tc>
                <a:tc>
                  <a:txBody>
                    <a:bodyPr/>
                    <a:lstStyle/>
                    <a:p>
                      <a:r>
                        <a:rPr sz="1725" b="1">
                          <a:solidFill>
                            <a:srgbClr val="123B63"/>
                          </a:solidFill>
                          <a:latin typeface="Arial"/>
                          <a:ea typeface="Arial"/>
                          <a:cs typeface="Arial"/>
                        </a:rPr>
                        <a:t>SE</a:t>
                      </a:r>
                    </a:p>
                  </a:txBody>
                  <a:tcPr anchor="ctr">
                    <a:lnL w="9525" cap="flat" cmpd="sng" algn="ctr">
                      <a:solidFill>
                        <a:srgbClr val="E2E6EB"/>
                      </a:solidFill>
                      <a:prstDash val="solid"/>
                      <a:round/>
                      <a:headEnd type="none" w="med" len="med"/>
                      <a:tailEnd type="none" w="med" len="med"/>
                    </a:lnL>
                    <a:lnR w="9525">
                      <a:solidFill>
                        <a:srgbClr val="E2E6EB"/>
                      </a:solidFill>
                    </a:lnR>
                    <a:lnT w="9525">
                      <a:solidFill>
                        <a:srgbClr val="E2E6EB"/>
                      </a:solidFill>
                    </a:lnT>
                    <a:lnB w="9525">
                      <a:solidFill>
                        <a:srgbClr val="E2E6EB"/>
                      </a:solidFill>
                    </a:lnB>
                    <a:solidFill>
                      <a:srgbClr val="EEF4FF"/>
                    </a:solidFill>
                  </a:tcPr>
                </a:tc>
                <a:tc>
                  <a:txBody>
                    <a:bodyPr/>
                    <a:lstStyle/>
                    <a:p>
                      <a:r>
                        <a:rPr sz="1725" b="1">
                          <a:solidFill>
                            <a:srgbClr val="123B63"/>
                          </a:solidFill>
                          <a:latin typeface="Arial"/>
                          <a:ea typeface="Arial"/>
                          <a:cs typeface="Arial"/>
                        </a:rPr>
                        <a:t>CBAM</a:t>
                      </a:r>
                    </a:p>
                  </a:txBody>
                  <a:tcPr anchor="ctr">
                    <a:lnL w="9525" cap="flat" cmpd="sng" algn="ctr">
                      <a:solidFill>
                        <a:srgbClr val="E2E6EB"/>
                      </a:solidFill>
                      <a:prstDash val="solid"/>
                      <a:round/>
                      <a:headEnd type="none" w="med" len="med"/>
                      <a:tailEnd type="none" w="med" len="med"/>
                    </a:lnL>
                    <a:lnR w="9525">
                      <a:solidFill>
                        <a:srgbClr val="E2E6EB"/>
                      </a:solidFill>
                    </a:lnR>
                    <a:lnT w="9525">
                      <a:solidFill>
                        <a:srgbClr val="E2E6EB"/>
                      </a:solidFill>
                    </a:lnT>
                    <a:lnB w="9525">
                      <a:solidFill>
                        <a:srgbClr val="E2E6EB"/>
                      </a:solidFill>
                    </a:lnB>
                    <a:solidFill>
                      <a:srgbClr val="EEF4FF"/>
                    </a:solidFill>
                  </a:tcPr>
                </a:tc>
                <a:tc>
                  <a:txBody>
                    <a:bodyPr/>
                    <a:lstStyle/>
                    <a:p>
                      <a:r>
                        <a:rPr sz="1725" b="1">
                          <a:solidFill>
                            <a:srgbClr val="123B63"/>
                          </a:solidFill>
                          <a:latin typeface="Arial"/>
                          <a:ea typeface="Arial"/>
                          <a:cs typeface="Arial"/>
                        </a:rPr>
                        <a:t>Coordinate</a:t>
                      </a:r>
                    </a:p>
                  </a:txBody>
                  <a:tcPr anchor="ctr">
                    <a:lnL w="9525" cap="flat" cmpd="sng" algn="ctr">
                      <a:solidFill>
                        <a:srgbClr val="E2E6EB"/>
                      </a:solidFill>
                      <a:prstDash val="solid"/>
                      <a:round/>
                      <a:headEnd type="none" w="med" len="med"/>
                      <a:tailEnd type="none" w="med" len="med"/>
                    </a:lnL>
                    <a:lnR w="9525">
                      <a:solidFill>
                        <a:srgbClr val="E2E6EB"/>
                      </a:solidFill>
                    </a:lnR>
                    <a:lnT w="9525">
                      <a:solidFill>
                        <a:srgbClr val="E2E6EB"/>
                      </a:solidFill>
                    </a:lnT>
                    <a:lnB w="9525">
                      <a:solidFill>
                        <a:srgbClr val="E2E6EB"/>
                      </a:solidFill>
                    </a:lnB>
                    <a:solidFill>
                      <a:srgbClr val="EEF4FF"/>
                    </a:solidFill>
                  </a:tcPr>
                </a:tc>
                <a:extLst>
                  <a:ext uri="{0D108BD9-81ED-4DB2-BD59-A6C34878D82A}">
                    <a16:rowId xmlns:a16="http://schemas.microsoft.com/office/drawing/2014/main" val="10000"/>
                  </a:ext>
                </a:extLst>
              </a:tr>
              <a:tr h="357188">
                <a:tc>
                  <a:txBody>
                    <a:bodyPr/>
                    <a:lstStyle/>
                    <a:p>
                      <a:r>
                        <a:rPr sz="1725" b="0">
                          <a:solidFill>
                            <a:srgbClr val="111827"/>
                          </a:solidFill>
                          <a:latin typeface="Arial"/>
                          <a:ea typeface="Arial"/>
                          <a:cs typeface="Arial"/>
                        </a:rPr>
                        <a:t>Across 3 seeds</a:t>
                      </a:r>
                    </a:p>
                  </a:txBody>
                  <a:tcPr anchor="ctr">
                    <a:lnL w="9525">
                      <a:solidFill>
                        <a:srgbClr val="E2E6EB"/>
                      </a:solidFill>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40.70</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41.58</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42.11</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tc>
                  <a:txBody>
                    <a:bodyPr/>
                    <a:lstStyle/>
                    <a:p>
                      <a:r>
                        <a:rPr sz="1725" b="0">
                          <a:solidFill>
                            <a:srgbClr val="111827"/>
                          </a:solidFill>
                          <a:latin typeface="Arial"/>
                          <a:ea typeface="Arial"/>
                          <a:cs typeface="Arial"/>
                        </a:rPr>
                        <a:t>41.52</a:t>
                      </a:r>
                    </a:p>
                  </a:txBody>
                  <a:tcPr anchor="ctr">
                    <a:lnL w="9525" cap="flat" cmpd="sng" algn="ctr">
                      <a:solidFill>
                        <a:srgbClr val="E2E6EB"/>
                      </a:solidFill>
                      <a:prstDash val="solid"/>
                      <a:round/>
                      <a:headEnd type="none" w="med" len="med"/>
                      <a:tailEnd type="none" w="med" len="med"/>
                    </a:lnL>
                    <a:lnR w="9525">
                      <a:solidFill>
                        <a:srgbClr val="E2E6EB"/>
                      </a:solidFill>
                    </a:lnR>
                    <a:lnT w="9525" cap="flat" cmpd="sng" algn="ctr">
                      <a:solidFill>
                        <a:srgbClr val="E2E6EB"/>
                      </a:solidFill>
                      <a:prstDash val="solid"/>
                      <a:round/>
                      <a:headEnd type="none" w="med" len="med"/>
                      <a:tailEnd type="none" w="med" len="med"/>
                    </a:lnT>
                    <a:lnB w="9525">
                      <a:solidFill>
                        <a:srgbClr val="E2E6EB"/>
                      </a:solidFill>
                    </a:lnB>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91202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APPLE DEFECT DETECTION">
            <a:extLst>
              <a:ext uri="{FF2B5EF4-FFF2-40B4-BE49-F238E27FC236}">
                <a16:creationId xmlns:a16="http://schemas.microsoft.com/office/drawing/2014/main" id="{645CC025-04DE-4889-B0F7-33A0FB32B486}"/>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The accuracy gain carries a measurable c">
            <a:extLst>
              <a:ext uri="{FF2B5EF4-FFF2-40B4-BE49-F238E27FC236}">
                <a16:creationId xmlns:a16="http://schemas.microsoft.com/office/drawing/2014/main" id="{45BB69E5-0D44-4E92-9DF5-DB17D09300A5}"/>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The accuracy gain carries a measurable cost</a:t>
            </a:r>
          </a:p>
        </p:txBody>
      </p:sp>
      <p:sp>
        <p:nvSpPr>
          <p:cNvPr id="3" name="Ved Waghela">
            <a:extLst>
              <a:ext uri="{FF2B5EF4-FFF2-40B4-BE49-F238E27FC236}">
                <a16:creationId xmlns:a16="http://schemas.microsoft.com/office/drawing/2014/main" id="{71C87843-F143-4B54-93D3-BFF004065B63}"/>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Ved Waghela</a:t>
            </a:r>
          </a:p>
        </p:txBody>
      </p:sp>
      <p:sp>
        <p:nvSpPr>
          <p:cNvPr id="4" name="8">
            <a:extLst>
              <a:ext uri="{FF2B5EF4-FFF2-40B4-BE49-F238E27FC236}">
                <a16:creationId xmlns:a16="http://schemas.microsoft.com/office/drawing/2014/main" id="{DB0E2E42-2825-440F-B29C-FDD53DE8301D}"/>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8</a:t>
            </a:r>
          </a:p>
        </p:txBody>
      </p:sp>
      <p:graphicFrame>
        <p:nvGraphicFramePr>
          <p:cNvPr id="5" name="Chart">
            <a:extLst>
              <a:ext uri="{FF2B5EF4-FFF2-40B4-BE49-F238E27FC236}">
                <a16:creationId xmlns:a16="http://schemas.microsoft.com/office/drawing/2014/main" id="{4DB9685E-0457-4094-9441-649290731C2C}"/>
              </a:ext>
            </a:extLst>
          </p:cNvPr>
          <p:cNvGraphicFramePr/>
          <p:nvPr/>
        </p:nvGraphicFramePr>
        <p:xfrm>
          <a:off x="609600" y="1809750"/>
          <a:ext cx="6953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6" name="~8% slower">
            <a:extLst>
              <a:ext uri="{FF2B5EF4-FFF2-40B4-BE49-F238E27FC236}">
                <a16:creationId xmlns:a16="http://schemas.microsoft.com/office/drawing/2014/main" id="{B5946539-D7E6-47BC-A14B-00C18E2C0D0D}"/>
              </a:ext>
            </a:extLst>
          </p:cNvPr>
          <p:cNvSpPr>
            <a:spLocks noGrp="1"/>
          </p:cNvSpPr>
          <p:nvPr/>
        </p:nvSpPr>
        <p:spPr>
          <a:xfrm>
            <a:off x="8096250" y="2143125"/>
            <a:ext cx="3333750" cy="666750"/>
          </a:xfrm>
          <a:prstGeom prst="rect">
            <a:avLst/>
          </a:prstGeom>
          <a:noFill/>
          <a:ln w="0">
            <a:noFill/>
          </a:ln>
        </p:spPr>
        <p:txBody>
          <a:bodyPr wrap="square" lIns="0" tIns="0" rIns="0" bIns="0" anchor="t">
            <a:noAutofit/>
          </a:bodyPr>
          <a:lstStyle>
            <a:defPPr>
              <a:defRPr sz="3600" b="1">
                <a:solidFill>
                  <a:srgbClr val="3D8DFF"/>
                </a:solidFill>
                <a:latin typeface="Arial"/>
                <a:ea typeface="Arial"/>
                <a:cs typeface="Arial"/>
              </a:defRPr>
            </a:defPPr>
            <a:lvl1pPr>
              <a:defRPr sz="3600" b="1">
                <a:solidFill>
                  <a:srgbClr val="3D8DFF"/>
                </a:solidFill>
                <a:latin typeface="Arial"/>
                <a:ea typeface="Arial"/>
                <a:cs typeface="Arial"/>
              </a:defRPr>
            </a:lvl1pPr>
            <a:lvl2pPr>
              <a:defRPr sz="3600" b="1">
                <a:solidFill>
                  <a:srgbClr val="3D8DFF"/>
                </a:solidFill>
                <a:latin typeface="Arial"/>
                <a:ea typeface="Arial"/>
                <a:cs typeface="Arial"/>
              </a:defRPr>
            </a:lvl2pPr>
            <a:lvl3pPr>
              <a:defRPr sz="3600" b="1">
                <a:solidFill>
                  <a:srgbClr val="3D8DFF"/>
                </a:solidFill>
                <a:latin typeface="Arial"/>
                <a:ea typeface="Arial"/>
                <a:cs typeface="Arial"/>
              </a:defRPr>
            </a:lvl3pPr>
            <a:lvl4pPr>
              <a:defRPr sz="3600" b="1">
                <a:solidFill>
                  <a:srgbClr val="3D8DFF"/>
                </a:solidFill>
                <a:latin typeface="Arial"/>
                <a:ea typeface="Arial"/>
                <a:cs typeface="Arial"/>
              </a:defRPr>
            </a:lvl4pPr>
            <a:lvl5pPr>
              <a:defRPr sz="3600" b="1">
                <a:solidFill>
                  <a:srgbClr val="3D8DFF"/>
                </a:solidFill>
                <a:latin typeface="Arial"/>
                <a:ea typeface="Arial"/>
                <a:cs typeface="Arial"/>
              </a:defRPr>
            </a:lvl5pPr>
            <a:lvl6pPr>
              <a:defRPr sz="3600" b="1">
                <a:solidFill>
                  <a:srgbClr val="3D8DFF"/>
                </a:solidFill>
                <a:latin typeface="Arial"/>
                <a:ea typeface="Arial"/>
                <a:cs typeface="Arial"/>
              </a:defRPr>
            </a:lvl6pPr>
            <a:lvl7pPr>
              <a:defRPr sz="3600" b="1">
                <a:solidFill>
                  <a:srgbClr val="3D8DFF"/>
                </a:solidFill>
                <a:latin typeface="Arial"/>
                <a:ea typeface="Arial"/>
                <a:cs typeface="Arial"/>
              </a:defRPr>
            </a:lvl7pPr>
            <a:lvl8pPr>
              <a:defRPr sz="3600" b="1">
                <a:solidFill>
                  <a:srgbClr val="3D8DFF"/>
                </a:solidFill>
                <a:latin typeface="Arial"/>
                <a:ea typeface="Arial"/>
                <a:cs typeface="Arial"/>
              </a:defRPr>
            </a:lvl8pPr>
            <a:lvl9pPr>
              <a:defRPr sz="3600" b="1">
                <a:solidFill>
                  <a:srgbClr val="3D8DFF"/>
                </a:solidFill>
                <a:latin typeface="Arial"/>
                <a:ea typeface="Arial"/>
                <a:cs typeface="Arial"/>
              </a:defRPr>
            </a:lvl9pPr>
          </a:lstStyle>
          <a:p>
            <a:pPr>
              <a:defRPr sz="3600" b="1">
                <a:solidFill>
                  <a:srgbClr val="3D8DFF"/>
                </a:solidFill>
                <a:latin typeface="Arial"/>
                <a:ea typeface="Arial"/>
                <a:cs typeface="Arial"/>
              </a:defRPr>
            </a:pPr>
            <a:r>
              <a:rPr sz="3600" b="1">
                <a:solidFill>
                  <a:srgbClr val="3D8DFF"/>
                </a:solidFill>
                <a:latin typeface="Arial"/>
                <a:ea typeface="Arial"/>
                <a:cs typeface="Arial"/>
              </a:rPr>
              <a:t>~8% slower</a:t>
            </a:r>
          </a:p>
        </p:txBody>
      </p:sp>
      <p:sp>
        <p:nvSpPr>
          <p:cNvPr id="7" name="CBAM: 7.113 ms&#10;Baseline: 6.586 ms">
            <a:extLst>
              <a:ext uri="{FF2B5EF4-FFF2-40B4-BE49-F238E27FC236}">
                <a16:creationId xmlns:a16="http://schemas.microsoft.com/office/drawing/2014/main" id="{1073BADE-98F6-4A71-8DBD-37913864AA25}"/>
              </a:ext>
            </a:extLst>
          </p:cNvPr>
          <p:cNvSpPr>
            <a:spLocks noGrp="1"/>
          </p:cNvSpPr>
          <p:nvPr/>
        </p:nvSpPr>
        <p:spPr>
          <a:xfrm>
            <a:off x="8096250" y="3048000"/>
            <a:ext cx="3381375" cy="904875"/>
          </a:xfrm>
          <a:prstGeom prst="rect">
            <a:avLst/>
          </a:prstGeom>
          <a:noFill/>
          <a:ln w="0">
            <a:noFill/>
          </a:ln>
        </p:spPr>
        <p:txBody>
          <a:bodyPr wrap="square" lIns="0" tIns="0" rIns="0" bIns="0" anchor="t">
            <a:noAutofit/>
          </a:bodyPr>
          <a:lstStyle>
            <a:defPPr>
              <a:defRPr sz="2175" b="0">
                <a:solidFill>
                  <a:srgbClr val="111827"/>
                </a:solidFill>
                <a:latin typeface="Arial"/>
                <a:ea typeface="Arial"/>
                <a:cs typeface="Arial"/>
              </a:defRPr>
            </a:defPPr>
            <a:lvl1pPr>
              <a:defRPr sz="2175" b="0">
                <a:solidFill>
                  <a:srgbClr val="111827"/>
                </a:solidFill>
                <a:latin typeface="Arial"/>
                <a:ea typeface="Arial"/>
                <a:cs typeface="Arial"/>
              </a:defRPr>
            </a:lvl1pPr>
            <a:lvl2pPr>
              <a:defRPr sz="2175" b="0">
                <a:solidFill>
                  <a:srgbClr val="111827"/>
                </a:solidFill>
                <a:latin typeface="Arial"/>
                <a:ea typeface="Arial"/>
                <a:cs typeface="Arial"/>
              </a:defRPr>
            </a:lvl2pPr>
            <a:lvl3pPr>
              <a:defRPr sz="2175" b="0">
                <a:solidFill>
                  <a:srgbClr val="111827"/>
                </a:solidFill>
                <a:latin typeface="Arial"/>
                <a:ea typeface="Arial"/>
                <a:cs typeface="Arial"/>
              </a:defRPr>
            </a:lvl3pPr>
            <a:lvl4pPr>
              <a:defRPr sz="2175" b="0">
                <a:solidFill>
                  <a:srgbClr val="111827"/>
                </a:solidFill>
                <a:latin typeface="Arial"/>
                <a:ea typeface="Arial"/>
                <a:cs typeface="Arial"/>
              </a:defRPr>
            </a:lvl4pPr>
            <a:lvl5pPr>
              <a:defRPr sz="2175" b="0">
                <a:solidFill>
                  <a:srgbClr val="111827"/>
                </a:solidFill>
                <a:latin typeface="Arial"/>
                <a:ea typeface="Arial"/>
                <a:cs typeface="Arial"/>
              </a:defRPr>
            </a:lvl5pPr>
            <a:lvl6pPr>
              <a:defRPr sz="2175" b="0">
                <a:solidFill>
                  <a:srgbClr val="111827"/>
                </a:solidFill>
                <a:latin typeface="Arial"/>
                <a:ea typeface="Arial"/>
                <a:cs typeface="Arial"/>
              </a:defRPr>
            </a:lvl6pPr>
            <a:lvl7pPr>
              <a:defRPr sz="2175" b="0">
                <a:solidFill>
                  <a:srgbClr val="111827"/>
                </a:solidFill>
                <a:latin typeface="Arial"/>
                <a:ea typeface="Arial"/>
                <a:cs typeface="Arial"/>
              </a:defRPr>
            </a:lvl7pPr>
            <a:lvl8pPr>
              <a:defRPr sz="2175" b="0">
                <a:solidFill>
                  <a:srgbClr val="111827"/>
                </a:solidFill>
                <a:latin typeface="Arial"/>
                <a:ea typeface="Arial"/>
                <a:cs typeface="Arial"/>
              </a:defRPr>
            </a:lvl8pPr>
            <a:lvl9pPr>
              <a:defRPr sz="2175" b="0">
                <a:solidFill>
                  <a:srgbClr val="111827"/>
                </a:solidFill>
                <a:latin typeface="Arial"/>
                <a:ea typeface="Arial"/>
                <a:cs typeface="Arial"/>
              </a:defRPr>
            </a:lvl9pPr>
          </a:lstStyle>
          <a:p>
            <a:pPr>
              <a:defRPr sz="2175" b="0">
                <a:solidFill>
                  <a:srgbClr val="111827"/>
                </a:solidFill>
                <a:latin typeface="Arial"/>
                <a:ea typeface="Arial"/>
                <a:cs typeface="Arial"/>
              </a:defRPr>
            </a:pPr>
            <a:r>
              <a:rPr sz="2175" b="0">
                <a:solidFill>
                  <a:srgbClr val="111827"/>
                </a:solidFill>
                <a:latin typeface="Arial"/>
                <a:ea typeface="Arial"/>
                <a:cs typeface="Arial"/>
              </a:rPr>
              <a:t>CBAM: 7.113 ms</a:t>
            </a:r>
          </a:p>
          <a:p>
            <a:pPr>
              <a:defRPr sz="2175" b="0">
                <a:solidFill>
                  <a:srgbClr val="111827"/>
                </a:solidFill>
                <a:latin typeface="Arial"/>
                <a:ea typeface="Arial"/>
                <a:cs typeface="Arial"/>
              </a:defRPr>
            </a:pPr>
            <a:r>
              <a:rPr sz="2175" b="0">
                <a:solidFill>
                  <a:srgbClr val="111827"/>
                </a:solidFill>
                <a:latin typeface="Arial"/>
                <a:ea typeface="Arial"/>
                <a:cs typeface="Arial"/>
              </a:rPr>
              <a:t>Baseline: 6.586 ms</a:t>
            </a:r>
          </a:p>
        </p:txBody>
      </p:sp>
      <p:sp>
        <p:nvSpPr>
          <p:cNvPr id="8" name="SE adds ~1.3% latency&#10;with a smaller mea">
            <a:extLst>
              <a:ext uri="{FF2B5EF4-FFF2-40B4-BE49-F238E27FC236}">
                <a16:creationId xmlns:a16="http://schemas.microsoft.com/office/drawing/2014/main" id="{7C1023B0-F65B-4D31-8B41-B8FC5E24CF02}"/>
              </a:ext>
            </a:extLst>
          </p:cNvPr>
          <p:cNvSpPr>
            <a:spLocks noGrp="1"/>
          </p:cNvSpPr>
          <p:nvPr/>
        </p:nvSpPr>
        <p:spPr>
          <a:xfrm>
            <a:off x="8096250" y="4333875"/>
            <a:ext cx="3333750" cy="904875"/>
          </a:xfrm>
          <a:prstGeom prst="rect">
            <a:avLst/>
          </a:prstGeom>
          <a:noFill/>
          <a:ln w="0">
            <a:noFill/>
          </a:ln>
        </p:spPr>
        <p:txBody>
          <a:bodyPr wrap="square" lIns="0" tIns="0" rIns="0" bIns="0" anchor="t">
            <a:noAutofit/>
          </a:bodyPr>
          <a:lstStyle>
            <a:defPPr>
              <a:defRPr sz="1875" b="0">
                <a:solidFill>
                  <a:srgbClr val="5B6472"/>
                </a:solidFill>
                <a:latin typeface="Arial"/>
                <a:ea typeface="Arial"/>
                <a:cs typeface="Arial"/>
              </a:defRPr>
            </a:defPPr>
            <a:lvl1pPr>
              <a:defRPr sz="1875" b="0">
                <a:solidFill>
                  <a:srgbClr val="5B6472"/>
                </a:solidFill>
                <a:latin typeface="Arial"/>
                <a:ea typeface="Arial"/>
                <a:cs typeface="Arial"/>
              </a:defRPr>
            </a:lvl1pPr>
            <a:lvl2pPr>
              <a:defRPr sz="1875" b="0">
                <a:solidFill>
                  <a:srgbClr val="5B6472"/>
                </a:solidFill>
                <a:latin typeface="Arial"/>
                <a:ea typeface="Arial"/>
                <a:cs typeface="Arial"/>
              </a:defRPr>
            </a:lvl2pPr>
            <a:lvl3pPr>
              <a:defRPr sz="1875" b="0">
                <a:solidFill>
                  <a:srgbClr val="5B6472"/>
                </a:solidFill>
                <a:latin typeface="Arial"/>
                <a:ea typeface="Arial"/>
                <a:cs typeface="Arial"/>
              </a:defRPr>
            </a:lvl3pPr>
            <a:lvl4pPr>
              <a:defRPr sz="1875" b="0">
                <a:solidFill>
                  <a:srgbClr val="5B6472"/>
                </a:solidFill>
                <a:latin typeface="Arial"/>
                <a:ea typeface="Arial"/>
                <a:cs typeface="Arial"/>
              </a:defRPr>
            </a:lvl4pPr>
            <a:lvl5pPr>
              <a:defRPr sz="1875" b="0">
                <a:solidFill>
                  <a:srgbClr val="5B6472"/>
                </a:solidFill>
                <a:latin typeface="Arial"/>
                <a:ea typeface="Arial"/>
                <a:cs typeface="Arial"/>
              </a:defRPr>
            </a:lvl5pPr>
            <a:lvl6pPr>
              <a:defRPr sz="1875" b="0">
                <a:solidFill>
                  <a:srgbClr val="5B6472"/>
                </a:solidFill>
                <a:latin typeface="Arial"/>
                <a:ea typeface="Arial"/>
                <a:cs typeface="Arial"/>
              </a:defRPr>
            </a:lvl6pPr>
            <a:lvl7pPr>
              <a:defRPr sz="1875" b="0">
                <a:solidFill>
                  <a:srgbClr val="5B6472"/>
                </a:solidFill>
                <a:latin typeface="Arial"/>
                <a:ea typeface="Arial"/>
                <a:cs typeface="Arial"/>
              </a:defRPr>
            </a:lvl7pPr>
            <a:lvl8pPr>
              <a:defRPr sz="1875" b="0">
                <a:solidFill>
                  <a:srgbClr val="5B6472"/>
                </a:solidFill>
                <a:latin typeface="Arial"/>
                <a:ea typeface="Arial"/>
                <a:cs typeface="Arial"/>
              </a:defRPr>
            </a:lvl8pPr>
            <a:lvl9pPr>
              <a:defRPr sz="1875" b="0">
                <a:solidFill>
                  <a:srgbClr val="5B6472"/>
                </a:solidFill>
                <a:latin typeface="Arial"/>
                <a:ea typeface="Arial"/>
                <a:cs typeface="Arial"/>
              </a:defRPr>
            </a:lvl9pPr>
          </a:lstStyle>
          <a:p>
            <a:pPr>
              <a:defRPr sz="1875" b="0">
                <a:solidFill>
                  <a:srgbClr val="5B6472"/>
                </a:solidFill>
                <a:latin typeface="Arial"/>
                <a:ea typeface="Arial"/>
                <a:cs typeface="Arial"/>
              </a:defRPr>
            </a:pPr>
            <a:r>
              <a:rPr sz="1875" b="0">
                <a:solidFill>
                  <a:srgbClr val="5B6472"/>
                </a:solidFill>
                <a:latin typeface="Arial"/>
                <a:ea typeface="Arial"/>
                <a:cs typeface="Arial"/>
              </a:rPr>
              <a:t>SE adds ~1.3% latency</a:t>
            </a:r>
          </a:p>
          <a:p>
            <a:pPr>
              <a:defRPr sz="1875" b="0">
                <a:solidFill>
                  <a:srgbClr val="5B6472"/>
                </a:solidFill>
                <a:latin typeface="Arial"/>
                <a:ea typeface="Arial"/>
                <a:cs typeface="Arial"/>
              </a:defRPr>
            </a:pPr>
            <a:r>
              <a:rPr sz="1875" b="0">
                <a:solidFill>
                  <a:srgbClr val="5B6472"/>
                </a:solidFill>
                <a:latin typeface="Arial"/>
                <a:ea typeface="Arial"/>
                <a:cs typeface="Arial"/>
              </a:rPr>
              <a:t>with a smaller mean AP gain.</a:t>
            </a:r>
          </a:p>
        </p:txBody>
      </p:sp>
      <p:sp>
        <p:nvSpPr>
          <p:cNvPr id="9" name="RTX 2050, FP32, batch 1. Forward-only ti">
            <a:extLst>
              <a:ext uri="{FF2B5EF4-FFF2-40B4-BE49-F238E27FC236}">
                <a16:creationId xmlns:a16="http://schemas.microsoft.com/office/drawing/2014/main" id="{C2FFEF6C-3560-4695-81EC-2905D91487A1}"/>
              </a:ext>
            </a:extLst>
          </p:cNvPr>
          <p:cNvSpPr>
            <a:spLocks noGrp="1"/>
          </p:cNvSpPr>
          <p:nvPr/>
        </p:nvSpPr>
        <p:spPr>
          <a:xfrm>
            <a:off x="609600" y="5810250"/>
            <a:ext cx="10953750" cy="428625"/>
          </a:xfrm>
          <a:prstGeom prst="rect">
            <a:avLst/>
          </a:prstGeom>
          <a:noFill/>
          <a:ln w="0">
            <a:noFill/>
          </a:ln>
        </p:spPr>
        <p:txBody>
          <a:bodyPr wrap="square" lIns="0" tIns="0" rIns="0" bIns="0" anchor="t">
            <a:noAutofit/>
          </a:bodyPr>
          <a:lstStyle>
            <a:defPPr>
              <a:defRPr sz="1575" b="0">
                <a:solidFill>
                  <a:srgbClr val="5B6472"/>
                </a:solidFill>
                <a:latin typeface="Arial"/>
                <a:ea typeface="Arial"/>
                <a:cs typeface="Arial"/>
              </a:defRPr>
            </a:defPPr>
            <a:lvl1pPr>
              <a:defRPr sz="1575" b="0">
                <a:solidFill>
                  <a:srgbClr val="5B6472"/>
                </a:solidFill>
                <a:latin typeface="Arial"/>
                <a:ea typeface="Arial"/>
                <a:cs typeface="Arial"/>
              </a:defRPr>
            </a:lvl1pPr>
            <a:lvl2pPr>
              <a:defRPr sz="1575" b="0">
                <a:solidFill>
                  <a:srgbClr val="5B6472"/>
                </a:solidFill>
                <a:latin typeface="Arial"/>
                <a:ea typeface="Arial"/>
                <a:cs typeface="Arial"/>
              </a:defRPr>
            </a:lvl2pPr>
            <a:lvl3pPr>
              <a:defRPr sz="1575" b="0">
                <a:solidFill>
                  <a:srgbClr val="5B6472"/>
                </a:solidFill>
                <a:latin typeface="Arial"/>
                <a:ea typeface="Arial"/>
                <a:cs typeface="Arial"/>
              </a:defRPr>
            </a:lvl3pPr>
            <a:lvl4pPr>
              <a:defRPr sz="1575" b="0">
                <a:solidFill>
                  <a:srgbClr val="5B6472"/>
                </a:solidFill>
                <a:latin typeface="Arial"/>
                <a:ea typeface="Arial"/>
                <a:cs typeface="Arial"/>
              </a:defRPr>
            </a:lvl4pPr>
            <a:lvl5pPr>
              <a:defRPr sz="1575" b="0">
                <a:solidFill>
                  <a:srgbClr val="5B6472"/>
                </a:solidFill>
                <a:latin typeface="Arial"/>
                <a:ea typeface="Arial"/>
                <a:cs typeface="Arial"/>
              </a:defRPr>
            </a:lvl5pPr>
            <a:lvl6pPr>
              <a:defRPr sz="1575" b="0">
                <a:solidFill>
                  <a:srgbClr val="5B6472"/>
                </a:solidFill>
                <a:latin typeface="Arial"/>
                <a:ea typeface="Arial"/>
                <a:cs typeface="Arial"/>
              </a:defRPr>
            </a:lvl6pPr>
            <a:lvl7pPr>
              <a:defRPr sz="1575" b="0">
                <a:solidFill>
                  <a:srgbClr val="5B6472"/>
                </a:solidFill>
                <a:latin typeface="Arial"/>
                <a:ea typeface="Arial"/>
                <a:cs typeface="Arial"/>
              </a:defRPr>
            </a:lvl7pPr>
            <a:lvl8pPr>
              <a:defRPr sz="1575" b="0">
                <a:solidFill>
                  <a:srgbClr val="5B6472"/>
                </a:solidFill>
                <a:latin typeface="Arial"/>
                <a:ea typeface="Arial"/>
                <a:cs typeface="Arial"/>
              </a:defRPr>
            </a:lvl8pPr>
            <a:lvl9pPr>
              <a:defRPr sz="1575" b="0">
                <a:solidFill>
                  <a:srgbClr val="5B6472"/>
                </a:solidFill>
                <a:latin typeface="Arial"/>
                <a:ea typeface="Arial"/>
                <a:cs typeface="Arial"/>
              </a:defRPr>
            </a:lvl9pPr>
          </a:lstStyle>
          <a:p>
            <a:pPr>
              <a:defRPr sz="1575" b="0">
                <a:solidFill>
                  <a:srgbClr val="5B6472"/>
                </a:solidFill>
                <a:latin typeface="Arial"/>
                <a:ea typeface="Arial"/>
                <a:cs typeface="Arial"/>
              </a:defRPr>
            </a:pPr>
            <a:r>
              <a:rPr sz="1575" b="0">
                <a:solidFill>
                  <a:srgbClr val="5B6472"/>
                </a:solidFill>
                <a:latin typeface="Arial"/>
                <a:ea typeface="Arial"/>
                <a:cs typeface="Arial"/>
              </a:rPr>
              <a:t>RTX 2050, FP32, batch 1. Forward-only timing excludes preprocessing and NMS.</a:t>
            </a:r>
          </a:p>
        </p:txBody>
      </p:sp>
    </p:spTree>
    <p:extLst>
      <p:ext uri="{BB962C8B-B14F-4D97-AF65-F5344CB8AC3E}">
        <p14:creationId xmlns:p14="http://schemas.microsoft.com/office/powerpoint/2010/main" val="286733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APPLE DEFECT DETECTION">
            <a:extLst>
              <a:ext uri="{FF2B5EF4-FFF2-40B4-BE49-F238E27FC236}">
                <a16:creationId xmlns:a16="http://schemas.microsoft.com/office/drawing/2014/main" id="{0510D364-A884-4C2B-B9D1-42D2FAF7454D}"/>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Scratches remain difficult despite the m">
            <a:extLst>
              <a:ext uri="{FF2B5EF4-FFF2-40B4-BE49-F238E27FC236}">
                <a16:creationId xmlns:a16="http://schemas.microsoft.com/office/drawing/2014/main" id="{008F44FB-BBF7-4728-AE11-B635F510B318}"/>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Scratches remain difficult despite the mean gain</a:t>
            </a:r>
          </a:p>
        </p:txBody>
      </p:sp>
      <p:sp>
        <p:nvSpPr>
          <p:cNvPr id="3" name="Ved Waghela">
            <a:extLst>
              <a:ext uri="{FF2B5EF4-FFF2-40B4-BE49-F238E27FC236}">
                <a16:creationId xmlns:a16="http://schemas.microsoft.com/office/drawing/2014/main" id="{5BBED7FC-383F-4856-97EC-8095B33354AC}"/>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Ved Waghela</a:t>
            </a:r>
          </a:p>
        </p:txBody>
      </p:sp>
      <p:sp>
        <p:nvSpPr>
          <p:cNvPr id="4" name="9">
            <a:extLst>
              <a:ext uri="{FF2B5EF4-FFF2-40B4-BE49-F238E27FC236}">
                <a16:creationId xmlns:a16="http://schemas.microsoft.com/office/drawing/2014/main" id="{D29AC1EF-21B9-46A1-B54C-7F124F69B1CD}"/>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9</a:t>
            </a:r>
          </a:p>
        </p:txBody>
      </p:sp>
      <p:pic>
        <p:nvPicPr>
          <p:cNvPr id="5" name="Picture 4">
            <a:extLst>
              <a:ext uri="{FF2B5EF4-FFF2-40B4-BE49-F238E27FC236}">
                <a16:creationId xmlns:a16="http://schemas.microsoft.com/office/drawing/2014/main" id="{A49CF3F0-92B1-4CC4-B868-248E1F079817}"/>
              </a:ext>
            </a:extLst>
          </p:cNvPr>
          <p:cNvPicPr>
            <a:picLocks noChangeAspect="1"/>
          </p:cNvPicPr>
          <p:nvPr/>
        </p:nvPicPr>
        <p:blipFill>
          <a:blip r:embed="rId3"/>
          <a:stretch/>
        </p:blipFill>
        <p:spPr>
          <a:xfrm>
            <a:off x="609600" y="1716942"/>
            <a:ext cx="7810500" cy="3805115"/>
          </a:xfrm>
          <a:prstGeom prst="rect">
            <a:avLst/>
          </a:prstGeom>
        </p:spPr>
      </p:pic>
      <p:sp>
        <p:nvSpPr>
          <p:cNvPr id="6" name="Dataset annotations">
            <a:extLst>
              <a:ext uri="{FF2B5EF4-FFF2-40B4-BE49-F238E27FC236}">
                <a16:creationId xmlns:a16="http://schemas.microsoft.com/office/drawing/2014/main" id="{1608AB57-A10A-4347-8EFA-2EF4A96038D9}"/>
              </a:ext>
            </a:extLst>
          </p:cNvPr>
          <p:cNvSpPr>
            <a:spLocks noGrp="1"/>
          </p:cNvSpPr>
          <p:nvPr/>
        </p:nvSpPr>
        <p:spPr>
          <a:xfrm>
            <a:off x="666750" y="1533525"/>
            <a:ext cx="3429000" cy="314325"/>
          </a:xfrm>
          <a:prstGeom prst="rect">
            <a:avLst/>
          </a:prstGeom>
          <a:noFill/>
          <a:ln w="0">
            <a:noFill/>
          </a:ln>
        </p:spPr>
        <p:txBody>
          <a:bodyPr wrap="square" lIns="0" tIns="0" rIns="0" bIns="0" anchor="t">
            <a:noAutofit/>
          </a:bodyPr>
          <a:lstStyle>
            <a:defPPr>
              <a:defRPr sz="1875" b="1">
                <a:solidFill>
                  <a:srgbClr val="123B63"/>
                </a:solidFill>
                <a:latin typeface="Arial"/>
                <a:ea typeface="Arial"/>
                <a:cs typeface="Arial"/>
              </a:defRPr>
            </a:defPPr>
            <a:lvl1pPr>
              <a:defRPr sz="1875" b="1">
                <a:solidFill>
                  <a:srgbClr val="123B63"/>
                </a:solidFill>
                <a:latin typeface="Arial"/>
                <a:ea typeface="Arial"/>
                <a:cs typeface="Arial"/>
              </a:defRPr>
            </a:lvl1pPr>
            <a:lvl2pPr>
              <a:defRPr sz="1875" b="1">
                <a:solidFill>
                  <a:srgbClr val="123B63"/>
                </a:solidFill>
                <a:latin typeface="Arial"/>
                <a:ea typeface="Arial"/>
                <a:cs typeface="Arial"/>
              </a:defRPr>
            </a:lvl2pPr>
            <a:lvl3pPr>
              <a:defRPr sz="1875" b="1">
                <a:solidFill>
                  <a:srgbClr val="123B63"/>
                </a:solidFill>
                <a:latin typeface="Arial"/>
                <a:ea typeface="Arial"/>
                <a:cs typeface="Arial"/>
              </a:defRPr>
            </a:lvl3pPr>
            <a:lvl4pPr>
              <a:defRPr sz="1875" b="1">
                <a:solidFill>
                  <a:srgbClr val="123B63"/>
                </a:solidFill>
                <a:latin typeface="Arial"/>
                <a:ea typeface="Arial"/>
                <a:cs typeface="Arial"/>
              </a:defRPr>
            </a:lvl4pPr>
            <a:lvl5pPr>
              <a:defRPr sz="1875" b="1">
                <a:solidFill>
                  <a:srgbClr val="123B63"/>
                </a:solidFill>
                <a:latin typeface="Arial"/>
                <a:ea typeface="Arial"/>
                <a:cs typeface="Arial"/>
              </a:defRPr>
            </a:lvl5pPr>
            <a:lvl6pPr>
              <a:defRPr sz="1875" b="1">
                <a:solidFill>
                  <a:srgbClr val="123B63"/>
                </a:solidFill>
                <a:latin typeface="Arial"/>
                <a:ea typeface="Arial"/>
                <a:cs typeface="Arial"/>
              </a:defRPr>
            </a:lvl6pPr>
            <a:lvl7pPr>
              <a:defRPr sz="1875" b="1">
                <a:solidFill>
                  <a:srgbClr val="123B63"/>
                </a:solidFill>
                <a:latin typeface="Arial"/>
                <a:ea typeface="Arial"/>
                <a:cs typeface="Arial"/>
              </a:defRPr>
            </a:lvl7pPr>
            <a:lvl8pPr>
              <a:defRPr sz="1875" b="1">
                <a:solidFill>
                  <a:srgbClr val="123B63"/>
                </a:solidFill>
                <a:latin typeface="Arial"/>
                <a:ea typeface="Arial"/>
                <a:cs typeface="Arial"/>
              </a:defRPr>
            </a:lvl8pPr>
            <a:lvl9pPr>
              <a:defRPr sz="1875" b="1">
                <a:solidFill>
                  <a:srgbClr val="123B63"/>
                </a:solidFill>
                <a:latin typeface="Arial"/>
                <a:ea typeface="Arial"/>
                <a:cs typeface="Arial"/>
              </a:defRPr>
            </a:lvl9pPr>
          </a:lstStyle>
          <a:p>
            <a:pPr>
              <a:defRPr sz="1875" b="1">
                <a:solidFill>
                  <a:srgbClr val="123B63"/>
                </a:solidFill>
                <a:latin typeface="Arial"/>
                <a:ea typeface="Arial"/>
                <a:cs typeface="Arial"/>
              </a:defRPr>
            </a:pPr>
            <a:r>
              <a:rPr sz="1875" b="1">
                <a:solidFill>
                  <a:srgbClr val="123B63"/>
                </a:solidFill>
                <a:latin typeface="Arial"/>
                <a:ea typeface="Arial"/>
                <a:cs typeface="Arial"/>
              </a:rPr>
              <a:t>Dataset annotations</a:t>
            </a:r>
          </a:p>
        </p:txBody>
      </p:sp>
      <p:sp>
        <p:nvSpPr>
          <p:cNvPr id="7" name="CBAM predictions">
            <a:extLst>
              <a:ext uri="{FF2B5EF4-FFF2-40B4-BE49-F238E27FC236}">
                <a16:creationId xmlns:a16="http://schemas.microsoft.com/office/drawing/2014/main" id="{855E7D5B-EBF6-410C-B88D-F0F2BE7F8025}"/>
              </a:ext>
            </a:extLst>
          </p:cNvPr>
          <p:cNvSpPr>
            <a:spLocks noGrp="1"/>
          </p:cNvSpPr>
          <p:nvPr/>
        </p:nvSpPr>
        <p:spPr>
          <a:xfrm>
            <a:off x="4572000" y="1533525"/>
            <a:ext cx="3619500" cy="314325"/>
          </a:xfrm>
          <a:prstGeom prst="rect">
            <a:avLst/>
          </a:prstGeom>
          <a:noFill/>
          <a:ln w="0">
            <a:noFill/>
          </a:ln>
        </p:spPr>
        <p:txBody>
          <a:bodyPr wrap="square" lIns="0" tIns="0" rIns="0" bIns="0" anchor="t">
            <a:noAutofit/>
          </a:bodyPr>
          <a:lstStyle>
            <a:defPPr>
              <a:defRPr sz="1875" b="1">
                <a:solidFill>
                  <a:srgbClr val="123B63"/>
                </a:solidFill>
                <a:latin typeface="Arial"/>
                <a:ea typeface="Arial"/>
                <a:cs typeface="Arial"/>
              </a:defRPr>
            </a:defPPr>
            <a:lvl1pPr>
              <a:defRPr sz="1875" b="1">
                <a:solidFill>
                  <a:srgbClr val="123B63"/>
                </a:solidFill>
                <a:latin typeface="Arial"/>
                <a:ea typeface="Arial"/>
                <a:cs typeface="Arial"/>
              </a:defRPr>
            </a:lvl1pPr>
            <a:lvl2pPr>
              <a:defRPr sz="1875" b="1">
                <a:solidFill>
                  <a:srgbClr val="123B63"/>
                </a:solidFill>
                <a:latin typeface="Arial"/>
                <a:ea typeface="Arial"/>
                <a:cs typeface="Arial"/>
              </a:defRPr>
            </a:lvl2pPr>
            <a:lvl3pPr>
              <a:defRPr sz="1875" b="1">
                <a:solidFill>
                  <a:srgbClr val="123B63"/>
                </a:solidFill>
                <a:latin typeface="Arial"/>
                <a:ea typeface="Arial"/>
                <a:cs typeface="Arial"/>
              </a:defRPr>
            </a:lvl3pPr>
            <a:lvl4pPr>
              <a:defRPr sz="1875" b="1">
                <a:solidFill>
                  <a:srgbClr val="123B63"/>
                </a:solidFill>
                <a:latin typeface="Arial"/>
                <a:ea typeface="Arial"/>
                <a:cs typeface="Arial"/>
              </a:defRPr>
            </a:lvl4pPr>
            <a:lvl5pPr>
              <a:defRPr sz="1875" b="1">
                <a:solidFill>
                  <a:srgbClr val="123B63"/>
                </a:solidFill>
                <a:latin typeface="Arial"/>
                <a:ea typeface="Arial"/>
                <a:cs typeface="Arial"/>
              </a:defRPr>
            </a:lvl5pPr>
            <a:lvl6pPr>
              <a:defRPr sz="1875" b="1">
                <a:solidFill>
                  <a:srgbClr val="123B63"/>
                </a:solidFill>
                <a:latin typeface="Arial"/>
                <a:ea typeface="Arial"/>
                <a:cs typeface="Arial"/>
              </a:defRPr>
            </a:lvl6pPr>
            <a:lvl7pPr>
              <a:defRPr sz="1875" b="1">
                <a:solidFill>
                  <a:srgbClr val="123B63"/>
                </a:solidFill>
                <a:latin typeface="Arial"/>
                <a:ea typeface="Arial"/>
                <a:cs typeface="Arial"/>
              </a:defRPr>
            </a:lvl7pPr>
            <a:lvl8pPr>
              <a:defRPr sz="1875" b="1">
                <a:solidFill>
                  <a:srgbClr val="123B63"/>
                </a:solidFill>
                <a:latin typeface="Arial"/>
                <a:ea typeface="Arial"/>
                <a:cs typeface="Arial"/>
              </a:defRPr>
            </a:lvl8pPr>
            <a:lvl9pPr>
              <a:defRPr sz="1875" b="1">
                <a:solidFill>
                  <a:srgbClr val="123B63"/>
                </a:solidFill>
                <a:latin typeface="Arial"/>
                <a:ea typeface="Arial"/>
                <a:cs typeface="Arial"/>
              </a:defRPr>
            </a:lvl9pPr>
          </a:lstStyle>
          <a:p>
            <a:pPr>
              <a:defRPr sz="1875" b="1">
                <a:solidFill>
                  <a:srgbClr val="123B63"/>
                </a:solidFill>
                <a:latin typeface="Arial"/>
                <a:ea typeface="Arial"/>
                <a:cs typeface="Arial"/>
              </a:defRPr>
            </a:pPr>
            <a:r>
              <a:rPr sz="1875" b="1">
                <a:solidFill>
                  <a:srgbClr val="123B63"/>
                </a:solidFill>
                <a:latin typeface="Arial"/>
                <a:ea typeface="Arial"/>
                <a:cs typeface="Arial"/>
              </a:rPr>
              <a:t>CBAM predictions</a:t>
            </a:r>
          </a:p>
        </p:txBody>
      </p:sp>
      <p:sp>
        <p:nvSpPr>
          <p:cNvPr id="8" name="Upper scratches&#10;missed">
            <a:extLst>
              <a:ext uri="{FF2B5EF4-FFF2-40B4-BE49-F238E27FC236}">
                <a16:creationId xmlns:a16="http://schemas.microsoft.com/office/drawing/2014/main" id="{CC375014-3BDA-407B-BC65-8EBE52E7D02C}"/>
              </a:ext>
            </a:extLst>
          </p:cNvPr>
          <p:cNvSpPr>
            <a:spLocks noGrp="1"/>
          </p:cNvSpPr>
          <p:nvPr/>
        </p:nvSpPr>
        <p:spPr>
          <a:xfrm>
            <a:off x="8763000" y="2076450"/>
            <a:ext cx="2762250" cy="762000"/>
          </a:xfrm>
          <a:prstGeom prst="rect">
            <a:avLst/>
          </a:prstGeom>
          <a:noFill/>
          <a:ln w="0">
            <a:noFill/>
          </a:ln>
        </p:spPr>
        <p:txBody>
          <a:bodyPr wrap="square" lIns="0" tIns="0" rIns="0" bIns="0" anchor="t">
            <a:noAutofit/>
          </a:bodyPr>
          <a:lstStyle>
            <a:defPPr>
              <a:defRPr sz="2100" b="1">
                <a:solidFill>
                  <a:srgbClr val="3D8DFF"/>
                </a:solidFill>
                <a:latin typeface="Arial"/>
                <a:ea typeface="Arial"/>
                <a:cs typeface="Arial"/>
              </a:defRPr>
            </a:defPPr>
            <a:lvl1pPr>
              <a:defRPr sz="2100" b="1">
                <a:solidFill>
                  <a:srgbClr val="3D8DFF"/>
                </a:solidFill>
                <a:latin typeface="Arial"/>
                <a:ea typeface="Arial"/>
                <a:cs typeface="Arial"/>
              </a:defRPr>
            </a:lvl1pPr>
            <a:lvl2pPr>
              <a:defRPr sz="2100" b="1">
                <a:solidFill>
                  <a:srgbClr val="3D8DFF"/>
                </a:solidFill>
                <a:latin typeface="Arial"/>
                <a:ea typeface="Arial"/>
                <a:cs typeface="Arial"/>
              </a:defRPr>
            </a:lvl2pPr>
            <a:lvl3pPr>
              <a:defRPr sz="2100" b="1">
                <a:solidFill>
                  <a:srgbClr val="3D8DFF"/>
                </a:solidFill>
                <a:latin typeface="Arial"/>
                <a:ea typeface="Arial"/>
                <a:cs typeface="Arial"/>
              </a:defRPr>
            </a:lvl3pPr>
            <a:lvl4pPr>
              <a:defRPr sz="2100" b="1">
                <a:solidFill>
                  <a:srgbClr val="3D8DFF"/>
                </a:solidFill>
                <a:latin typeface="Arial"/>
                <a:ea typeface="Arial"/>
                <a:cs typeface="Arial"/>
              </a:defRPr>
            </a:lvl4pPr>
            <a:lvl5pPr>
              <a:defRPr sz="2100" b="1">
                <a:solidFill>
                  <a:srgbClr val="3D8DFF"/>
                </a:solidFill>
                <a:latin typeface="Arial"/>
                <a:ea typeface="Arial"/>
                <a:cs typeface="Arial"/>
              </a:defRPr>
            </a:lvl5pPr>
            <a:lvl6pPr>
              <a:defRPr sz="2100" b="1">
                <a:solidFill>
                  <a:srgbClr val="3D8DFF"/>
                </a:solidFill>
                <a:latin typeface="Arial"/>
                <a:ea typeface="Arial"/>
                <a:cs typeface="Arial"/>
              </a:defRPr>
            </a:lvl6pPr>
            <a:lvl7pPr>
              <a:defRPr sz="2100" b="1">
                <a:solidFill>
                  <a:srgbClr val="3D8DFF"/>
                </a:solidFill>
                <a:latin typeface="Arial"/>
                <a:ea typeface="Arial"/>
                <a:cs typeface="Arial"/>
              </a:defRPr>
            </a:lvl7pPr>
            <a:lvl8pPr>
              <a:defRPr sz="2100" b="1">
                <a:solidFill>
                  <a:srgbClr val="3D8DFF"/>
                </a:solidFill>
                <a:latin typeface="Arial"/>
                <a:ea typeface="Arial"/>
                <a:cs typeface="Arial"/>
              </a:defRPr>
            </a:lvl8pPr>
            <a:lvl9pPr>
              <a:defRPr sz="2100" b="1">
                <a:solidFill>
                  <a:srgbClr val="3D8DFF"/>
                </a:solidFill>
                <a:latin typeface="Arial"/>
                <a:ea typeface="Arial"/>
                <a:cs typeface="Arial"/>
              </a:defRPr>
            </a:lvl9pPr>
          </a:lstStyle>
          <a:p>
            <a:pPr>
              <a:defRPr sz="2100" b="1">
                <a:solidFill>
                  <a:srgbClr val="3D8DFF"/>
                </a:solidFill>
                <a:latin typeface="Arial"/>
                <a:ea typeface="Arial"/>
                <a:cs typeface="Arial"/>
              </a:defRPr>
            </a:pPr>
            <a:r>
              <a:rPr sz="2100" b="1">
                <a:solidFill>
                  <a:srgbClr val="3D8DFF"/>
                </a:solidFill>
                <a:latin typeface="Arial"/>
                <a:ea typeface="Arial"/>
                <a:cs typeface="Arial"/>
              </a:rPr>
              <a:t>Upper scratches</a:t>
            </a:r>
          </a:p>
          <a:p>
            <a:pPr>
              <a:defRPr sz="2100" b="1">
                <a:solidFill>
                  <a:srgbClr val="3D8DFF"/>
                </a:solidFill>
                <a:latin typeface="Arial"/>
                <a:ea typeface="Arial"/>
                <a:cs typeface="Arial"/>
              </a:defRPr>
            </a:pPr>
            <a:r>
              <a:rPr sz="2100" b="1">
                <a:solidFill>
                  <a:srgbClr val="3D8DFF"/>
                </a:solidFill>
                <a:latin typeface="Arial"/>
                <a:ea typeface="Arial"/>
                <a:cs typeface="Arial"/>
              </a:rPr>
              <a:t>missed</a:t>
            </a:r>
          </a:p>
        </p:txBody>
      </p:sp>
      <p:sp>
        <p:nvSpPr>
          <p:cNvPr id="9" name="Lower damage&#10;overlapping boxes">
            <a:extLst>
              <a:ext uri="{FF2B5EF4-FFF2-40B4-BE49-F238E27FC236}">
                <a16:creationId xmlns:a16="http://schemas.microsoft.com/office/drawing/2014/main" id="{E038FBFA-F53D-4A15-9D88-33B4141F8D0F}"/>
              </a:ext>
            </a:extLst>
          </p:cNvPr>
          <p:cNvSpPr>
            <a:spLocks noGrp="1"/>
          </p:cNvSpPr>
          <p:nvPr/>
        </p:nvSpPr>
        <p:spPr>
          <a:xfrm>
            <a:off x="8763000" y="3381375"/>
            <a:ext cx="2762250" cy="857250"/>
          </a:xfrm>
          <a:prstGeom prst="rect">
            <a:avLst/>
          </a:prstGeom>
          <a:noFill/>
          <a:ln w="0">
            <a:noFill/>
          </a:ln>
        </p:spPr>
        <p:txBody>
          <a:bodyPr wrap="square" lIns="0" tIns="0" rIns="0" bIns="0" anchor="t">
            <a:noAutofit/>
          </a:bodyPr>
          <a:lstStyle>
            <a:defPPr>
              <a:defRPr sz="2100" b="1">
                <a:solidFill>
                  <a:srgbClr val="3D8DFF"/>
                </a:solidFill>
                <a:latin typeface="Arial"/>
                <a:ea typeface="Arial"/>
                <a:cs typeface="Arial"/>
              </a:defRPr>
            </a:defPPr>
            <a:lvl1pPr>
              <a:defRPr sz="2100" b="1">
                <a:solidFill>
                  <a:srgbClr val="3D8DFF"/>
                </a:solidFill>
                <a:latin typeface="Arial"/>
                <a:ea typeface="Arial"/>
                <a:cs typeface="Arial"/>
              </a:defRPr>
            </a:lvl1pPr>
            <a:lvl2pPr>
              <a:defRPr sz="2100" b="1">
                <a:solidFill>
                  <a:srgbClr val="3D8DFF"/>
                </a:solidFill>
                <a:latin typeface="Arial"/>
                <a:ea typeface="Arial"/>
                <a:cs typeface="Arial"/>
              </a:defRPr>
            </a:lvl2pPr>
            <a:lvl3pPr>
              <a:defRPr sz="2100" b="1">
                <a:solidFill>
                  <a:srgbClr val="3D8DFF"/>
                </a:solidFill>
                <a:latin typeface="Arial"/>
                <a:ea typeface="Arial"/>
                <a:cs typeface="Arial"/>
              </a:defRPr>
            </a:lvl3pPr>
            <a:lvl4pPr>
              <a:defRPr sz="2100" b="1">
                <a:solidFill>
                  <a:srgbClr val="3D8DFF"/>
                </a:solidFill>
                <a:latin typeface="Arial"/>
                <a:ea typeface="Arial"/>
                <a:cs typeface="Arial"/>
              </a:defRPr>
            </a:lvl4pPr>
            <a:lvl5pPr>
              <a:defRPr sz="2100" b="1">
                <a:solidFill>
                  <a:srgbClr val="3D8DFF"/>
                </a:solidFill>
                <a:latin typeface="Arial"/>
                <a:ea typeface="Arial"/>
                <a:cs typeface="Arial"/>
              </a:defRPr>
            </a:lvl5pPr>
            <a:lvl6pPr>
              <a:defRPr sz="2100" b="1">
                <a:solidFill>
                  <a:srgbClr val="3D8DFF"/>
                </a:solidFill>
                <a:latin typeface="Arial"/>
                <a:ea typeface="Arial"/>
                <a:cs typeface="Arial"/>
              </a:defRPr>
            </a:lvl6pPr>
            <a:lvl7pPr>
              <a:defRPr sz="2100" b="1">
                <a:solidFill>
                  <a:srgbClr val="3D8DFF"/>
                </a:solidFill>
                <a:latin typeface="Arial"/>
                <a:ea typeface="Arial"/>
                <a:cs typeface="Arial"/>
              </a:defRPr>
            </a:lvl7pPr>
            <a:lvl8pPr>
              <a:defRPr sz="2100" b="1">
                <a:solidFill>
                  <a:srgbClr val="3D8DFF"/>
                </a:solidFill>
                <a:latin typeface="Arial"/>
                <a:ea typeface="Arial"/>
                <a:cs typeface="Arial"/>
              </a:defRPr>
            </a:lvl8pPr>
            <a:lvl9pPr>
              <a:defRPr sz="2100" b="1">
                <a:solidFill>
                  <a:srgbClr val="3D8DFF"/>
                </a:solidFill>
                <a:latin typeface="Arial"/>
                <a:ea typeface="Arial"/>
                <a:cs typeface="Arial"/>
              </a:defRPr>
            </a:lvl9pPr>
          </a:lstStyle>
          <a:p>
            <a:pPr>
              <a:defRPr sz="2100" b="1">
                <a:solidFill>
                  <a:srgbClr val="3D8DFF"/>
                </a:solidFill>
                <a:latin typeface="Arial"/>
                <a:ea typeface="Arial"/>
                <a:cs typeface="Arial"/>
              </a:defRPr>
            </a:pPr>
            <a:r>
              <a:rPr sz="2100" b="1">
                <a:solidFill>
                  <a:srgbClr val="3D8DFF"/>
                </a:solidFill>
                <a:latin typeface="Arial"/>
                <a:ea typeface="Arial"/>
                <a:cs typeface="Arial"/>
              </a:rPr>
              <a:t>Lower damage</a:t>
            </a:r>
          </a:p>
          <a:p>
            <a:pPr>
              <a:defRPr sz="2100" b="1">
                <a:solidFill>
                  <a:srgbClr val="3D8DFF"/>
                </a:solidFill>
                <a:latin typeface="Arial"/>
                <a:ea typeface="Arial"/>
                <a:cs typeface="Arial"/>
              </a:defRPr>
            </a:pPr>
            <a:r>
              <a:rPr sz="2100" b="1">
                <a:solidFill>
                  <a:srgbClr val="3D8DFF"/>
                </a:solidFill>
                <a:latin typeface="Arial"/>
                <a:ea typeface="Arial"/>
                <a:cs typeface="Arial"/>
              </a:rPr>
              <a:t>overlapping boxes</a:t>
            </a:r>
          </a:p>
        </p:txBody>
      </p:sp>
      <p:sp>
        <p:nvSpPr>
          <p:cNvPr id="10" name="Class AP50-95&#10;Scratch 32.94%&#10;Pest damage">
            <a:extLst>
              <a:ext uri="{FF2B5EF4-FFF2-40B4-BE49-F238E27FC236}">
                <a16:creationId xmlns:a16="http://schemas.microsoft.com/office/drawing/2014/main" id="{B02E1267-22AA-4073-A9D1-BA9F2444C539}"/>
              </a:ext>
            </a:extLst>
          </p:cNvPr>
          <p:cNvSpPr>
            <a:spLocks noGrp="1"/>
          </p:cNvSpPr>
          <p:nvPr/>
        </p:nvSpPr>
        <p:spPr>
          <a:xfrm>
            <a:off x="8763000" y="4572000"/>
            <a:ext cx="2762250" cy="952500"/>
          </a:xfrm>
          <a:prstGeom prst="rect">
            <a:avLst/>
          </a:prstGeom>
          <a:noFill/>
          <a:ln w="0">
            <a:noFill/>
          </a:ln>
        </p:spPr>
        <p:txBody>
          <a:bodyPr wrap="square" lIns="0" tIns="0" rIns="0" bIns="0" anchor="t">
            <a:noAutofit/>
          </a:bodyPr>
          <a:lstStyle>
            <a:defPPr>
              <a:defRPr sz="1800" b="0">
                <a:solidFill>
                  <a:srgbClr val="111827"/>
                </a:solidFill>
                <a:latin typeface="Arial"/>
                <a:ea typeface="Arial"/>
                <a:cs typeface="Arial"/>
              </a:defRPr>
            </a:defPPr>
            <a:lvl1pPr>
              <a:defRPr sz="1800" b="0">
                <a:solidFill>
                  <a:srgbClr val="111827"/>
                </a:solidFill>
                <a:latin typeface="Arial"/>
                <a:ea typeface="Arial"/>
                <a:cs typeface="Arial"/>
              </a:defRPr>
            </a:lvl1pPr>
            <a:lvl2pPr>
              <a:defRPr sz="1800" b="0">
                <a:solidFill>
                  <a:srgbClr val="111827"/>
                </a:solidFill>
                <a:latin typeface="Arial"/>
                <a:ea typeface="Arial"/>
                <a:cs typeface="Arial"/>
              </a:defRPr>
            </a:lvl2pPr>
            <a:lvl3pPr>
              <a:defRPr sz="1800" b="0">
                <a:solidFill>
                  <a:srgbClr val="111827"/>
                </a:solidFill>
                <a:latin typeface="Arial"/>
                <a:ea typeface="Arial"/>
                <a:cs typeface="Arial"/>
              </a:defRPr>
            </a:lvl3pPr>
            <a:lvl4pPr>
              <a:defRPr sz="1800" b="0">
                <a:solidFill>
                  <a:srgbClr val="111827"/>
                </a:solidFill>
                <a:latin typeface="Arial"/>
                <a:ea typeface="Arial"/>
                <a:cs typeface="Arial"/>
              </a:defRPr>
            </a:lvl4pPr>
            <a:lvl5pPr>
              <a:defRPr sz="1800" b="0">
                <a:solidFill>
                  <a:srgbClr val="111827"/>
                </a:solidFill>
                <a:latin typeface="Arial"/>
                <a:ea typeface="Arial"/>
                <a:cs typeface="Arial"/>
              </a:defRPr>
            </a:lvl5pPr>
            <a:lvl6pPr>
              <a:defRPr sz="1800" b="0">
                <a:solidFill>
                  <a:srgbClr val="111827"/>
                </a:solidFill>
                <a:latin typeface="Arial"/>
                <a:ea typeface="Arial"/>
                <a:cs typeface="Arial"/>
              </a:defRPr>
            </a:lvl6pPr>
            <a:lvl7pPr>
              <a:defRPr sz="1800" b="0">
                <a:solidFill>
                  <a:srgbClr val="111827"/>
                </a:solidFill>
                <a:latin typeface="Arial"/>
                <a:ea typeface="Arial"/>
                <a:cs typeface="Arial"/>
              </a:defRPr>
            </a:lvl7pPr>
            <a:lvl8pPr>
              <a:defRPr sz="1800" b="0">
                <a:solidFill>
                  <a:srgbClr val="111827"/>
                </a:solidFill>
                <a:latin typeface="Arial"/>
                <a:ea typeface="Arial"/>
                <a:cs typeface="Arial"/>
              </a:defRPr>
            </a:lvl8pPr>
            <a:lvl9pPr>
              <a:defRPr sz="1800" b="0">
                <a:solidFill>
                  <a:srgbClr val="111827"/>
                </a:solidFill>
                <a:latin typeface="Arial"/>
                <a:ea typeface="Arial"/>
                <a:cs typeface="Arial"/>
              </a:defRPr>
            </a:lvl9pPr>
          </a:lstStyle>
          <a:p>
            <a:pPr>
              <a:defRPr sz="1800" b="0">
                <a:solidFill>
                  <a:srgbClr val="111827"/>
                </a:solidFill>
                <a:latin typeface="Arial"/>
                <a:ea typeface="Arial"/>
                <a:cs typeface="Arial"/>
              </a:defRPr>
            </a:pPr>
            <a:r>
              <a:rPr sz="1800" b="0">
                <a:solidFill>
                  <a:srgbClr val="111827"/>
                </a:solidFill>
                <a:latin typeface="Arial"/>
                <a:ea typeface="Arial"/>
                <a:cs typeface="Arial"/>
              </a:rPr>
              <a:t>Class AP50-95</a:t>
            </a:r>
          </a:p>
          <a:p>
            <a:pPr>
              <a:defRPr sz="1800" b="0">
                <a:solidFill>
                  <a:srgbClr val="111827"/>
                </a:solidFill>
                <a:latin typeface="Arial"/>
                <a:ea typeface="Arial"/>
                <a:cs typeface="Arial"/>
              </a:defRPr>
            </a:pPr>
            <a:r>
              <a:rPr sz="1800" b="0">
                <a:solidFill>
                  <a:srgbClr val="111827"/>
                </a:solidFill>
                <a:latin typeface="Arial"/>
                <a:ea typeface="Arial"/>
                <a:cs typeface="Arial"/>
              </a:rPr>
              <a:t>Scratch 32.94%</a:t>
            </a:r>
          </a:p>
          <a:p>
            <a:pPr>
              <a:defRPr sz="1800" b="0">
                <a:solidFill>
                  <a:srgbClr val="111827"/>
                </a:solidFill>
                <a:latin typeface="Arial"/>
                <a:ea typeface="Arial"/>
                <a:cs typeface="Arial"/>
              </a:defRPr>
            </a:pPr>
            <a:r>
              <a:rPr sz="1800" b="0">
                <a:solidFill>
                  <a:srgbClr val="111827"/>
                </a:solidFill>
                <a:latin typeface="Arial"/>
                <a:ea typeface="Arial"/>
                <a:cs typeface="Arial"/>
              </a:rPr>
              <a:t>Pest damage 51.28%</a:t>
            </a:r>
          </a:p>
        </p:txBody>
      </p:sp>
      <p:cxnSp>
        <p:nvCxnSpPr>
          <p:cNvPr id="11" name="Straight Arrow Connector 10">
            <a:extLst>
              <a:ext uri="{FF2B5EF4-FFF2-40B4-BE49-F238E27FC236}">
                <a16:creationId xmlns:a16="http://schemas.microsoft.com/office/drawing/2014/main" id="{14453729-28FE-4343-BF26-4159E4440DA0}"/>
              </a:ext>
            </a:extLst>
          </p:cNvPr>
          <p:cNvCxnSpPr/>
          <p:nvPr/>
        </p:nvCxnSpPr>
        <p:spPr>
          <a:xfrm>
            <a:off x="5905500" y="2381250"/>
            <a:ext cx="2667000" cy="190500"/>
          </a:xfrm>
          <a:prstGeom prst="straightConnector1">
            <a:avLst/>
          </a:prstGeom>
          <a:ln w="19050">
            <a:solidFill>
              <a:srgbClr val="3D8DFF"/>
            </a:solidFill>
            <a:headEnd type="triangle" w="med" len="med"/>
          </a:ln>
        </p:spPr>
      </p:cxnSp>
      <p:cxnSp>
        <p:nvCxnSpPr>
          <p:cNvPr id="12" name="Straight Arrow Connector 11">
            <a:extLst>
              <a:ext uri="{FF2B5EF4-FFF2-40B4-BE49-F238E27FC236}">
                <a16:creationId xmlns:a16="http://schemas.microsoft.com/office/drawing/2014/main" id="{25F91760-59BF-49AC-9386-B96B1193B0A4}"/>
              </a:ext>
            </a:extLst>
          </p:cNvPr>
          <p:cNvCxnSpPr/>
          <p:nvPr/>
        </p:nvCxnSpPr>
        <p:spPr>
          <a:xfrm>
            <a:off x="6286500" y="4524375"/>
            <a:ext cx="2286000" cy="0"/>
          </a:xfrm>
          <a:prstGeom prst="straightConnector1">
            <a:avLst/>
          </a:prstGeom>
          <a:ln w="19050">
            <a:solidFill>
              <a:srgbClr val="3D8DFF"/>
            </a:solidFill>
            <a:headEnd type="triangle" w="med" len="med"/>
          </a:ln>
        </p:spPr>
      </p:cxnSp>
      <p:sp>
        <p:nvSpPr>
          <p:cNvPr id="13" name="Missed upper scratches and overlapping l">
            <a:extLst>
              <a:ext uri="{FF2B5EF4-FFF2-40B4-BE49-F238E27FC236}">
                <a16:creationId xmlns:a16="http://schemas.microsoft.com/office/drawing/2014/main" id="{8D6DB5D3-4795-4BF5-8AD1-8BF03645F154}"/>
              </a:ext>
            </a:extLst>
          </p:cNvPr>
          <p:cNvSpPr>
            <a:spLocks noGrp="1"/>
          </p:cNvSpPr>
          <p:nvPr/>
        </p:nvSpPr>
        <p:spPr>
          <a:xfrm>
            <a:off x="609600" y="5619750"/>
            <a:ext cx="10953750" cy="381000"/>
          </a:xfrm>
          <a:prstGeom prst="rect">
            <a:avLst/>
          </a:prstGeom>
          <a:noFill/>
          <a:ln w="0">
            <a:noFill/>
          </a:ln>
        </p:spPr>
        <p:txBody>
          <a:bodyPr wrap="square" lIns="0" tIns="0" rIns="0" bIns="0" anchor="t">
            <a:noAutofit/>
          </a:bodyPr>
          <a:lstStyle>
            <a:defPPr>
              <a:defRPr sz="2100" b="1">
                <a:solidFill>
                  <a:srgbClr val="111827"/>
                </a:solidFill>
                <a:latin typeface="Arial"/>
                <a:ea typeface="Arial"/>
                <a:cs typeface="Arial"/>
              </a:defRPr>
            </a:defPPr>
            <a:lvl1pPr>
              <a:defRPr sz="2100" b="1">
                <a:solidFill>
                  <a:srgbClr val="111827"/>
                </a:solidFill>
                <a:latin typeface="Arial"/>
                <a:ea typeface="Arial"/>
                <a:cs typeface="Arial"/>
              </a:defRPr>
            </a:lvl1pPr>
            <a:lvl2pPr>
              <a:defRPr sz="2100" b="1">
                <a:solidFill>
                  <a:srgbClr val="111827"/>
                </a:solidFill>
                <a:latin typeface="Arial"/>
                <a:ea typeface="Arial"/>
                <a:cs typeface="Arial"/>
              </a:defRPr>
            </a:lvl2pPr>
            <a:lvl3pPr>
              <a:defRPr sz="2100" b="1">
                <a:solidFill>
                  <a:srgbClr val="111827"/>
                </a:solidFill>
                <a:latin typeface="Arial"/>
                <a:ea typeface="Arial"/>
                <a:cs typeface="Arial"/>
              </a:defRPr>
            </a:lvl3pPr>
            <a:lvl4pPr>
              <a:defRPr sz="2100" b="1">
                <a:solidFill>
                  <a:srgbClr val="111827"/>
                </a:solidFill>
                <a:latin typeface="Arial"/>
                <a:ea typeface="Arial"/>
                <a:cs typeface="Arial"/>
              </a:defRPr>
            </a:lvl4pPr>
            <a:lvl5pPr>
              <a:defRPr sz="2100" b="1">
                <a:solidFill>
                  <a:srgbClr val="111827"/>
                </a:solidFill>
                <a:latin typeface="Arial"/>
                <a:ea typeface="Arial"/>
                <a:cs typeface="Arial"/>
              </a:defRPr>
            </a:lvl5pPr>
            <a:lvl6pPr>
              <a:defRPr sz="2100" b="1">
                <a:solidFill>
                  <a:srgbClr val="111827"/>
                </a:solidFill>
                <a:latin typeface="Arial"/>
                <a:ea typeface="Arial"/>
                <a:cs typeface="Arial"/>
              </a:defRPr>
            </a:lvl6pPr>
            <a:lvl7pPr>
              <a:defRPr sz="2100" b="1">
                <a:solidFill>
                  <a:srgbClr val="111827"/>
                </a:solidFill>
                <a:latin typeface="Arial"/>
                <a:ea typeface="Arial"/>
                <a:cs typeface="Arial"/>
              </a:defRPr>
            </a:lvl7pPr>
            <a:lvl8pPr>
              <a:defRPr sz="2100" b="1">
                <a:solidFill>
                  <a:srgbClr val="111827"/>
                </a:solidFill>
                <a:latin typeface="Arial"/>
                <a:ea typeface="Arial"/>
                <a:cs typeface="Arial"/>
              </a:defRPr>
            </a:lvl8pPr>
            <a:lvl9pPr>
              <a:defRPr sz="2100" b="1">
                <a:solidFill>
                  <a:srgbClr val="111827"/>
                </a:solidFill>
                <a:latin typeface="Arial"/>
                <a:ea typeface="Arial"/>
                <a:cs typeface="Arial"/>
              </a:defRPr>
            </a:lvl9pPr>
          </a:lstStyle>
          <a:p>
            <a:pPr>
              <a:defRPr sz="2100" b="1">
                <a:solidFill>
                  <a:srgbClr val="111827"/>
                </a:solidFill>
                <a:latin typeface="Arial"/>
                <a:ea typeface="Arial"/>
                <a:cs typeface="Arial"/>
              </a:defRPr>
            </a:pPr>
            <a:r>
              <a:rPr sz="2100" b="1">
                <a:solidFill>
                  <a:srgbClr val="111827"/>
                </a:solidFill>
                <a:latin typeface="Arial"/>
                <a:ea typeface="Arial"/>
                <a:cs typeface="Arial"/>
              </a:rPr>
              <a:t>Missed upper scratches and overlapping lower boxes remain.</a:t>
            </a:r>
          </a:p>
        </p:txBody>
      </p:sp>
      <p:sp>
        <p:nvSpPr>
          <p:cNvPr id="14" name="Fixed test example [3]. CBAM seed 42, co">
            <a:extLst>
              <a:ext uri="{FF2B5EF4-FFF2-40B4-BE49-F238E27FC236}">
                <a16:creationId xmlns:a16="http://schemas.microsoft.com/office/drawing/2014/main" id="{C4CCDB04-7A45-4C84-AC28-727CBD8B4F90}"/>
              </a:ext>
            </a:extLst>
          </p:cNvPr>
          <p:cNvSpPr>
            <a:spLocks noGrp="1"/>
          </p:cNvSpPr>
          <p:nvPr/>
        </p:nvSpPr>
        <p:spPr>
          <a:xfrm>
            <a:off x="609600" y="6067425"/>
            <a:ext cx="10953750" cy="257175"/>
          </a:xfrm>
          <a:prstGeom prst="rect">
            <a:avLst/>
          </a:prstGeom>
          <a:noFill/>
          <a:ln w="0">
            <a:noFill/>
          </a:ln>
        </p:spPr>
        <p:txBody>
          <a:bodyPr wrap="square" lIns="0" tIns="0" rIns="0" bIns="0" anchor="t">
            <a:noAutofit/>
          </a:bodyPr>
          <a:lstStyle>
            <a:defPPr>
              <a:defRPr sz="1350" b="0">
                <a:solidFill>
                  <a:srgbClr val="5B6472"/>
                </a:solidFill>
                <a:latin typeface="Arial"/>
                <a:ea typeface="Arial"/>
                <a:cs typeface="Arial"/>
              </a:defRPr>
            </a:defPPr>
            <a:lvl1pPr>
              <a:defRPr sz="1350" b="0">
                <a:solidFill>
                  <a:srgbClr val="5B6472"/>
                </a:solidFill>
                <a:latin typeface="Arial"/>
                <a:ea typeface="Arial"/>
                <a:cs typeface="Arial"/>
              </a:defRPr>
            </a:lvl1pPr>
            <a:lvl2pPr>
              <a:defRPr sz="1350" b="0">
                <a:solidFill>
                  <a:srgbClr val="5B6472"/>
                </a:solidFill>
                <a:latin typeface="Arial"/>
                <a:ea typeface="Arial"/>
                <a:cs typeface="Arial"/>
              </a:defRPr>
            </a:lvl2pPr>
            <a:lvl3pPr>
              <a:defRPr sz="1350" b="0">
                <a:solidFill>
                  <a:srgbClr val="5B6472"/>
                </a:solidFill>
                <a:latin typeface="Arial"/>
                <a:ea typeface="Arial"/>
                <a:cs typeface="Arial"/>
              </a:defRPr>
            </a:lvl3pPr>
            <a:lvl4pPr>
              <a:defRPr sz="1350" b="0">
                <a:solidFill>
                  <a:srgbClr val="5B6472"/>
                </a:solidFill>
                <a:latin typeface="Arial"/>
                <a:ea typeface="Arial"/>
                <a:cs typeface="Arial"/>
              </a:defRPr>
            </a:lvl4pPr>
            <a:lvl5pPr>
              <a:defRPr sz="1350" b="0">
                <a:solidFill>
                  <a:srgbClr val="5B6472"/>
                </a:solidFill>
                <a:latin typeface="Arial"/>
                <a:ea typeface="Arial"/>
                <a:cs typeface="Arial"/>
              </a:defRPr>
            </a:lvl5pPr>
            <a:lvl6pPr>
              <a:defRPr sz="1350" b="0">
                <a:solidFill>
                  <a:srgbClr val="5B6472"/>
                </a:solidFill>
                <a:latin typeface="Arial"/>
                <a:ea typeface="Arial"/>
                <a:cs typeface="Arial"/>
              </a:defRPr>
            </a:lvl6pPr>
            <a:lvl7pPr>
              <a:defRPr sz="1350" b="0">
                <a:solidFill>
                  <a:srgbClr val="5B6472"/>
                </a:solidFill>
                <a:latin typeface="Arial"/>
                <a:ea typeface="Arial"/>
                <a:cs typeface="Arial"/>
              </a:defRPr>
            </a:lvl7pPr>
            <a:lvl8pPr>
              <a:defRPr sz="1350" b="0">
                <a:solidFill>
                  <a:srgbClr val="5B6472"/>
                </a:solidFill>
                <a:latin typeface="Arial"/>
                <a:ea typeface="Arial"/>
                <a:cs typeface="Arial"/>
              </a:defRPr>
            </a:lvl8pPr>
            <a:lvl9pPr>
              <a:defRPr sz="1350" b="0">
                <a:solidFill>
                  <a:srgbClr val="5B6472"/>
                </a:solidFill>
                <a:latin typeface="Arial"/>
                <a:ea typeface="Arial"/>
                <a:cs typeface="Arial"/>
              </a:defRPr>
            </a:lvl9pPr>
          </a:lstStyle>
          <a:p>
            <a:pPr>
              <a:defRPr sz="1350" b="0">
                <a:solidFill>
                  <a:srgbClr val="5B6472"/>
                </a:solidFill>
                <a:latin typeface="Arial"/>
                <a:ea typeface="Arial"/>
                <a:cs typeface="Arial"/>
              </a:defRPr>
            </a:pPr>
            <a:r>
              <a:rPr sz="1350" b="0">
                <a:solidFill>
                  <a:srgbClr val="5B6472"/>
                </a:solidFill>
                <a:latin typeface="Arial"/>
                <a:ea typeface="Arial"/>
                <a:cs typeface="Arial"/>
              </a:rPr>
              <a:t>Fixed test example [3]. CBAM seed 42, confidence 0.25. Class scores are three-seed means.</a:t>
            </a:r>
          </a:p>
        </p:txBody>
      </p:sp>
    </p:spTree>
    <p:extLst>
      <p:ext uri="{BB962C8B-B14F-4D97-AF65-F5344CB8AC3E}">
        <p14:creationId xmlns:p14="http://schemas.microsoft.com/office/powerpoint/2010/main" val="993673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APPLE DEFECT DETECTION">
            <a:extLst>
              <a:ext uri="{FF2B5EF4-FFF2-40B4-BE49-F238E27FC236}">
                <a16:creationId xmlns:a16="http://schemas.microsoft.com/office/drawing/2014/main" id="{848D9ECF-A7A3-46FB-96D0-27DA39F39AB1}"/>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A conditional benefit from CBAM attentio">
            <a:extLst>
              <a:ext uri="{FF2B5EF4-FFF2-40B4-BE49-F238E27FC236}">
                <a16:creationId xmlns:a16="http://schemas.microsoft.com/office/drawing/2014/main" id="{6F7F0394-F4A9-4792-ADDE-989F50324337}"/>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A conditional benefit from CBAM attention</a:t>
            </a:r>
          </a:p>
        </p:txBody>
      </p:sp>
      <p:sp>
        <p:nvSpPr>
          <p:cNvPr id="3" name="Ved Waghela">
            <a:extLst>
              <a:ext uri="{FF2B5EF4-FFF2-40B4-BE49-F238E27FC236}">
                <a16:creationId xmlns:a16="http://schemas.microsoft.com/office/drawing/2014/main" id="{DEF132E0-7007-4C38-9CC7-E36FB6E9684D}"/>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Ved Waghela</a:t>
            </a:r>
          </a:p>
        </p:txBody>
      </p:sp>
      <p:sp>
        <p:nvSpPr>
          <p:cNvPr id="4" name="10">
            <a:extLst>
              <a:ext uri="{FF2B5EF4-FFF2-40B4-BE49-F238E27FC236}">
                <a16:creationId xmlns:a16="http://schemas.microsoft.com/office/drawing/2014/main" id="{FC352CC3-86CF-4E81-A9D5-4E5A1F92FAB9}"/>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10</a:t>
            </a:r>
          </a:p>
        </p:txBody>
      </p:sp>
      <p:sp>
        <p:nvSpPr>
          <p:cNvPr id="5" name="Best mean primary score in our setting">
            <a:extLst>
              <a:ext uri="{FF2B5EF4-FFF2-40B4-BE49-F238E27FC236}">
                <a16:creationId xmlns:a16="http://schemas.microsoft.com/office/drawing/2014/main" id="{821D196A-BC1F-4028-8728-823D4C45EE4E}"/>
              </a:ext>
            </a:extLst>
          </p:cNvPr>
          <p:cNvSpPr>
            <a:spLocks noGrp="1"/>
          </p:cNvSpPr>
          <p:nvPr/>
        </p:nvSpPr>
        <p:spPr>
          <a:xfrm>
            <a:off x="609600" y="1905000"/>
            <a:ext cx="10953750" cy="523875"/>
          </a:xfrm>
          <a:prstGeom prst="rect">
            <a:avLst/>
          </a:prstGeom>
          <a:noFill/>
          <a:ln w="0">
            <a:noFill/>
          </a:ln>
        </p:spPr>
        <p:txBody>
          <a:bodyPr wrap="square" lIns="0" tIns="0" rIns="0" bIns="0" anchor="t">
            <a:noAutofit/>
          </a:bodyPr>
          <a:lstStyle>
            <a:defPPr>
              <a:defRPr sz="2850" b="1">
                <a:solidFill>
                  <a:srgbClr val="3D8DFF"/>
                </a:solidFill>
                <a:latin typeface="Arial"/>
                <a:ea typeface="Arial"/>
                <a:cs typeface="Arial"/>
              </a:defRPr>
            </a:defPPr>
            <a:lvl1pPr>
              <a:defRPr sz="2850" b="1">
                <a:solidFill>
                  <a:srgbClr val="3D8DFF"/>
                </a:solidFill>
                <a:latin typeface="Arial"/>
                <a:ea typeface="Arial"/>
                <a:cs typeface="Arial"/>
              </a:defRPr>
            </a:lvl1pPr>
            <a:lvl2pPr>
              <a:defRPr sz="2850" b="1">
                <a:solidFill>
                  <a:srgbClr val="3D8DFF"/>
                </a:solidFill>
                <a:latin typeface="Arial"/>
                <a:ea typeface="Arial"/>
                <a:cs typeface="Arial"/>
              </a:defRPr>
            </a:lvl2pPr>
            <a:lvl3pPr>
              <a:defRPr sz="2850" b="1">
                <a:solidFill>
                  <a:srgbClr val="3D8DFF"/>
                </a:solidFill>
                <a:latin typeface="Arial"/>
                <a:ea typeface="Arial"/>
                <a:cs typeface="Arial"/>
              </a:defRPr>
            </a:lvl3pPr>
            <a:lvl4pPr>
              <a:defRPr sz="2850" b="1">
                <a:solidFill>
                  <a:srgbClr val="3D8DFF"/>
                </a:solidFill>
                <a:latin typeface="Arial"/>
                <a:ea typeface="Arial"/>
                <a:cs typeface="Arial"/>
              </a:defRPr>
            </a:lvl4pPr>
            <a:lvl5pPr>
              <a:defRPr sz="2850" b="1">
                <a:solidFill>
                  <a:srgbClr val="3D8DFF"/>
                </a:solidFill>
                <a:latin typeface="Arial"/>
                <a:ea typeface="Arial"/>
                <a:cs typeface="Arial"/>
              </a:defRPr>
            </a:lvl5pPr>
            <a:lvl6pPr>
              <a:defRPr sz="2850" b="1">
                <a:solidFill>
                  <a:srgbClr val="3D8DFF"/>
                </a:solidFill>
                <a:latin typeface="Arial"/>
                <a:ea typeface="Arial"/>
                <a:cs typeface="Arial"/>
              </a:defRPr>
            </a:lvl6pPr>
            <a:lvl7pPr>
              <a:defRPr sz="2850" b="1">
                <a:solidFill>
                  <a:srgbClr val="3D8DFF"/>
                </a:solidFill>
                <a:latin typeface="Arial"/>
                <a:ea typeface="Arial"/>
                <a:cs typeface="Arial"/>
              </a:defRPr>
            </a:lvl7pPr>
            <a:lvl8pPr>
              <a:defRPr sz="2850" b="1">
                <a:solidFill>
                  <a:srgbClr val="3D8DFF"/>
                </a:solidFill>
                <a:latin typeface="Arial"/>
                <a:ea typeface="Arial"/>
                <a:cs typeface="Arial"/>
              </a:defRPr>
            </a:lvl8pPr>
            <a:lvl9pPr>
              <a:defRPr sz="2850" b="1">
                <a:solidFill>
                  <a:srgbClr val="3D8DFF"/>
                </a:solidFill>
                <a:latin typeface="Arial"/>
                <a:ea typeface="Arial"/>
                <a:cs typeface="Arial"/>
              </a:defRPr>
            </a:lvl9pPr>
          </a:lstStyle>
          <a:p>
            <a:pPr>
              <a:defRPr sz="2850" b="1">
                <a:solidFill>
                  <a:srgbClr val="3D8DFF"/>
                </a:solidFill>
                <a:latin typeface="Arial"/>
                <a:ea typeface="Arial"/>
                <a:cs typeface="Arial"/>
              </a:defRPr>
            </a:pPr>
            <a:r>
              <a:rPr sz="2850" b="1">
                <a:solidFill>
                  <a:srgbClr val="3D8DFF"/>
                </a:solidFill>
                <a:latin typeface="Arial"/>
                <a:ea typeface="Arial"/>
                <a:cs typeface="Arial"/>
              </a:rPr>
              <a:t>Best mean primary score in our setting</a:t>
            </a:r>
          </a:p>
        </p:txBody>
      </p:sp>
      <p:sp>
        <p:nvSpPr>
          <p:cNvPr id="6" name="+1.41 percentage points at approximately">
            <a:extLst>
              <a:ext uri="{FF2B5EF4-FFF2-40B4-BE49-F238E27FC236}">
                <a16:creationId xmlns:a16="http://schemas.microsoft.com/office/drawing/2014/main" id="{04B6A8E7-56DE-465C-889C-E17964C48AEE}"/>
              </a:ext>
            </a:extLst>
          </p:cNvPr>
          <p:cNvSpPr>
            <a:spLocks noGrp="1"/>
          </p:cNvSpPr>
          <p:nvPr/>
        </p:nvSpPr>
        <p:spPr>
          <a:xfrm>
            <a:off x="609600" y="2619375"/>
            <a:ext cx="10953750" cy="666750"/>
          </a:xfrm>
          <a:prstGeom prst="rect">
            <a:avLst/>
          </a:prstGeom>
          <a:noFill/>
          <a:ln w="0">
            <a:noFill/>
          </a:ln>
        </p:spPr>
        <p:txBody>
          <a:bodyPr wrap="square" lIns="0" tIns="0" rIns="0" bIns="0" anchor="t">
            <a:noAutofit/>
          </a:bodyPr>
          <a:lstStyle>
            <a:defPPr>
              <a:defRPr sz="2175" b="0">
                <a:solidFill>
                  <a:srgbClr val="111827"/>
                </a:solidFill>
                <a:latin typeface="Arial"/>
                <a:ea typeface="Arial"/>
                <a:cs typeface="Arial"/>
              </a:defRPr>
            </a:defPPr>
            <a:lvl1pPr>
              <a:defRPr sz="2175" b="0">
                <a:solidFill>
                  <a:srgbClr val="111827"/>
                </a:solidFill>
                <a:latin typeface="Arial"/>
                <a:ea typeface="Arial"/>
                <a:cs typeface="Arial"/>
              </a:defRPr>
            </a:lvl1pPr>
            <a:lvl2pPr>
              <a:defRPr sz="2175" b="0">
                <a:solidFill>
                  <a:srgbClr val="111827"/>
                </a:solidFill>
                <a:latin typeface="Arial"/>
                <a:ea typeface="Arial"/>
                <a:cs typeface="Arial"/>
              </a:defRPr>
            </a:lvl2pPr>
            <a:lvl3pPr>
              <a:defRPr sz="2175" b="0">
                <a:solidFill>
                  <a:srgbClr val="111827"/>
                </a:solidFill>
                <a:latin typeface="Arial"/>
                <a:ea typeface="Arial"/>
                <a:cs typeface="Arial"/>
              </a:defRPr>
            </a:lvl3pPr>
            <a:lvl4pPr>
              <a:defRPr sz="2175" b="0">
                <a:solidFill>
                  <a:srgbClr val="111827"/>
                </a:solidFill>
                <a:latin typeface="Arial"/>
                <a:ea typeface="Arial"/>
                <a:cs typeface="Arial"/>
              </a:defRPr>
            </a:lvl4pPr>
            <a:lvl5pPr>
              <a:defRPr sz="2175" b="0">
                <a:solidFill>
                  <a:srgbClr val="111827"/>
                </a:solidFill>
                <a:latin typeface="Arial"/>
                <a:ea typeface="Arial"/>
                <a:cs typeface="Arial"/>
              </a:defRPr>
            </a:lvl5pPr>
            <a:lvl6pPr>
              <a:defRPr sz="2175" b="0">
                <a:solidFill>
                  <a:srgbClr val="111827"/>
                </a:solidFill>
                <a:latin typeface="Arial"/>
                <a:ea typeface="Arial"/>
                <a:cs typeface="Arial"/>
              </a:defRPr>
            </a:lvl6pPr>
            <a:lvl7pPr>
              <a:defRPr sz="2175" b="0">
                <a:solidFill>
                  <a:srgbClr val="111827"/>
                </a:solidFill>
                <a:latin typeface="Arial"/>
                <a:ea typeface="Arial"/>
                <a:cs typeface="Arial"/>
              </a:defRPr>
            </a:lvl7pPr>
            <a:lvl8pPr>
              <a:defRPr sz="2175" b="0">
                <a:solidFill>
                  <a:srgbClr val="111827"/>
                </a:solidFill>
                <a:latin typeface="Arial"/>
                <a:ea typeface="Arial"/>
                <a:cs typeface="Arial"/>
              </a:defRPr>
            </a:lvl8pPr>
            <a:lvl9pPr>
              <a:defRPr sz="2175" b="0">
                <a:solidFill>
                  <a:srgbClr val="111827"/>
                </a:solidFill>
                <a:latin typeface="Arial"/>
                <a:ea typeface="Arial"/>
                <a:cs typeface="Arial"/>
              </a:defRPr>
            </a:lvl9pPr>
          </a:lstStyle>
          <a:p>
            <a:pPr>
              <a:defRPr sz="2175" b="0">
                <a:solidFill>
                  <a:srgbClr val="111827"/>
                </a:solidFill>
                <a:latin typeface="Arial"/>
                <a:ea typeface="Arial"/>
                <a:cs typeface="Arial"/>
              </a:defRPr>
            </a:pPr>
            <a:r>
              <a:rPr sz="2175" b="0">
                <a:solidFill>
                  <a:srgbClr val="111827"/>
                </a:solidFill>
                <a:latin typeface="Arial"/>
                <a:ea typeface="Arial"/>
                <a:cs typeface="Arial"/>
              </a:rPr>
              <a:t>+1.41 percentage points at approximately 8% higher forward latency</a:t>
            </a:r>
          </a:p>
        </p:txBody>
      </p:sp>
      <p:sp>
        <p:nvSpPr>
          <p:cNvPr id="7" name="Limits">
            <a:extLst>
              <a:ext uri="{FF2B5EF4-FFF2-40B4-BE49-F238E27FC236}">
                <a16:creationId xmlns:a16="http://schemas.microsoft.com/office/drawing/2014/main" id="{C9C5E2C3-8885-4889-AF78-9B62EF2DBE3A}"/>
              </a:ext>
            </a:extLst>
          </p:cNvPr>
          <p:cNvSpPr>
            <a:spLocks noGrp="1"/>
          </p:cNvSpPr>
          <p:nvPr/>
        </p:nvSpPr>
        <p:spPr>
          <a:xfrm>
            <a:off x="609600" y="3714750"/>
            <a:ext cx="4810125" cy="457200"/>
          </a:xfrm>
          <a:prstGeom prst="rect">
            <a:avLst/>
          </a:prstGeom>
          <a:noFill/>
          <a:ln w="0">
            <a:noFill/>
          </a:ln>
        </p:spPr>
        <p:txBody>
          <a:bodyPr wrap="square" lIns="0" tIns="0" rIns="0" bIns="0" anchor="t">
            <a:noAutofit/>
          </a:bodyPr>
          <a:lstStyle>
            <a:defPPr>
              <a:defRPr sz="2250" b="1">
                <a:solidFill>
                  <a:srgbClr val="123B63"/>
                </a:solidFill>
                <a:latin typeface="Arial"/>
                <a:ea typeface="Arial"/>
                <a:cs typeface="Arial"/>
              </a:defRPr>
            </a:defPPr>
            <a:lvl1pPr>
              <a:defRPr sz="2250" b="1">
                <a:solidFill>
                  <a:srgbClr val="123B63"/>
                </a:solidFill>
                <a:latin typeface="Arial"/>
                <a:ea typeface="Arial"/>
                <a:cs typeface="Arial"/>
              </a:defRPr>
            </a:lvl1pPr>
            <a:lvl2pPr>
              <a:defRPr sz="2250" b="1">
                <a:solidFill>
                  <a:srgbClr val="123B63"/>
                </a:solidFill>
                <a:latin typeface="Arial"/>
                <a:ea typeface="Arial"/>
                <a:cs typeface="Arial"/>
              </a:defRPr>
            </a:lvl2pPr>
            <a:lvl3pPr>
              <a:defRPr sz="2250" b="1">
                <a:solidFill>
                  <a:srgbClr val="123B63"/>
                </a:solidFill>
                <a:latin typeface="Arial"/>
                <a:ea typeface="Arial"/>
                <a:cs typeface="Arial"/>
              </a:defRPr>
            </a:lvl3pPr>
            <a:lvl4pPr>
              <a:defRPr sz="2250" b="1">
                <a:solidFill>
                  <a:srgbClr val="123B63"/>
                </a:solidFill>
                <a:latin typeface="Arial"/>
                <a:ea typeface="Arial"/>
                <a:cs typeface="Arial"/>
              </a:defRPr>
            </a:lvl4pPr>
            <a:lvl5pPr>
              <a:defRPr sz="2250" b="1">
                <a:solidFill>
                  <a:srgbClr val="123B63"/>
                </a:solidFill>
                <a:latin typeface="Arial"/>
                <a:ea typeface="Arial"/>
                <a:cs typeface="Arial"/>
              </a:defRPr>
            </a:lvl5pPr>
            <a:lvl6pPr>
              <a:defRPr sz="2250" b="1">
                <a:solidFill>
                  <a:srgbClr val="123B63"/>
                </a:solidFill>
                <a:latin typeface="Arial"/>
                <a:ea typeface="Arial"/>
                <a:cs typeface="Arial"/>
              </a:defRPr>
            </a:lvl6pPr>
            <a:lvl7pPr>
              <a:defRPr sz="2250" b="1">
                <a:solidFill>
                  <a:srgbClr val="123B63"/>
                </a:solidFill>
                <a:latin typeface="Arial"/>
                <a:ea typeface="Arial"/>
                <a:cs typeface="Arial"/>
              </a:defRPr>
            </a:lvl7pPr>
            <a:lvl8pPr>
              <a:defRPr sz="2250" b="1">
                <a:solidFill>
                  <a:srgbClr val="123B63"/>
                </a:solidFill>
                <a:latin typeface="Arial"/>
                <a:ea typeface="Arial"/>
                <a:cs typeface="Arial"/>
              </a:defRPr>
            </a:lvl8pPr>
            <a:lvl9pPr>
              <a:defRPr sz="2250" b="1">
                <a:solidFill>
                  <a:srgbClr val="123B63"/>
                </a:solidFill>
                <a:latin typeface="Arial"/>
                <a:ea typeface="Arial"/>
                <a:cs typeface="Arial"/>
              </a:defRPr>
            </a:lvl9pPr>
          </a:lstStyle>
          <a:p>
            <a:pPr>
              <a:defRPr sz="2250" b="1">
                <a:solidFill>
                  <a:srgbClr val="123B63"/>
                </a:solidFill>
                <a:latin typeface="Arial"/>
                <a:ea typeface="Arial"/>
                <a:cs typeface="Arial"/>
              </a:defRPr>
            </a:pPr>
            <a:r>
              <a:rPr sz="2250" b="1">
                <a:solidFill>
                  <a:srgbClr val="123B63"/>
                </a:solidFill>
                <a:latin typeface="Arial"/>
                <a:ea typeface="Arial"/>
                <a:cs typeface="Arial"/>
              </a:rPr>
              <a:t>Limits</a:t>
            </a:r>
          </a:p>
        </p:txBody>
      </p:sp>
      <p:sp>
        <p:nvSpPr>
          <p:cNvPr id="8" name="One small dataset and one insertion poin">
            <a:extLst>
              <a:ext uri="{FF2B5EF4-FFF2-40B4-BE49-F238E27FC236}">
                <a16:creationId xmlns:a16="http://schemas.microsoft.com/office/drawing/2014/main" id="{8291690A-5B67-4DE5-B8BA-9C3D93310EA0}"/>
              </a:ext>
            </a:extLst>
          </p:cNvPr>
          <p:cNvSpPr>
            <a:spLocks noGrp="1"/>
          </p:cNvSpPr>
          <p:nvPr/>
        </p:nvSpPr>
        <p:spPr>
          <a:xfrm>
            <a:off x="609600" y="4333875"/>
            <a:ext cx="5143500" cy="1428750"/>
          </a:xfrm>
          <a:prstGeom prst="rect">
            <a:avLst/>
          </a:prstGeom>
          <a:noFill/>
          <a:ln w="0">
            <a:noFill/>
          </a:ln>
        </p:spPr>
        <p:txBody>
          <a:bodyPr wrap="square" lIns="0" tIns="0" rIns="0" bIns="0" anchor="t">
            <a:noAutofit/>
          </a:bodyPr>
          <a:lstStyle>
            <a:defPPr>
              <a:defRPr sz="1875" b="0">
                <a:solidFill>
                  <a:srgbClr val="5B6472"/>
                </a:solidFill>
                <a:latin typeface="Arial"/>
                <a:ea typeface="Arial"/>
                <a:cs typeface="Arial"/>
              </a:defRPr>
            </a:defPPr>
            <a:lvl1pPr>
              <a:defRPr sz="1875" b="0">
                <a:solidFill>
                  <a:srgbClr val="5B6472"/>
                </a:solidFill>
                <a:latin typeface="Arial"/>
                <a:ea typeface="Arial"/>
                <a:cs typeface="Arial"/>
              </a:defRPr>
            </a:lvl1pPr>
            <a:lvl2pPr>
              <a:defRPr sz="1875" b="0">
                <a:solidFill>
                  <a:srgbClr val="5B6472"/>
                </a:solidFill>
                <a:latin typeface="Arial"/>
                <a:ea typeface="Arial"/>
                <a:cs typeface="Arial"/>
              </a:defRPr>
            </a:lvl2pPr>
            <a:lvl3pPr>
              <a:defRPr sz="1875" b="0">
                <a:solidFill>
                  <a:srgbClr val="5B6472"/>
                </a:solidFill>
                <a:latin typeface="Arial"/>
                <a:ea typeface="Arial"/>
                <a:cs typeface="Arial"/>
              </a:defRPr>
            </a:lvl3pPr>
            <a:lvl4pPr>
              <a:defRPr sz="1875" b="0">
                <a:solidFill>
                  <a:srgbClr val="5B6472"/>
                </a:solidFill>
                <a:latin typeface="Arial"/>
                <a:ea typeface="Arial"/>
                <a:cs typeface="Arial"/>
              </a:defRPr>
            </a:lvl4pPr>
            <a:lvl5pPr>
              <a:defRPr sz="1875" b="0">
                <a:solidFill>
                  <a:srgbClr val="5B6472"/>
                </a:solidFill>
                <a:latin typeface="Arial"/>
                <a:ea typeface="Arial"/>
                <a:cs typeface="Arial"/>
              </a:defRPr>
            </a:lvl5pPr>
            <a:lvl6pPr>
              <a:defRPr sz="1875" b="0">
                <a:solidFill>
                  <a:srgbClr val="5B6472"/>
                </a:solidFill>
                <a:latin typeface="Arial"/>
                <a:ea typeface="Arial"/>
                <a:cs typeface="Arial"/>
              </a:defRPr>
            </a:lvl6pPr>
            <a:lvl7pPr>
              <a:defRPr sz="1875" b="0">
                <a:solidFill>
                  <a:srgbClr val="5B6472"/>
                </a:solidFill>
                <a:latin typeface="Arial"/>
                <a:ea typeface="Arial"/>
                <a:cs typeface="Arial"/>
              </a:defRPr>
            </a:lvl7pPr>
            <a:lvl8pPr>
              <a:defRPr sz="1875" b="0">
                <a:solidFill>
                  <a:srgbClr val="5B6472"/>
                </a:solidFill>
                <a:latin typeface="Arial"/>
                <a:ea typeface="Arial"/>
                <a:cs typeface="Arial"/>
              </a:defRPr>
            </a:lvl8pPr>
            <a:lvl9pPr>
              <a:defRPr sz="1875" b="0">
                <a:solidFill>
                  <a:srgbClr val="5B6472"/>
                </a:solidFill>
                <a:latin typeface="Arial"/>
                <a:ea typeface="Arial"/>
                <a:cs typeface="Arial"/>
              </a:defRPr>
            </a:lvl9pPr>
          </a:lstStyle>
          <a:p>
            <a:pPr>
              <a:defRPr sz="1875" b="0">
                <a:solidFill>
                  <a:srgbClr val="5B6472"/>
                </a:solidFill>
                <a:latin typeface="Arial"/>
                <a:ea typeface="Arial"/>
                <a:cs typeface="Arial"/>
              </a:defRPr>
            </a:pPr>
            <a:r>
              <a:rPr sz="1875" b="0">
                <a:solidFill>
                  <a:srgbClr val="5B6472"/>
                </a:solidFill>
                <a:latin typeface="Arial"/>
                <a:ea typeface="Arial"/>
                <a:cs typeface="Arial"/>
              </a:rPr>
              <a:t>One small dataset and one insertion point</a:t>
            </a:r>
          </a:p>
          <a:p>
            <a:pPr>
              <a:defRPr sz="1875" b="0">
                <a:solidFill>
                  <a:srgbClr val="5B6472"/>
                </a:solidFill>
                <a:latin typeface="Arial"/>
                <a:ea typeface="Arial"/>
                <a:cs typeface="Arial"/>
              </a:defRPr>
            </a:pPr>
            <a:r>
              <a:rPr sz="1875" b="0">
                <a:solidFill>
                  <a:srgbClr val="5B6472"/>
                </a:solidFill>
                <a:latin typeface="Arial"/>
                <a:ea typeface="Arial"/>
                <a:cs typeface="Arial"/>
              </a:rPr>
              <a:t>Three seeds and no healthy-image negatives</a:t>
            </a:r>
          </a:p>
          <a:p>
            <a:pPr>
              <a:defRPr sz="1875" b="0">
                <a:solidFill>
                  <a:srgbClr val="5B6472"/>
                </a:solidFill>
                <a:latin typeface="Arial"/>
                <a:ea typeface="Arial"/>
                <a:cs typeface="Arial"/>
              </a:defRPr>
            </a:pPr>
            <a:r>
              <a:rPr sz="1875" b="0">
                <a:solidFill>
                  <a:srgbClr val="5B6472"/>
                </a:solidFill>
                <a:latin typeface="Arial"/>
                <a:ea typeface="Arial"/>
                <a:cs typeface="Arial"/>
              </a:rPr>
              <a:t>No illumination or blur robustness tests</a:t>
            </a:r>
          </a:p>
        </p:txBody>
      </p:sp>
      <p:sp>
        <p:nvSpPr>
          <p:cNvPr id="9" name="Next experiments">
            <a:extLst>
              <a:ext uri="{FF2B5EF4-FFF2-40B4-BE49-F238E27FC236}">
                <a16:creationId xmlns:a16="http://schemas.microsoft.com/office/drawing/2014/main" id="{FD564E3C-0349-4E3F-817F-773CC27F0A06}"/>
              </a:ext>
            </a:extLst>
          </p:cNvPr>
          <p:cNvSpPr>
            <a:spLocks noGrp="1"/>
          </p:cNvSpPr>
          <p:nvPr/>
        </p:nvSpPr>
        <p:spPr>
          <a:xfrm>
            <a:off x="6572250" y="3714750"/>
            <a:ext cx="5000625" cy="457200"/>
          </a:xfrm>
          <a:prstGeom prst="rect">
            <a:avLst/>
          </a:prstGeom>
          <a:noFill/>
          <a:ln w="0">
            <a:noFill/>
          </a:ln>
        </p:spPr>
        <p:txBody>
          <a:bodyPr wrap="square" lIns="0" tIns="0" rIns="0" bIns="0" anchor="t">
            <a:noAutofit/>
          </a:bodyPr>
          <a:lstStyle>
            <a:defPPr>
              <a:defRPr sz="2250" b="1">
                <a:solidFill>
                  <a:srgbClr val="123B63"/>
                </a:solidFill>
                <a:latin typeface="Arial"/>
                <a:ea typeface="Arial"/>
                <a:cs typeface="Arial"/>
              </a:defRPr>
            </a:defPPr>
            <a:lvl1pPr>
              <a:defRPr sz="2250" b="1">
                <a:solidFill>
                  <a:srgbClr val="123B63"/>
                </a:solidFill>
                <a:latin typeface="Arial"/>
                <a:ea typeface="Arial"/>
                <a:cs typeface="Arial"/>
              </a:defRPr>
            </a:lvl1pPr>
            <a:lvl2pPr>
              <a:defRPr sz="2250" b="1">
                <a:solidFill>
                  <a:srgbClr val="123B63"/>
                </a:solidFill>
                <a:latin typeface="Arial"/>
                <a:ea typeface="Arial"/>
                <a:cs typeface="Arial"/>
              </a:defRPr>
            </a:lvl2pPr>
            <a:lvl3pPr>
              <a:defRPr sz="2250" b="1">
                <a:solidFill>
                  <a:srgbClr val="123B63"/>
                </a:solidFill>
                <a:latin typeface="Arial"/>
                <a:ea typeface="Arial"/>
                <a:cs typeface="Arial"/>
              </a:defRPr>
            </a:lvl3pPr>
            <a:lvl4pPr>
              <a:defRPr sz="2250" b="1">
                <a:solidFill>
                  <a:srgbClr val="123B63"/>
                </a:solidFill>
                <a:latin typeface="Arial"/>
                <a:ea typeface="Arial"/>
                <a:cs typeface="Arial"/>
              </a:defRPr>
            </a:lvl4pPr>
            <a:lvl5pPr>
              <a:defRPr sz="2250" b="1">
                <a:solidFill>
                  <a:srgbClr val="123B63"/>
                </a:solidFill>
                <a:latin typeface="Arial"/>
                <a:ea typeface="Arial"/>
                <a:cs typeface="Arial"/>
              </a:defRPr>
            </a:lvl5pPr>
            <a:lvl6pPr>
              <a:defRPr sz="2250" b="1">
                <a:solidFill>
                  <a:srgbClr val="123B63"/>
                </a:solidFill>
                <a:latin typeface="Arial"/>
                <a:ea typeface="Arial"/>
                <a:cs typeface="Arial"/>
              </a:defRPr>
            </a:lvl6pPr>
            <a:lvl7pPr>
              <a:defRPr sz="2250" b="1">
                <a:solidFill>
                  <a:srgbClr val="123B63"/>
                </a:solidFill>
                <a:latin typeface="Arial"/>
                <a:ea typeface="Arial"/>
                <a:cs typeface="Arial"/>
              </a:defRPr>
            </a:lvl7pPr>
            <a:lvl8pPr>
              <a:defRPr sz="2250" b="1">
                <a:solidFill>
                  <a:srgbClr val="123B63"/>
                </a:solidFill>
                <a:latin typeface="Arial"/>
                <a:ea typeface="Arial"/>
                <a:cs typeface="Arial"/>
              </a:defRPr>
            </a:lvl8pPr>
            <a:lvl9pPr>
              <a:defRPr sz="2250" b="1">
                <a:solidFill>
                  <a:srgbClr val="123B63"/>
                </a:solidFill>
                <a:latin typeface="Arial"/>
                <a:ea typeface="Arial"/>
                <a:cs typeface="Arial"/>
              </a:defRPr>
            </a:lvl9pPr>
          </a:lstStyle>
          <a:p>
            <a:pPr>
              <a:defRPr sz="2250" b="1">
                <a:solidFill>
                  <a:srgbClr val="123B63"/>
                </a:solidFill>
                <a:latin typeface="Arial"/>
                <a:ea typeface="Arial"/>
                <a:cs typeface="Arial"/>
              </a:defRPr>
            </a:pPr>
            <a:r>
              <a:rPr sz="2250" b="1">
                <a:solidFill>
                  <a:srgbClr val="123B63"/>
                </a:solidFill>
                <a:latin typeface="Arial"/>
                <a:ea typeface="Arial"/>
                <a:cs typeface="Arial"/>
              </a:rPr>
              <a:t>Next experiments</a:t>
            </a:r>
          </a:p>
        </p:txBody>
      </p:sp>
      <p:sp>
        <p:nvSpPr>
          <p:cNvPr id="10" name="Verify fruit-identity splits and add neg">
            <a:extLst>
              <a:ext uri="{FF2B5EF4-FFF2-40B4-BE49-F238E27FC236}">
                <a16:creationId xmlns:a16="http://schemas.microsoft.com/office/drawing/2014/main" id="{37646B7B-CAE0-47F9-A0F8-973A0B7E8425}"/>
              </a:ext>
            </a:extLst>
          </p:cNvPr>
          <p:cNvSpPr>
            <a:spLocks noGrp="1"/>
          </p:cNvSpPr>
          <p:nvPr/>
        </p:nvSpPr>
        <p:spPr>
          <a:xfrm>
            <a:off x="6572250" y="4333875"/>
            <a:ext cx="5000625" cy="1428750"/>
          </a:xfrm>
          <a:prstGeom prst="rect">
            <a:avLst/>
          </a:prstGeom>
          <a:noFill/>
          <a:ln w="0">
            <a:noFill/>
          </a:ln>
        </p:spPr>
        <p:txBody>
          <a:bodyPr wrap="square" lIns="0" tIns="0" rIns="0" bIns="0" anchor="t">
            <a:noAutofit/>
          </a:bodyPr>
          <a:lstStyle>
            <a:defPPr>
              <a:defRPr sz="1875" b="0">
                <a:solidFill>
                  <a:srgbClr val="5B6472"/>
                </a:solidFill>
                <a:latin typeface="Arial"/>
                <a:ea typeface="Arial"/>
                <a:cs typeface="Arial"/>
              </a:defRPr>
            </a:defPPr>
            <a:lvl1pPr>
              <a:defRPr sz="1875" b="0">
                <a:solidFill>
                  <a:srgbClr val="5B6472"/>
                </a:solidFill>
                <a:latin typeface="Arial"/>
                <a:ea typeface="Arial"/>
                <a:cs typeface="Arial"/>
              </a:defRPr>
            </a:lvl1pPr>
            <a:lvl2pPr>
              <a:defRPr sz="1875" b="0">
                <a:solidFill>
                  <a:srgbClr val="5B6472"/>
                </a:solidFill>
                <a:latin typeface="Arial"/>
                <a:ea typeface="Arial"/>
                <a:cs typeface="Arial"/>
              </a:defRPr>
            </a:lvl2pPr>
            <a:lvl3pPr>
              <a:defRPr sz="1875" b="0">
                <a:solidFill>
                  <a:srgbClr val="5B6472"/>
                </a:solidFill>
                <a:latin typeface="Arial"/>
                <a:ea typeface="Arial"/>
                <a:cs typeface="Arial"/>
              </a:defRPr>
            </a:lvl3pPr>
            <a:lvl4pPr>
              <a:defRPr sz="1875" b="0">
                <a:solidFill>
                  <a:srgbClr val="5B6472"/>
                </a:solidFill>
                <a:latin typeface="Arial"/>
                <a:ea typeface="Arial"/>
                <a:cs typeface="Arial"/>
              </a:defRPr>
            </a:lvl4pPr>
            <a:lvl5pPr>
              <a:defRPr sz="1875" b="0">
                <a:solidFill>
                  <a:srgbClr val="5B6472"/>
                </a:solidFill>
                <a:latin typeface="Arial"/>
                <a:ea typeface="Arial"/>
                <a:cs typeface="Arial"/>
              </a:defRPr>
            </a:lvl5pPr>
            <a:lvl6pPr>
              <a:defRPr sz="1875" b="0">
                <a:solidFill>
                  <a:srgbClr val="5B6472"/>
                </a:solidFill>
                <a:latin typeface="Arial"/>
                <a:ea typeface="Arial"/>
                <a:cs typeface="Arial"/>
              </a:defRPr>
            </a:lvl6pPr>
            <a:lvl7pPr>
              <a:defRPr sz="1875" b="0">
                <a:solidFill>
                  <a:srgbClr val="5B6472"/>
                </a:solidFill>
                <a:latin typeface="Arial"/>
                <a:ea typeface="Arial"/>
                <a:cs typeface="Arial"/>
              </a:defRPr>
            </a:lvl7pPr>
            <a:lvl8pPr>
              <a:defRPr sz="1875" b="0">
                <a:solidFill>
                  <a:srgbClr val="5B6472"/>
                </a:solidFill>
                <a:latin typeface="Arial"/>
                <a:ea typeface="Arial"/>
                <a:cs typeface="Arial"/>
              </a:defRPr>
            </a:lvl8pPr>
            <a:lvl9pPr>
              <a:defRPr sz="1875" b="0">
                <a:solidFill>
                  <a:srgbClr val="5B6472"/>
                </a:solidFill>
                <a:latin typeface="Arial"/>
                <a:ea typeface="Arial"/>
                <a:cs typeface="Arial"/>
              </a:defRPr>
            </a:lvl9pPr>
          </a:lstStyle>
          <a:p>
            <a:pPr>
              <a:defRPr sz="1875" b="0">
                <a:solidFill>
                  <a:srgbClr val="5B6472"/>
                </a:solidFill>
                <a:latin typeface="Arial"/>
                <a:ea typeface="Arial"/>
                <a:cs typeface="Arial"/>
              </a:defRPr>
            </a:pPr>
            <a:r>
              <a:rPr sz="1875" b="0">
                <a:solidFill>
                  <a:srgbClr val="5B6472"/>
                </a:solidFill>
                <a:latin typeface="Arial"/>
                <a:ea typeface="Arial"/>
                <a:cs typeface="Arial"/>
              </a:rPr>
              <a:t>Verify fruit-identity splits and add negatives</a:t>
            </a:r>
          </a:p>
          <a:p>
            <a:pPr>
              <a:defRPr sz="1875" b="0">
                <a:solidFill>
                  <a:srgbClr val="5B6472"/>
                </a:solidFill>
                <a:latin typeface="Arial"/>
                <a:ea typeface="Arial"/>
                <a:cs typeface="Arial"/>
              </a:defRPr>
            </a:pPr>
            <a:r>
              <a:rPr sz="1875" b="0">
                <a:solidFill>
                  <a:srgbClr val="5B6472"/>
                </a:solidFill>
                <a:latin typeface="Arial"/>
                <a:ea typeface="Arial"/>
                <a:cs typeface="Arial"/>
              </a:rPr>
              <a:t>Compare insertion points at equal budgets</a:t>
            </a:r>
          </a:p>
          <a:p>
            <a:pPr>
              <a:defRPr sz="1875" b="0">
                <a:solidFill>
                  <a:srgbClr val="5B6472"/>
                </a:solidFill>
                <a:latin typeface="Arial"/>
                <a:ea typeface="Arial"/>
                <a:cs typeface="Arial"/>
              </a:defRPr>
            </a:pPr>
            <a:r>
              <a:rPr sz="1875" b="0">
                <a:solidFill>
                  <a:srgbClr val="5B6472"/>
                </a:solidFill>
                <a:latin typeface="Arial"/>
                <a:ea typeface="Arial"/>
                <a:cs typeface="Arial"/>
              </a:rPr>
              <a:t>Measure end-to-end deployment latency</a:t>
            </a:r>
          </a:p>
        </p:txBody>
      </p:sp>
    </p:spTree>
    <p:extLst>
      <p:ext uri="{BB962C8B-B14F-4D97-AF65-F5344CB8AC3E}">
        <p14:creationId xmlns:p14="http://schemas.microsoft.com/office/powerpoint/2010/main" val="1481937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APPLE DEFECT DETECTION">
            <a:extLst>
              <a:ext uri="{FF2B5EF4-FFF2-40B4-BE49-F238E27FC236}">
                <a16:creationId xmlns:a16="http://schemas.microsoft.com/office/drawing/2014/main" id="{E5826B94-65CA-4724-9061-B3199B490E08}"/>
              </a:ext>
            </a:extLst>
          </p:cNvPr>
          <p:cNvSpPr>
            <a:spLocks noGrp="1"/>
          </p:cNvSpPr>
          <p:nvPr/>
        </p:nvSpPr>
        <p:spPr>
          <a:xfrm>
            <a:off x="609600" y="266700"/>
            <a:ext cx="7620000" cy="228600"/>
          </a:xfrm>
          <a:prstGeom prst="rect">
            <a:avLst/>
          </a:prstGeom>
          <a:noFill/>
          <a:ln w="0">
            <a:noFill/>
          </a:ln>
        </p:spPr>
        <p:txBody>
          <a:bodyPr wrap="square" lIns="0" tIns="0" rIns="0" bIns="0" anchor="t">
            <a:noAutofit/>
          </a:bodyPr>
          <a:lstStyle>
            <a:defPPr>
              <a:defRPr sz="1275" b="1">
                <a:solidFill>
                  <a:srgbClr val="3D8DFF"/>
                </a:solidFill>
                <a:latin typeface="Arial"/>
                <a:ea typeface="Arial"/>
                <a:cs typeface="Arial"/>
              </a:defRPr>
            </a:defPPr>
            <a:lvl1pPr>
              <a:defRPr sz="1275" b="1">
                <a:solidFill>
                  <a:srgbClr val="3D8DFF"/>
                </a:solidFill>
                <a:latin typeface="Arial"/>
                <a:ea typeface="Arial"/>
                <a:cs typeface="Arial"/>
              </a:defRPr>
            </a:lvl1pPr>
            <a:lvl2pPr>
              <a:defRPr sz="1275" b="1">
                <a:solidFill>
                  <a:srgbClr val="3D8DFF"/>
                </a:solidFill>
                <a:latin typeface="Arial"/>
                <a:ea typeface="Arial"/>
                <a:cs typeface="Arial"/>
              </a:defRPr>
            </a:lvl2pPr>
            <a:lvl3pPr>
              <a:defRPr sz="1275" b="1">
                <a:solidFill>
                  <a:srgbClr val="3D8DFF"/>
                </a:solidFill>
                <a:latin typeface="Arial"/>
                <a:ea typeface="Arial"/>
                <a:cs typeface="Arial"/>
              </a:defRPr>
            </a:lvl3pPr>
            <a:lvl4pPr>
              <a:defRPr sz="1275" b="1">
                <a:solidFill>
                  <a:srgbClr val="3D8DFF"/>
                </a:solidFill>
                <a:latin typeface="Arial"/>
                <a:ea typeface="Arial"/>
                <a:cs typeface="Arial"/>
              </a:defRPr>
            </a:lvl4pPr>
            <a:lvl5pPr>
              <a:defRPr sz="1275" b="1">
                <a:solidFill>
                  <a:srgbClr val="3D8DFF"/>
                </a:solidFill>
                <a:latin typeface="Arial"/>
                <a:ea typeface="Arial"/>
                <a:cs typeface="Arial"/>
              </a:defRPr>
            </a:lvl5pPr>
            <a:lvl6pPr>
              <a:defRPr sz="1275" b="1">
                <a:solidFill>
                  <a:srgbClr val="3D8DFF"/>
                </a:solidFill>
                <a:latin typeface="Arial"/>
                <a:ea typeface="Arial"/>
                <a:cs typeface="Arial"/>
              </a:defRPr>
            </a:lvl6pPr>
            <a:lvl7pPr>
              <a:defRPr sz="1275" b="1">
                <a:solidFill>
                  <a:srgbClr val="3D8DFF"/>
                </a:solidFill>
                <a:latin typeface="Arial"/>
                <a:ea typeface="Arial"/>
                <a:cs typeface="Arial"/>
              </a:defRPr>
            </a:lvl7pPr>
            <a:lvl8pPr>
              <a:defRPr sz="1275" b="1">
                <a:solidFill>
                  <a:srgbClr val="3D8DFF"/>
                </a:solidFill>
                <a:latin typeface="Arial"/>
                <a:ea typeface="Arial"/>
                <a:cs typeface="Arial"/>
              </a:defRPr>
            </a:lvl8pPr>
            <a:lvl9pPr>
              <a:defRPr sz="1275" b="1">
                <a:solidFill>
                  <a:srgbClr val="3D8DFF"/>
                </a:solidFill>
                <a:latin typeface="Arial"/>
                <a:ea typeface="Arial"/>
                <a:cs typeface="Arial"/>
              </a:defRPr>
            </a:lvl9pPr>
          </a:lstStyle>
          <a:p>
            <a:pPr>
              <a:defRPr sz="1275" b="1">
                <a:solidFill>
                  <a:srgbClr val="3D8DFF"/>
                </a:solidFill>
                <a:latin typeface="Arial"/>
                <a:ea typeface="Arial"/>
                <a:cs typeface="Arial"/>
              </a:defRPr>
            </a:pPr>
            <a:r>
              <a:rPr sz="1275" b="1">
                <a:solidFill>
                  <a:srgbClr val="3D8DFF"/>
                </a:solidFill>
                <a:latin typeface="Arial"/>
                <a:ea typeface="Arial"/>
                <a:cs typeface="Arial"/>
              </a:rPr>
              <a:t>APPLE DEFECT DETECTION</a:t>
            </a:r>
          </a:p>
        </p:txBody>
      </p:sp>
      <p:sp>
        <p:nvSpPr>
          <p:cNvPr id="2" name="References">
            <a:extLst>
              <a:ext uri="{FF2B5EF4-FFF2-40B4-BE49-F238E27FC236}">
                <a16:creationId xmlns:a16="http://schemas.microsoft.com/office/drawing/2014/main" id="{127A0DCF-1198-4E69-8BBE-1A2D197EEA0C}"/>
              </a:ext>
            </a:extLst>
          </p:cNvPr>
          <p:cNvSpPr>
            <a:spLocks noGrp="1"/>
          </p:cNvSpPr>
          <p:nvPr/>
        </p:nvSpPr>
        <p:spPr>
          <a:xfrm>
            <a:off x="609600" y="723900"/>
            <a:ext cx="10972800" cy="1000125"/>
          </a:xfrm>
          <a:prstGeom prst="rect">
            <a:avLst/>
          </a:prstGeom>
          <a:noFill/>
          <a:ln w="0">
            <a:noFill/>
          </a:ln>
        </p:spPr>
        <p:txBody>
          <a:bodyPr wrap="square" lIns="0" tIns="0" rIns="0" bIns="0" anchor="t">
            <a:noAutofit/>
          </a:bodyPr>
          <a:lstStyle>
            <a:defPPr>
              <a:defRPr sz="3000" b="1">
                <a:solidFill>
                  <a:srgbClr val="111827"/>
                </a:solidFill>
                <a:latin typeface="Arial"/>
                <a:ea typeface="Arial"/>
                <a:cs typeface="Arial"/>
              </a:defRPr>
            </a:defPPr>
            <a:lvl1pPr>
              <a:defRPr sz="3000" b="1">
                <a:solidFill>
                  <a:srgbClr val="111827"/>
                </a:solidFill>
                <a:latin typeface="Arial"/>
                <a:ea typeface="Arial"/>
                <a:cs typeface="Arial"/>
              </a:defRPr>
            </a:lvl1pPr>
            <a:lvl2pPr>
              <a:defRPr sz="3000" b="1">
                <a:solidFill>
                  <a:srgbClr val="111827"/>
                </a:solidFill>
                <a:latin typeface="Arial"/>
                <a:ea typeface="Arial"/>
                <a:cs typeface="Arial"/>
              </a:defRPr>
            </a:lvl2pPr>
            <a:lvl3pPr>
              <a:defRPr sz="3000" b="1">
                <a:solidFill>
                  <a:srgbClr val="111827"/>
                </a:solidFill>
                <a:latin typeface="Arial"/>
                <a:ea typeface="Arial"/>
                <a:cs typeface="Arial"/>
              </a:defRPr>
            </a:lvl3pPr>
            <a:lvl4pPr>
              <a:defRPr sz="3000" b="1">
                <a:solidFill>
                  <a:srgbClr val="111827"/>
                </a:solidFill>
                <a:latin typeface="Arial"/>
                <a:ea typeface="Arial"/>
                <a:cs typeface="Arial"/>
              </a:defRPr>
            </a:lvl4pPr>
            <a:lvl5pPr>
              <a:defRPr sz="3000" b="1">
                <a:solidFill>
                  <a:srgbClr val="111827"/>
                </a:solidFill>
                <a:latin typeface="Arial"/>
                <a:ea typeface="Arial"/>
                <a:cs typeface="Arial"/>
              </a:defRPr>
            </a:lvl5pPr>
            <a:lvl6pPr>
              <a:defRPr sz="3000" b="1">
                <a:solidFill>
                  <a:srgbClr val="111827"/>
                </a:solidFill>
                <a:latin typeface="Arial"/>
                <a:ea typeface="Arial"/>
                <a:cs typeface="Arial"/>
              </a:defRPr>
            </a:lvl6pPr>
            <a:lvl7pPr>
              <a:defRPr sz="3000" b="1">
                <a:solidFill>
                  <a:srgbClr val="111827"/>
                </a:solidFill>
                <a:latin typeface="Arial"/>
                <a:ea typeface="Arial"/>
                <a:cs typeface="Arial"/>
              </a:defRPr>
            </a:lvl7pPr>
            <a:lvl8pPr>
              <a:defRPr sz="3000" b="1">
                <a:solidFill>
                  <a:srgbClr val="111827"/>
                </a:solidFill>
                <a:latin typeface="Arial"/>
                <a:ea typeface="Arial"/>
                <a:cs typeface="Arial"/>
              </a:defRPr>
            </a:lvl8pPr>
            <a:lvl9pPr>
              <a:defRPr sz="3000" b="1">
                <a:solidFill>
                  <a:srgbClr val="111827"/>
                </a:solidFill>
                <a:latin typeface="Arial"/>
                <a:ea typeface="Arial"/>
                <a:cs typeface="Arial"/>
              </a:defRPr>
            </a:lvl9pPr>
          </a:lstStyle>
          <a:p>
            <a:pPr>
              <a:defRPr sz="3000" b="1">
                <a:solidFill>
                  <a:srgbClr val="111827"/>
                </a:solidFill>
                <a:latin typeface="Arial"/>
                <a:ea typeface="Arial"/>
                <a:cs typeface="Arial"/>
              </a:defRPr>
            </a:pPr>
            <a:r>
              <a:rPr sz="3000" b="1">
                <a:solidFill>
                  <a:srgbClr val="111827"/>
                </a:solidFill>
                <a:latin typeface="Arial"/>
                <a:ea typeface="Arial"/>
                <a:cs typeface="Arial"/>
              </a:rPr>
              <a:t>References</a:t>
            </a:r>
          </a:p>
        </p:txBody>
      </p:sp>
      <p:sp>
        <p:nvSpPr>
          <p:cNvPr id="3" name="Reference numbers match the report">
            <a:extLst>
              <a:ext uri="{FF2B5EF4-FFF2-40B4-BE49-F238E27FC236}">
                <a16:creationId xmlns:a16="http://schemas.microsoft.com/office/drawing/2014/main" id="{33E130AD-5F03-4BAD-B7D4-699E3D3DDAF0}"/>
              </a:ext>
            </a:extLst>
          </p:cNvPr>
          <p:cNvSpPr>
            <a:spLocks noGrp="1"/>
          </p:cNvSpPr>
          <p:nvPr/>
        </p:nvSpPr>
        <p:spPr>
          <a:xfrm>
            <a:off x="609600" y="6438900"/>
            <a:ext cx="95250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Reference numbers match the report</a:t>
            </a:r>
          </a:p>
        </p:txBody>
      </p:sp>
      <p:sp>
        <p:nvSpPr>
          <p:cNvPr id="4" name="11">
            <a:extLst>
              <a:ext uri="{FF2B5EF4-FFF2-40B4-BE49-F238E27FC236}">
                <a16:creationId xmlns:a16="http://schemas.microsoft.com/office/drawing/2014/main" id="{6F2D0C73-5ED0-4A5C-B073-673CF432C0A7}"/>
              </a:ext>
            </a:extLst>
          </p:cNvPr>
          <p:cNvSpPr>
            <a:spLocks noGrp="1"/>
          </p:cNvSpPr>
          <p:nvPr/>
        </p:nvSpPr>
        <p:spPr>
          <a:xfrm>
            <a:off x="11239500" y="6438900"/>
            <a:ext cx="342900" cy="209550"/>
          </a:xfrm>
          <a:prstGeom prst="rect">
            <a:avLst/>
          </a:prstGeom>
          <a:noFill/>
          <a:ln w="0">
            <a:noFill/>
          </a:ln>
        </p:spPr>
        <p:txBody>
          <a:bodyPr wrap="square" lIns="0" tIns="0" rIns="0" bIns="0" anchor="t">
            <a:noAutofit/>
          </a:bodyPr>
          <a:lstStyle>
            <a:defPPr>
              <a:defRPr sz="1200" b="0">
                <a:solidFill>
                  <a:srgbClr val="5B6472"/>
                </a:solidFill>
                <a:latin typeface="Arial"/>
                <a:ea typeface="Arial"/>
                <a:cs typeface="Arial"/>
              </a:defRPr>
            </a:defPPr>
            <a:lvl1pPr>
              <a:defRPr sz="1200" b="0">
                <a:solidFill>
                  <a:srgbClr val="5B6472"/>
                </a:solidFill>
                <a:latin typeface="Arial"/>
                <a:ea typeface="Arial"/>
                <a:cs typeface="Arial"/>
              </a:defRPr>
            </a:lvl1pPr>
            <a:lvl2pPr>
              <a:defRPr sz="1200" b="0">
                <a:solidFill>
                  <a:srgbClr val="5B6472"/>
                </a:solidFill>
                <a:latin typeface="Arial"/>
                <a:ea typeface="Arial"/>
                <a:cs typeface="Arial"/>
              </a:defRPr>
            </a:lvl2pPr>
            <a:lvl3pPr>
              <a:defRPr sz="1200" b="0">
                <a:solidFill>
                  <a:srgbClr val="5B6472"/>
                </a:solidFill>
                <a:latin typeface="Arial"/>
                <a:ea typeface="Arial"/>
                <a:cs typeface="Arial"/>
              </a:defRPr>
            </a:lvl3pPr>
            <a:lvl4pPr>
              <a:defRPr sz="1200" b="0">
                <a:solidFill>
                  <a:srgbClr val="5B6472"/>
                </a:solidFill>
                <a:latin typeface="Arial"/>
                <a:ea typeface="Arial"/>
                <a:cs typeface="Arial"/>
              </a:defRPr>
            </a:lvl4pPr>
            <a:lvl5pPr>
              <a:defRPr sz="1200" b="0">
                <a:solidFill>
                  <a:srgbClr val="5B6472"/>
                </a:solidFill>
                <a:latin typeface="Arial"/>
                <a:ea typeface="Arial"/>
                <a:cs typeface="Arial"/>
              </a:defRPr>
            </a:lvl5pPr>
            <a:lvl6pPr>
              <a:defRPr sz="1200" b="0">
                <a:solidFill>
                  <a:srgbClr val="5B6472"/>
                </a:solidFill>
                <a:latin typeface="Arial"/>
                <a:ea typeface="Arial"/>
                <a:cs typeface="Arial"/>
              </a:defRPr>
            </a:lvl6pPr>
            <a:lvl7pPr>
              <a:defRPr sz="1200" b="0">
                <a:solidFill>
                  <a:srgbClr val="5B6472"/>
                </a:solidFill>
                <a:latin typeface="Arial"/>
                <a:ea typeface="Arial"/>
                <a:cs typeface="Arial"/>
              </a:defRPr>
            </a:lvl7pPr>
            <a:lvl8pPr>
              <a:defRPr sz="1200" b="0">
                <a:solidFill>
                  <a:srgbClr val="5B6472"/>
                </a:solidFill>
                <a:latin typeface="Arial"/>
                <a:ea typeface="Arial"/>
                <a:cs typeface="Arial"/>
              </a:defRPr>
            </a:lvl8pPr>
            <a:lvl9pPr>
              <a:defRPr sz="1200" b="0">
                <a:solidFill>
                  <a:srgbClr val="5B6472"/>
                </a:solidFill>
                <a:latin typeface="Arial"/>
                <a:ea typeface="Arial"/>
                <a:cs typeface="Arial"/>
              </a:defRPr>
            </a:lvl9pPr>
          </a:lstStyle>
          <a:p>
            <a:pPr>
              <a:defRPr sz="1200" b="0">
                <a:solidFill>
                  <a:srgbClr val="5B6472"/>
                </a:solidFill>
                <a:latin typeface="Arial"/>
                <a:ea typeface="Arial"/>
                <a:cs typeface="Arial"/>
              </a:defRPr>
            </a:pPr>
            <a:r>
              <a:rPr sz="1200" b="0">
                <a:solidFill>
                  <a:srgbClr val="5B6472"/>
                </a:solidFill>
                <a:latin typeface="Arial"/>
                <a:ea typeface="Arial"/>
                <a:cs typeface="Arial"/>
              </a:rPr>
              <a:t>11</a:t>
            </a:r>
          </a:p>
        </p:txBody>
      </p:sp>
      <p:sp>
        <p:nvSpPr>
          <p:cNvPr id="5" name="[1] Rojas Santelices et al. (2025). Frui">
            <a:extLst>
              <a:ext uri="{FF2B5EF4-FFF2-40B4-BE49-F238E27FC236}">
                <a16:creationId xmlns:a16="http://schemas.microsoft.com/office/drawing/2014/main" id="{0A35EBD0-CB90-45AE-B8D0-3D0775F49FA4}"/>
              </a:ext>
            </a:extLst>
          </p:cNvPr>
          <p:cNvSpPr>
            <a:spLocks noGrp="1"/>
          </p:cNvSpPr>
          <p:nvPr/>
        </p:nvSpPr>
        <p:spPr>
          <a:xfrm>
            <a:off x="609600" y="1762125"/>
            <a:ext cx="10953750" cy="428625"/>
          </a:xfrm>
          <a:prstGeom prst="rect">
            <a:avLst/>
          </a:prstGeom>
          <a:noFill/>
          <a:ln w="0">
            <a:noFill/>
          </a:ln>
        </p:spPr>
        <p:txBody>
          <a:bodyPr wrap="square" lIns="0" tIns="0" rIns="0" bIns="0" anchor="t">
            <a:noAutofit/>
          </a:bodyPr>
          <a:lstStyle>
            <a:defPPr>
              <a:defRPr sz="1725" b="0">
                <a:solidFill>
                  <a:srgbClr val="123B63"/>
                </a:solidFill>
                <a:latin typeface="Arial"/>
                <a:ea typeface="Arial"/>
                <a:cs typeface="Arial"/>
              </a:defRPr>
            </a:defPPr>
            <a:lvl1pPr>
              <a:defRPr sz="1725" b="0">
                <a:solidFill>
                  <a:srgbClr val="123B63"/>
                </a:solidFill>
                <a:latin typeface="Arial"/>
                <a:ea typeface="Arial"/>
                <a:cs typeface="Arial"/>
              </a:defRPr>
            </a:lvl1pPr>
            <a:lvl2pPr>
              <a:defRPr sz="1725" b="0">
                <a:solidFill>
                  <a:srgbClr val="123B63"/>
                </a:solidFill>
                <a:latin typeface="Arial"/>
                <a:ea typeface="Arial"/>
                <a:cs typeface="Arial"/>
              </a:defRPr>
            </a:lvl2pPr>
            <a:lvl3pPr>
              <a:defRPr sz="1725" b="0">
                <a:solidFill>
                  <a:srgbClr val="123B63"/>
                </a:solidFill>
                <a:latin typeface="Arial"/>
                <a:ea typeface="Arial"/>
                <a:cs typeface="Arial"/>
              </a:defRPr>
            </a:lvl3pPr>
            <a:lvl4pPr>
              <a:defRPr sz="1725" b="0">
                <a:solidFill>
                  <a:srgbClr val="123B63"/>
                </a:solidFill>
                <a:latin typeface="Arial"/>
                <a:ea typeface="Arial"/>
                <a:cs typeface="Arial"/>
              </a:defRPr>
            </a:lvl4pPr>
            <a:lvl5pPr>
              <a:defRPr sz="1725" b="0">
                <a:solidFill>
                  <a:srgbClr val="123B63"/>
                </a:solidFill>
                <a:latin typeface="Arial"/>
                <a:ea typeface="Arial"/>
                <a:cs typeface="Arial"/>
              </a:defRPr>
            </a:lvl5pPr>
            <a:lvl6pPr>
              <a:defRPr sz="1725" b="0">
                <a:solidFill>
                  <a:srgbClr val="123B63"/>
                </a:solidFill>
                <a:latin typeface="Arial"/>
                <a:ea typeface="Arial"/>
                <a:cs typeface="Arial"/>
              </a:defRPr>
            </a:lvl6pPr>
            <a:lvl7pPr>
              <a:defRPr sz="1725" b="0">
                <a:solidFill>
                  <a:srgbClr val="123B63"/>
                </a:solidFill>
                <a:latin typeface="Arial"/>
                <a:ea typeface="Arial"/>
                <a:cs typeface="Arial"/>
              </a:defRPr>
            </a:lvl7pPr>
            <a:lvl8pPr>
              <a:defRPr sz="1725" b="0">
                <a:solidFill>
                  <a:srgbClr val="123B63"/>
                </a:solidFill>
                <a:latin typeface="Arial"/>
                <a:ea typeface="Arial"/>
                <a:cs typeface="Arial"/>
              </a:defRPr>
            </a:lvl8pPr>
            <a:lvl9pPr>
              <a:defRPr sz="1725" b="0">
                <a:solidFill>
                  <a:srgbClr val="123B63"/>
                </a:solidFill>
                <a:latin typeface="Arial"/>
                <a:ea typeface="Arial"/>
                <a:cs typeface="Arial"/>
              </a:defRPr>
            </a:lvl9pPr>
          </a:lstStyle>
          <a:p>
            <a:pPr>
              <a:defRPr sz="1725" b="0">
                <a:solidFill>
                  <a:srgbClr val="123B63"/>
                </a:solidFill>
                <a:latin typeface="Arial"/>
                <a:ea typeface="Arial"/>
                <a:cs typeface="Arial"/>
              </a:defRPr>
            </a:pPr>
            <a:r>
              <a:rPr sz="1725" b="0">
                <a:solidFill>
                  <a:srgbClr val="123B63"/>
                </a:solidFill>
                <a:latin typeface="Arial"/>
                <a:ea typeface="Arial"/>
                <a:cs typeface="Arial"/>
                <a:hlinkClick r:id="rId3"/>
              </a:rPr>
              <a:t>[1] Rojas Santelices et al. (2025). Fruit inspection survey. Sensors.</a:t>
            </a:r>
          </a:p>
        </p:txBody>
      </p:sp>
      <p:sp>
        <p:nvSpPr>
          <p:cNvPr id="6" name="[2] Han et al. (2024). HAFREE apple defe">
            <a:extLst>
              <a:ext uri="{FF2B5EF4-FFF2-40B4-BE49-F238E27FC236}">
                <a16:creationId xmlns:a16="http://schemas.microsoft.com/office/drawing/2014/main" id="{1295DC6E-BF9B-4FE6-9475-7430630EEAD4}"/>
              </a:ext>
            </a:extLst>
          </p:cNvPr>
          <p:cNvSpPr>
            <a:spLocks noGrp="1"/>
          </p:cNvSpPr>
          <p:nvPr/>
        </p:nvSpPr>
        <p:spPr>
          <a:xfrm>
            <a:off x="609600" y="2276475"/>
            <a:ext cx="10953750" cy="428625"/>
          </a:xfrm>
          <a:prstGeom prst="rect">
            <a:avLst/>
          </a:prstGeom>
          <a:noFill/>
          <a:ln w="0">
            <a:noFill/>
          </a:ln>
        </p:spPr>
        <p:txBody>
          <a:bodyPr wrap="square" lIns="0" tIns="0" rIns="0" bIns="0" anchor="t">
            <a:noAutofit/>
          </a:bodyPr>
          <a:lstStyle>
            <a:defPPr>
              <a:defRPr sz="1725" b="0">
                <a:solidFill>
                  <a:srgbClr val="123B63"/>
                </a:solidFill>
                <a:latin typeface="Arial"/>
                <a:ea typeface="Arial"/>
                <a:cs typeface="Arial"/>
              </a:defRPr>
            </a:defPPr>
            <a:lvl1pPr>
              <a:defRPr sz="1725" b="0">
                <a:solidFill>
                  <a:srgbClr val="123B63"/>
                </a:solidFill>
                <a:latin typeface="Arial"/>
                <a:ea typeface="Arial"/>
                <a:cs typeface="Arial"/>
              </a:defRPr>
            </a:lvl1pPr>
            <a:lvl2pPr>
              <a:defRPr sz="1725" b="0">
                <a:solidFill>
                  <a:srgbClr val="123B63"/>
                </a:solidFill>
                <a:latin typeface="Arial"/>
                <a:ea typeface="Arial"/>
                <a:cs typeface="Arial"/>
              </a:defRPr>
            </a:lvl2pPr>
            <a:lvl3pPr>
              <a:defRPr sz="1725" b="0">
                <a:solidFill>
                  <a:srgbClr val="123B63"/>
                </a:solidFill>
                <a:latin typeface="Arial"/>
                <a:ea typeface="Arial"/>
                <a:cs typeface="Arial"/>
              </a:defRPr>
            </a:lvl3pPr>
            <a:lvl4pPr>
              <a:defRPr sz="1725" b="0">
                <a:solidFill>
                  <a:srgbClr val="123B63"/>
                </a:solidFill>
                <a:latin typeface="Arial"/>
                <a:ea typeface="Arial"/>
                <a:cs typeface="Arial"/>
              </a:defRPr>
            </a:lvl4pPr>
            <a:lvl5pPr>
              <a:defRPr sz="1725" b="0">
                <a:solidFill>
                  <a:srgbClr val="123B63"/>
                </a:solidFill>
                <a:latin typeface="Arial"/>
                <a:ea typeface="Arial"/>
                <a:cs typeface="Arial"/>
              </a:defRPr>
            </a:lvl5pPr>
            <a:lvl6pPr>
              <a:defRPr sz="1725" b="0">
                <a:solidFill>
                  <a:srgbClr val="123B63"/>
                </a:solidFill>
                <a:latin typeface="Arial"/>
                <a:ea typeface="Arial"/>
                <a:cs typeface="Arial"/>
              </a:defRPr>
            </a:lvl6pPr>
            <a:lvl7pPr>
              <a:defRPr sz="1725" b="0">
                <a:solidFill>
                  <a:srgbClr val="123B63"/>
                </a:solidFill>
                <a:latin typeface="Arial"/>
                <a:ea typeface="Arial"/>
                <a:cs typeface="Arial"/>
              </a:defRPr>
            </a:lvl7pPr>
            <a:lvl8pPr>
              <a:defRPr sz="1725" b="0">
                <a:solidFill>
                  <a:srgbClr val="123B63"/>
                </a:solidFill>
                <a:latin typeface="Arial"/>
                <a:ea typeface="Arial"/>
                <a:cs typeface="Arial"/>
              </a:defRPr>
            </a:lvl8pPr>
            <a:lvl9pPr>
              <a:defRPr sz="1725" b="0">
                <a:solidFill>
                  <a:srgbClr val="123B63"/>
                </a:solidFill>
                <a:latin typeface="Arial"/>
                <a:ea typeface="Arial"/>
                <a:cs typeface="Arial"/>
              </a:defRPr>
            </a:lvl9pPr>
          </a:lstStyle>
          <a:p>
            <a:pPr>
              <a:defRPr sz="1725" b="0">
                <a:solidFill>
                  <a:srgbClr val="123B63"/>
                </a:solidFill>
                <a:latin typeface="Arial"/>
                <a:ea typeface="Arial"/>
                <a:cs typeface="Arial"/>
              </a:defRPr>
            </a:pPr>
            <a:r>
              <a:rPr sz="1725" b="0">
                <a:solidFill>
                  <a:srgbClr val="123B63"/>
                </a:solidFill>
                <a:latin typeface="Arial"/>
                <a:ea typeface="Arial"/>
                <a:cs typeface="Arial"/>
                <a:hlinkClick r:id="rId4"/>
              </a:rPr>
              <a:t>[2] Han et al. (2024). HAFREE apple defect detector. IEEE Access.</a:t>
            </a:r>
          </a:p>
        </p:txBody>
      </p:sp>
      <p:sp>
        <p:nvSpPr>
          <p:cNvPr id="7" name="[3] Nguyen (2024). Surface Subtle Defect">
            <a:extLst>
              <a:ext uri="{FF2B5EF4-FFF2-40B4-BE49-F238E27FC236}">
                <a16:creationId xmlns:a16="http://schemas.microsoft.com/office/drawing/2014/main" id="{2C1E20E0-E429-4195-8A7D-998FDBF838ED}"/>
              </a:ext>
            </a:extLst>
          </p:cNvPr>
          <p:cNvSpPr>
            <a:spLocks noGrp="1"/>
          </p:cNvSpPr>
          <p:nvPr/>
        </p:nvSpPr>
        <p:spPr>
          <a:xfrm>
            <a:off x="609600" y="2790825"/>
            <a:ext cx="10953750" cy="428625"/>
          </a:xfrm>
          <a:prstGeom prst="rect">
            <a:avLst/>
          </a:prstGeom>
          <a:noFill/>
          <a:ln w="0">
            <a:noFill/>
          </a:ln>
        </p:spPr>
        <p:txBody>
          <a:bodyPr wrap="square" lIns="0" tIns="0" rIns="0" bIns="0" anchor="t">
            <a:noAutofit/>
          </a:bodyPr>
          <a:lstStyle>
            <a:defPPr>
              <a:defRPr sz="1725" b="0">
                <a:solidFill>
                  <a:srgbClr val="123B63"/>
                </a:solidFill>
                <a:latin typeface="Arial"/>
                <a:ea typeface="Arial"/>
                <a:cs typeface="Arial"/>
              </a:defRPr>
            </a:defPPr>
            <a:lvl1pPr>
              <a:defRPr sz="1725" b="0">
                <a:solidFill>
                  <a:srgbClr val="123B63"/>
                </a:solidFill>
                <a:latin typeface="Arial"/>
                <a:ea typeface="Arial"/>
                <a:cs typeface="Arial"/>
              </a:defRPr>
            </a:lvl1pPr>
            <a:lvl2pPr>
              <a:defRPr sz="1725" b="0">
                <a:solidFill>
                  <a:srgbClr val="123B63"/>
                </a:solidFill>
                <a:latin typeface="Arial"/>
                <a:ea typeface="Arial"/>
                <a:cs typeface="Arial"/>
              </a:defRPr>
            </a:lvl2pPr>
            <a:lvl3pPr>
              <a:defRPr sz="1725" b="0">
                <a:solidFill>
                  <a:srgbClr val="123B63"/>
                </a:solidFill>
                <a:latin typeface="Arial"/>
                <a:ea typeface="Arial"/>
                <a:cs typeface="Arial"/>
              </a:defRPr>
            </a:lvl3pPr>
            <a:lvl4pPr>
              <a:defRPr sz="1725" b="0">
                <a:solidFill>
                  <a:srgbClr val="123B63"/>
                </a:solidFill>
                <a:latin typeface="Arial"/>
                <a:ea typeface="Arial"/>
                <a:cs typeface="Arial"/>
              </a:defRPr>
            </a:lvl4pPr>
            <a:lvl5pPr>
              <a:defRPr sz="1725" b="0">
                <a:solidFill>
                  <a:srgbClr val="123B63"/>
                </a:solidFill>
                <a:latin typeface="Arial"/>
                <a:ea typeface="Arial"/>
                <a:cs typeface="Arial"/>
              </a:defRPr>
            </a:lvl5pPr>
            <a:lvl6pPr>
              <a:defRPr sz="1725" b="0">
                <a:solidFill>
                  <a:srgbClr val="123B63"/>
                </a:solidFill>
                <a:latin typeface="Arial"/>
                <a:ea typeface="Arial"/>
                <a:cs typeface="Arial"/>
              </a:defRPr>
            </a:lvl6pPr>
            <a:lvl7pPr>
              <a:defRPr sz="1725" b="0">
                <a:solidFill>
                  <a:srgbClr val="123B63"/>
                </a:solidFill>
                <a:latin typeface="Arial"/>
                <a:ea typeface="Arial"/>
                <a:cs typeface="Arial"/>
              </a:defRPr>
            </a:lvl7pPr>
            <a:lvl8pPr>
              <a:defRPr sz="1725" b="0">
                <a:solidFill>
                  <a:srgbClr val="123B63"/>
                </a:solidFill>
                <a:latin typeface="Arial"/>
                <a:ea typeface="Arial"/>
                <a:cs typeface="Arial"/>
              </a:defRPr>
            </a:lvl8pPr>
            <a:lvl9pPr>
              <a:defRPr sz="1725" b="0">
                <a:solidFill>
                  <a:srgbClr val="123B63"/>
                </a:solidFill>
                <a:latin typeface="Arial"/>
                <a:ea typeface="Arial"/>
                <a:cs typeface="Arial"/>
              </a:defRPr>
            </a:lvl9pPr>
          </a:lstStyle>
          <a:p>
            <a:pPr>
              <a:defRPr sz="1725" b="0">
                <a:solidFill>
                  <a:srgbClr val="123B63"/>
                </a:solidFill>
                <a:latin typeface="Arial"/>
                <a:ea typeface="Arial"/>
                <a:cs typeface="Arial"/>
              </a:defRPr>
            </a:pPr>
            <a:r>
              <a:rPr sz="1725" b="0">
                <a:solidFill>
                  <a:srgbClr val="123B63"/>
                </a:solidFill>
                <a:latin typeface="Arial"/>
                <a:ea typeface="Arial"/>
                <a:cs typeface="Arial"/>
                <a:hlinkClick r:id="rId5"/>
              </a:rPr>
              <a:t>[3] Nguyen (2024). Surface Subtle Defects Apple dataset v1.0.0.</a:t>
            </a:r>
          </a:p>
        </p:txBody>
      </p:sp>
      <p:sp>
        <p:nvSpPr>
          <p:cNvPr id="8" name="[4] Hu et al. (2018). Squeeze-and-Excita">
            <a:extLst>
              <a:ext uri="{FF2B5EF4-FFF2-40B4-BE49-F238E27FC236}">
                <a16:creationId xmlns:a16="http://schemas.microsoft.com/office/drawing/2014/main" id="{2BD1A6CE-D819-43AD-A76B-8F78AEE3820E}"/>
              </a:ext>
            </a:extLst>
          </p:cNvPr>
          <p:cNvSpPr>
            <a:spLocks noGrp="1"/>
          </p:cNvSpPr>
          <p:nvPr/>
        </p:nvSpPr>
        <p:spPr>
          <a:xfrm>
            <a:off x="609600" y="3305175"/>
            <a:ext cx="10953750" cy="428625"/>
          </a:xfrm>
          <a:prstGeom prst="rect">
            <a:avLst/>
          </a:prstGeom>
          <a:noFill/>
          <a:ln w="0">
            <a:noFill/>
          </a:ln>
        </p:spPr>
        <p:txBody>
          <a:bodyPr wrap="square" lIns="0" tIns="0" rIns="0" bIns="0" anchor="t">
            <a:noAutofit/>
          </a:bodyPr>
          <a:lstStyle>
            <a:defPPr>
              <a:defRPr sz="1725" b="0">
                <a:solidFill>
                  <a:srgbClr val="123B63"/>
                </a:solidFill>
                <a:latin typeface="Arial"/>
                <a:ea typeface="Arial"/>
                <a:cs typeface="Arial"/>
              </a:defRPr>
            </a:defPPr>
            <a:lvl1pPr>
              <a:defRPr sz="1725" b="0">
                <a:solidFill>
                  <a:srgbClr val="123B63"/>
                </a:solidFill>
                <a:latin typeface="Arial"/>
                <a:ea typeface="Arial"/>
                <a:cs typeface="Arial"/>
              </a:defRPr>
            </a:lvl1pPr>
            <a:lvl2pPr>
              <a:defRPr sz="1725" b="0">
                <a:solidFill>
                  <a:srgbClr val="123B63"/>
                </a:solidFill>
                <a:latin typeface="Arial"/>
                <a:ea typeface="Arial"/>
                <a:cs typeface="Arial"/>
              </a:defRPr>
            </a:lvl2pPr>
            <a:lvl3pPr>
              <a:defRPr sz="1725" b="0">
                <a:solidFill>
                  <a:srgbClr val="123B63"/>
                </a:solidFill>
                <a:latin typeface="Arial"/>
                <a:ea typeface="Arial"/>
                <a:cs typeface="Arial"/>
              </a:defRPr>
            </a:lvl3pPr>
            <a:lvl4pPr>
              <a:defRPr sz="1725" b="0">
                <a:solidFill>
                  <a:srgbClr val="123B63"/>
                </a:solidFill>
                <a:latin typeface="Arial"/>
                <a:ea typeface="Arial"/>
                <a:cs typeface="Arial"/>
              </a:defRPr>
            </a:lvl4pPr>
            <a:lvl5pPr>
              <a:defRPr sz="1725" b="0">
                <a:solidFill>
                  <a:srgbClr val="123B63"/>
                </a:solidFill>
                <a:latin typeface="Arial"/>
                <a:ea typeface="Arial"/>
                <a:cs typeface="Arial"/>
              </a:defRPr>
            </a:lvl5pPr>
            <a:lvl6pPr>
              <a:defRPr sz="1725" b="0">
                <a:solidFill>
                  <a:srgbClr val="123B63"/>
                </a:solidFill>
                <a:latin typeface="Arial"/>
                <a:ea typeface="Arial"/>
                <a:cs typeface="Arial"/>
              </a:defRPr>
            </a:lvl6pPr>
            <a:lvl7pPr>
              <a:defRPr sz="1725" b="0">
                <a:solidFill>
                  <a:srgbClr val="123B63"/>
                </a:solidFill>
                <a:latin typeface="Arial"/>
                <a:ea typeface="Arial"/>
                <a:cs typeface="Arial"/>
              </a:defRPr>
            </a:lvl7pPr>
            <a:lvl8pPr>
              <a:defRPr sz="1725" b="0">
                <a:solidFill>
                  <a:srgbClr val="123B63"/>
                </a:solidFill>
                <a:latin typeface="Arial"/>
                <a:ea typeface="Arial"/>
                <a:cs typeface="Arial"/>
              </a:defRPr>
            </a:lvl8pPr>
            <a:lvl9pPr>
              <a:defRPr sz="1725" b="0">
                <a:solidFill>
                  <a:srgbClr val="123B63"/>
                </a:solidFill>
                <a:latin typeface="Arial"/>
                <a:ea typeface="Arial"/>
                <a:cs typeface="Arial"/>
              </a:defRPr>
            </a:lvl9pPr>
          </a:lstStyle>
          <a:p>
            <a:pPr>
              <a:defRPr sz="1725" b="0">
                <a:solidFill>
                  <a:srgbClr val="123B63"/>
                </a:solidFill>
                <a:latin typeface="Arial"/>
                <a:ea typeface="Arial"/>
                <a:cs typeface="Arial"/>
              </a:defRPr>
            </a:pPr>
            <a:r>
              <a:rPr sz="1725" b="0">
                <a:solidFill>
                  <a:srgbClr val="123B63"/>
                </a:solidFill>
                <a:latin typeface="Arial"/>
                <a:ea typeface="Arial"/>
                <a:cs typeface="Arial"/>
                <a:hlinkClick r:id="rId6"/>
              </a:rPr>
              <a:t>[4] Hu et al. (2018). Squeeze-and-Excitation Networks. CVPR.</a:t>
            </a:r>
          </a:p>
        </p:txBody>
      </p:sp>
      <p:sp>
        <p:nvSpPr>
          <p:cNvPr id="9" name="[5] Woo et al. (2018). CBAM. ECCV.">
            <a:extLst>
              <a:ext uri="{FF2B5EF4-FFF2-40B4-BE49-F238E27FC236}">
                <a16:creationId xmlns:a16="http://schemas.microsoft.com/office/drawing/2014/main" id="{47D3B44A-B68A-47A5-9C9A-952EEB2C181C}"/>
              </a:ext>
            </a:extLst>
          </p:cNvPr>
          <p:cNvSpPr>
            <a:spLocks noGrp="1"/>
          </p:cNvSpPr>
          <p:nvPr/>
        </p:nvSpPr>
        <p:spPr>
          <a:xfrm>
            <a:off x="609600" y="3819525"/>
            <a:ext cx="10953750" cy="428625"/>
          </a:xfrm>
          <a:prstGeom prst="rect">
            <a:avLst/>
          </a:prstGeom>
          <a:noFill/>
          <a:ln w="0">
            <a:noFill/>
          </a:ln>
        </p:spPr>
        <p:txBody>
          <a:bodyPr wrap="square" lIns="0" tIns="0" rIns="0" bIns="0" anchor="t">
            <a:noAutofit/>
          </a:bodyPr>
          <a:lstStyle>
            <a:defPPr>
              <a:defRPr sz="1725" b="0">
                <a:solidFill>
                  <a:srgbClr val="123B63"/>
                </a:solidFill>
                <a:latin typeface="Arial"/>
                <a:ea typeface="Arial"/>
                <a:cs typeface="Arial"/>
              </a:defRPr>
            </a:defPPr>
            <a:lvl1pPr>
              <a:defRPr sz="1725" b="0">
                <a:solidFill>
                  <a:srgbClr val="123B63"/>
                </a:solidFill>
                <a:latin typeface="Arial"/>
                <a:ea typeface="Arial"/>
                <a:cs typeface="Arial"/>
              </a:defRPr>
            </a:lvl1pPr>
            <a:lvl2pPr>
              <a:defRPr sz="1725" b="0">
                <a:solidFill>
                  <a:srgbClr val="123B63"/>
                </a:solidFill>
                <a:latin typeface="Arial"/>
                <a:ea typeface="Arial"/>
                <a:cs typeface="Arial"/>
              </a:defRPr>
            </a:lvl2pPr>
            <a:lvl3pPr>
              <a:defRPr sz="1725" b="0">
                <a:solidFill>
                  <a:srgbClr val="123B63"/>
                </a:solidFill>
                <a:latin typeface="Arial"/>
                <a:ea typeface="Arial"/>
                <a:cs typeface="Arial"/>
              </a:defRPr>
            </a:lvl3pPr>
            <a:lvl4pPr>
              <a:defRPr sz="1725" b="0">
                <a:solidFill>
                  <a:srgbClr val="123B63"/>
                </a:solidFill>
                <a:latin typeface="Arial"/>
                <a:ea typeface="Arial"/>
                <a:cs typeface="Arial"/>
              </a:defRPr>
            </a:lvl4pPr>
            <a:lvl5pPr>
              <a:defRPr sz="1725" b="0">
                <a:solidFill>
                  <a:srgbClr val="123B63"/>
                </a:solidFill>
                <a:latin typeface="Arial"/>
                <a:ea typeface="Arial"/>
                <a:cs typeface="Arial"/>
              </a:defRPr>
            </a:lvl5pPr>
            <a:lvl6pPr>
              <a:defRPr sz="1725" b="0">
                <a:solidFill>
                  <a:srgbClr val="123B63"/>
                </a:solidFill>
                <a:latin typeface="Arial"/>
                <a:ea typeface="Arial"/>
                <a:cs typeface="Arial"/>
              </a:defRPr>
            </a:lvl6pPr>
            <a:lvl7pPr>
              <a:defRPr sz="1725" b="0">
                <a:solidFill>
                  <a:srgbClr val="123B63"/>
                </a:solidFill>
                <a:latin typeface="Arial"/>
                <a:ea typeface="Arial"/>
                <a:cs typeface="Arial"/>
              </a:defRPr>
            </a:lvl7pPr>
            <a:lvl8pPr>
              <a:defRPr sz="1725" b="0">
                <a:solidFill>
                  <a:srgbClr val="123B63"/>
                </a:solidFill>
                <a:latin typeface="Arial"/>
                <a:ea typeface="Arial"/>
                <a:cs typeface="Arial"/>
              </a:defRPr>
            </a:lvl8pPr>
            <a:lvl9pPr>
              <a:defRPr sz="1725" b="0">
                <a:solidFill>
                  <a:srgbClr val="123B63"/>
                </a:solidFill>
                <a:latin typeface="Arial"/>
                <a:ea typeface="Arial"/>
                <a:cs typeface="Arial"/>
              </a:defRPr>
            </a:lvl9pPr>
          </a:lstStyle>
          <a:p>
            <a:pPr>
              <a:defRPr sz="1725" b="0">
                <a:solidFill>
                  <a:srgbClr val="123B63"/>
                </a:solidFill>
                <a:latin typeface="Arial"/>
                <a:ea typeface="Arial"/>
                <a:cs typeface="Arial"/>
              </a:defRPr>
            </a:pPr>
            <a:r>
              <a:rPr sz="1725" b="0">
                <a:solidFill>
                  <a:srgbClr val="123B63"/>
                </a:solidFill>
                <a:latin typeface="Arial"/>
                <a:ea typeface="Arial"/>
                <a:cs typeface="Arial"/>
                <a:hlinkClick r:id="rId7"/>
              </a:rPr>
              <a:t>[5] Woo et al. (2018). CBAM. ECCV.</a:t>
            </a:r>
          </a:p>
        </p:txBody>
      </p:sp>
      <p:sp>
        <p:nvSpPr>
          <p:cNvPr id="10" name="[6] Hou et al. (2021). Coordinate Attent">
            <a:extLst>
              <a:ext uri="{FF2B5EF4-FFF2-40B4-BE49-F238E27FC236}">
                <a16:creationId xmlns:a16="http://schemas.microsoft.com/office/drawing/2014/main" id="{CA3E72E5-1DD2-41B3-9CAE-581D30D7AB19}"/>
              </a:ext>
            </a:extLst>
          </p:cNvPr>
          <p:cNvSpPr>
            <a:spLocks noGrp="1"/>
          </p:cNvSpPr>
          <p:nvPr/>
        </p:nvSpPr>
        <p:spPr>
          <a:xfrm>
            <a:off x="609600" y="4333875"/>
            <a:ext cx="10953750" cy="428625"/>
          </a:xfrm>
          <a:prstGeom prst="rect">
            <a:avLst/>
          </a:prstGeom>
          <a:noFill/>
          <a:ln w="0">
            <a:noFill/>
          </a:ln>
        </p:spPr>
        <p:txBody>
          <a:bodyPr wrap="square" lIns="0" tIns="0" rIns="0" bIns="0" anchor="t">
            <a:noAutofit/>
          </a:bodyPr>
          <a:lstStyle>
            <a:defPPr>
              <a:defRPr sz="1725" b="0">
                <a:solidFill>
                  <a:srgbClr val="123B63"/>
                </a:solidFill>
                <a:latin typeface="Arial"/>
                <a:ea typeface="Arial"/>
                <a:cs typeface="Arial"/>
              </a:defRPr>
            </a:defPPr>
            <a:lvl1pPr>
              <a:defRPr sz="1725" b="0">
                <a:solidFill>
                  <a:srgbClr val="123B63"/>
                </a:solidFill>
                <a:latin typeface="Arial"/>
                <a:ea typeface="Arial"/>
                <a:cs typeface="Arial"/>
              </a:defRPr>
            </a:lvl1pPr>
            <a:lvl2pPr>
              <a:defRPr sz="1725" b="0">
                <a:solidFill>
                  <a:srgbClr val="123B63"/>
                </a:solidFill>
                <a:latin typeface="Arial"/>
                <a:ea typeface="Arial"/>
                <a:cs typeface="Arial"/>
              </a:defRPr>
            </a:lvl2pPr>
            <a:lvl3pPr>
              <a:defRPr sz="1725" b="0">
                <a:solidFill>
                  <a:srgbClr val="123B63"/>
                </a:solidFill>
                <a:latin typeface="Arial"/>
                <a:ea typeface="Arial"/>
                <a:cs typeface="Arial"/>
              </a:defRPr>
            </a:lvl3pPr>
            <a:lvl4pPr>
              <a:defRPr sz="1725" b="0">
                <a:solidFill>
                  <a:srgbClr val="123B63"/>
                </a:solidFill>
                <a:latin typeface="Arial"/>
                <a:ea typeface="Arial"/>
                <a:cs typeface="Arial"/>
              </a:defRPr>
            </a:lvl4pPr>
            <a:lvl5pPr>
              <a:defRPr sz="1725" b="0">
                <a:solidFill>
                  <a:srgbClr val="123B63"/>
                </a:solidFill>
                <a:latin typeface="Arial"/>
                <a:ea typeface="Arial"/>
                <a:cs typeface="Arial"/>
              </a:defRPr>
            </a:lvl5pPr>
            <a:lvl6pPr>
              <a:defRPr sz="1725" b="0">
                <a:solidFill>
                  <a:srgbClr val="123B63"/>
                </a:solidFill>
                <a:latin typeface="Arial"/>
                <a:ea typeface="Arial"/>
                <a:cs typeface="Arial"/>
              </a:defRPr>
            </a:lvl6pPr>
            <a:lvl7pPr>
              <a:defRPr sz="1725" b="0">
                <a:solidFill>
                  <a:srgbClr val="123B63"/>
                </a:solidFill>
                <a:latin typeface="Arial"/>
                <a:ea typeface="Arial"/>
                <a:cs typeface="Arial"/>
              </a:defRPr>
            </a:lvl7pPr>
            <a:lvl8pPr>
              <a:defRPr sz="1725" b="0">
                <a:solidFill>
                  <a:srgbClr val="123B63"/>
                </a:solidFill>
                <a:latin typeface="Arial"/>
                <a:ea typeface="Arial"/>
                <a:cs typeface="Arial"/>
              </a:defRPr>
            </a:lvl8pPr>
            <a:lvl9pPr>
              <a:defRPr sz="1725" b="0">
                <a:solidFill>
                  <a:srgbClr val="123B63"/>
                </a:solidFill>
                <a:latin typeface="Arial"/>
                <a:ea typeface="Arial"/>
                <a:cs typeface="Arial"/>
              </a:defRPr>
            </a:lvl9pPr>
          </a:lstStyle>
          <a:p>
            <a:pPr>
              <a:defRPr sz="1725" b="0">
                <a:solidFill>
                  <a:srgbClr val="123B63"/>
                </a:solidFill>
                <a:latin typeface="Arial"/>
                <a:ea typeface="Arial"/>
                <a:cs typeface="Arial"/>
              </a:defRPr>
            </a:pPr>
            <a:r>
              <a:rPr sz="1725" b="0">
                <a:solidFill>
                  <a:srgbClr val="123B63"/>
                </a:solidFill>
                <a:latin typeface="Arial"/>
                <a:ea typeface="Arial"/>
                <a:cs typeface="Arial"/>
                <a:hlinkClick r:id="rId8"/>
              </a:rPr>
              <a:t>[6] Hou et al. (2021). Coordinate Attention. CVPR.</a:t>
            </a:r>
          </a:p>
        </p:txBody>
      </p:sp>
      <p:sp>
        <p:nvSpPr>
          <p:cNvPr id="11" name="[10] Ultralytics (2025). Software releas">
            <a:extLst>
              <a:ext uri="{FF2B5EF4-FFF2-40B4-BE49-F238E27FC236}">
                <a16:creationId xmlns:a16="http://schemas.microsoft.com/office/drawing/2014/main" id="{BCB29F48-D83D-4A59-8673-A74D4157A6DA}"/>
              </a:ext>
            </a:extLst>
          </p:cNvPr>
          <p:cNvSpPr>
            <a:spLocks noGrp="1"/>
          </p:cNvSpPr>
          <p:nvPr/>
        </p:nvSpPr>
        <p:spPr>
          <a:xfrm>
            <a:off x="609600" y="4848225"/>
            <a:ext cx="10953750" cy="428625"/>
          </a:xfrm>
          <a:prstGeom prst="rect">
            <a:avLst/>
          </a:prstGeom>
          <a:noFill/>
          <a:ln w="0">
            <a:noFill/>
          </a:ln>
        </p:spPr>
        <p:txBody>
          <a:bodyPr wrap="square" lIns="0" tIns="0" rIns="0" bIns="0" anchor="t">
            <a:noAutofit/>
          </a:bodyPr>
          <a:lstStyle>
            <a:defPPr>
              <a:defRPr sz="1725" b="0">
                <a:solidFill>
                  <a:srgbClr val="123B63"/>
                </a:solidFill>
                <a:latin typeface="Arial"/>
                <a:ea typeface="Arial"/>
                <a:cs typeface="Arial"/>
              </a:defRPr>
            </a:defPPr>
            <a:lvl1pPr>
              <a:defRPr sz="1725" b="0">
                <a:solidFill>
                  <a:srgbClr val="123B63"/>
                </a:solidFill>
                <a:latin typeface="Arial"/>
                <a:ea typeface="Arial"/>
                <a:cs typeface="Arial"/>
              </a:defRPr>
            </a:lvl1pPr>
            <a:lvl2pPr>
              <a:defRPr sz="1725" b="0">
                <a:solidFill>
                  <a:srgbClr val="123B63"/>
                </a:solidFill>
                <a:latin typeface="Arial"/>
                <a:ea typeface="Arial"/>
                <a:cs typeface="Arial"/>
              </a:defRPr>
            </a:lvl2pPr>
            <a:lvl3pPr>
              <a:defRPr sz="1725" b="0">
                <a:solidFill>
                  <a:srgbClr val="123B63"/>
                </a:solidFill>
                <a:latin typeface="Arial"/>
                <a:ea typeface="Arial"/>
                <a:cs typeface="Arial"/>
              </a:defRPr>
            </a:lvl3pPr>
            <a:lvl4pPr>
              <a:defRPr sz="1725" b="0">
                <a:solidFill>
                  <a:srgbClr val="123B63"/>
                </a:solidFill>
                <a:latin typeface="Arial"/>
                <a:ea typeface="Arial"/>
                <a:cs typeface="Arial"/>
              </a:defRPr>
            </a:lvl4pPr>
            <a:lvl5pPr>
              <a:defRPr sz="1725" b="0">
                <a:solidFill>
                  <a:srgbClr val="123B63"/>
                </a:solidFill>
                <a:latin typeface="Arial"/>
                <a:ea typeface="Arial"/>
                <a:cs typeface="Arial"/>
              </a:defRPr>
            </a:lvl5pPr>
            <a:lvl6pPr>
              <a:defRPr sz="1725" b="0">
                <a:solidFill>
                  <a:srgbClr val="123B63"/>
                </a:solidFill>
                <a:latin typeface="Arial"/>
                <a:ea typeface="Arial"/>
                <a:cs typeface="Arial"/>
              </a:defRPr>
            </a:lvl6pPr>
            <a:lvl7pPr>
              <a:defRPr sz="1725" b="0">
                <a:solidFill>
                  <a:srgbClr val="123B63"/>
                </a:solidFill>
                <a:latin typeface="Arial"/>
                <a:ea typeface="Arial"/>
                <a:cs typeface="Arial"/>
              </a:defRPr>
            </a:lvl7pPr>
            <a:lvl8pPr>
              <a:defRPr sz="1725" b="0">
                <a:solidFill>
                  <a:srgbClr val="123B63"/>
                </a:solidFill>
                <a:latin typeface="Arial"/>
                <a:ea typeface="Arial"/>
                <a:cs typeface="Arial"/>
              </a:defRPr>
            </a:lvl8pPr>
            <a:lvl9pPr>
              <a:defRPr sz="1725" b="0">
                <a:solidFill>
                  <a:srgbClr val="123B63"/>
                </a:solidFill>
                <a:latin typeface="Arial"/>
                <a:ea typeface="Arial"/>
                <a:cs typeface="Arial"/>
              </a:defRPr>
            </a:lvl9pPr>
          </a:lstStyle>
          <a:p>
            <a:pPr>
              <a:defRPr sz="1725" b="0">
                <a:solidFill>
                  <a:srgbClr val="123B63"/>
                </a:solidFill>
                <a:latin typeface="Arial"/>
                <a:ea typeface="Arial"/>
                <a:cs typeface="Arial"/>
              </a:defRPr>
            </a:pPr>
            <a:r>
              <a:rPr sz="1725" b="0">
                <a:solidFill>
                  <a:srgbClr val="123B63"/>
                </a:solidFill>
                <a:latin typeface="Arial"/>
                <a:ea typeface="Arial"/>
                <a:cs typeface="Arial"/>
                <a:hlinkClick r:id="rId9"/>
              </a:rPr>
              <a:t>[10] Ultralytics (2025). Software release v8.3.203.</a:t>
            </a:r>
          </a:p>
        </p:txBody>
      </p:sp>
      <p:sp>
        <p:nvSpPr>
          <p:cNvPr id="12" name="AI assistance: slide structure, drafting">
            <a:extLst>
              <a:ext uri="{FF2B5EF4-FFF2-40B4-BE49-F238E27FC236}">
                <a16:creationId xmlns:a16="http://schemas.microsoft.com/office/drawing/2014/main" id="{54BE99B2-72AB-4A77-A270-FDF7B5FF63AE}"/>
              </a:ext>
            </a:extLst>
          </p:cNvPr>
          <p:cNvSpPr>
            <a:spLocks noGrp="1"/>
          </p:cNvSpPr>
          <p:nvPr/>
        </p:nvSpPr>
        <p:spPr>
          <a:xfrm>
            <a:off x="609600" y="5657850"/>
            <a:ext cx="10858500" cy="571500"/>
          </a:xfrm>
          <a:prstGeom prst="rect">
            <a:avLst/>
          </a:prstGeom>
          <a:noFill/>
          <a:ln w="0">
            <a:noFill/>
          </a:ln>
        </p:spPr>
        <p:txBody>
          <a:bodyPr wrap="square" lIns="0" tIns="0" rIns="0" bIns="0" anchor="t">
            <a:noAutofit/>
          </a:bodyPr>
          <a:lstStyle>
            <a:defPPr>
              <a:defRPr sz="1500" b="0">
                <a:solidFill>
                  <a:srgbClr val="5B6472"/>
                </a:solidFill>
                <a:latin typeface="Arial"/>
                <a:ea typeface="Arial"/>
                <a:cs typeface="Arial"/>
              </a:defRPr>
            </a:defPPr>
            <a:lvl1pPr>
              <a:defRPr sz="1500" b="0">
                <a:solidFill>
                  <a:srgbClr val="5B6472"/>
                </a:solidFill>
                <a:latin typeface="Arial"/>
                <a:ea typeface="Arial"/>
                <a:cs typeface="Arial"/>
              </a:defRPr>
            </a:lvl1pPr>
            <a:lvl2pPr>
              <a:defRPr sz="1500" b="0">
                <a:solidFill>
                  <a:srgbClr val="5B6472"/>
                </a:solidFill>
                <a:latin typeface="Arial"/>
                <a:ea typeface="Arial"/>
                <a:cs typeface="Arial"/>
              </a:defRPr>
            </a:lvl2pPr>
            <a:lvl3pPr>
              <a:defRPr sz="1500" b="0">
                <a:solidFill>
                  <a:srgbClr val="5B6472"/>
                </a:solidFill>
                <a:latin typeface="Arial"/>
                <a:ea typeface="Arial"/>
                <a:cs typeface="Arial"/>
              </a:defRPr>
            </a:lvl3pPr>
            <a:lvl4pPr>
              <a:defRPr sz="1500" b="0">
                <a:solidFill>
                  <a:srgbClr val="5B6472"/>
                </a:solidFill>
                <a:latin typeface="Arial"/>
                <a:ea typeface="Arial"/>
                <a:cs typeface="Arial"/>
              </a:defRPr>
            </a:lvl4pPr>
            <a:lvl5pPr>
              <a:defRPr sz="1500" b="0">
                <a:solidFill>
                  <a:srgbClr val="5B6472"/>
                </a:solidFill>
                <a:latin typeface="Arial"/>
                <a:ea typeface="Arial"/>
                <a:cs typeface="Arial"/>
              </a:defRPr>
            </a:lvl5pPr>
            <a:lvl6pPr>
              <a:defRPr sz="1500" b="0">
                <a:solidFill>
                  <a:srgbClr val="5B6472"/>
                </a:solidFill>
                <a:latin typeface="Arial"/>
                <a:ea typeface="Arial"/>
                <a:cs typeface="Arial"/>
              </a:defRPr>
            </a:lvl6pPr>
            <a:lvl7pPr>
              <a:defRPr sz="1500" b="0">
                <a:solidFill>
                  <a:srgbClr val="5B6472"/>
                </a:solidFill>
                <a:latin typeface="Arial"/>
                <a:ea typeface="Arial"/>
                <a:cs typeface="Arial"/>
              </a:defRPr>
            </a:lvl7pPr>
            <a:lvl8pPr>
              <a:defRPr sz="1500" b="0">
                <a:solidFill>
                  <a:srgbClr val="5B6472"/>
                </a:solidFill>
                <a:latin typeface="Arial"/>
                <a:ea typeface="Arial"/>
                <a:cs typeface="Arial"/>
              </a:defRPr>
            </a:lvl8pPr>
            <a:lvl9pPr>
              <a:defRPr sz="1500" b="0">
                <a:solidFill>
                  <a:srgbClr val="5B6472"/>
                </a:solidFill>
                <a:latin typeface="Arial"/>
                <a:ea typeface="Arial"/>
                <a:cs typeface="Arial"/>
              </a:defRPr>
            </a:lvl9pPr>
          </a:lstStyle>
          <a:p>
            <a:pPr>
              <a:defRPr sz="1500" b="0">
                <a:solidFill>
                  <a:srgbClr val="5B6472"/>
                </a:solidFill>
                <a:latin typeface="Arial"/>
                <a:ea typeface="Arial"/>
                <a:cs typeface="Arial"/>
              </a:defRPr>
            </a:pPr>
            <a:r>
              <a:rPr sz="1500" b="0">
                <a:solidFill>
                  <a:srgbClr val="5B6472"/>
                </a:solidFill>
                <a:latin typeface="Arial"/>
                <a:ea typeface="Arial"/>
                <a:cs typeface="Arial"/>
              </a:rPr>
              <a:t>AI assistance: slide structure, drafting and formatting support.</a:t>
            </a:r>
          </a:p>
          <a:p>
            <a:pPr>
              <a:defRPr sz="1500" b="0">
                <a:solidFill>
                  <a:srgbClr val="5B6472"/>
                </a:solidFill>
                <a:latin typeface="Arial"/>
                <a:ea typeface="Arial"/>
                <a:cs typeface="Arial"/>
              </a:defRPr>
            </a:pPr>
            <a:r>
              <a:rPr sz="1500" b="0">
                <a:solidFill>
                  <a:srgbClr val="5B6472"/>
                </a:solidFill>
                <a:latin typeface="Arial"/>
                <a:ea typeface="Arial"/>
                <a:cs typeface="Arial"/>
              </a:rPr>
              <a:t>Presenter review and understanding remain essential.</a:t>
            </a:r>
          </a:p>
        </p:txBody>
      </p:sp>
    </p:spTree>
    <p:extLst>
      <p:ext uri="{BB962C8B-B14F-4D97-AF65-F5344CB8AC3E}">
        <p14:creationId xmlns:p14="http://schemas.microsoft.com/office/powerpoint/2010/main" val="198245098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3202</Words>
  <Application>Microsoft Office PowerPoint</Application>
  <DocSecurity>0</DocSecurity>
  <PresentationFormat>Widescreen</PresentationFormat>
  <Paragraphs>300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Ved Waghela</cp:lastModifiedBy>
  <cp:revision>1</cp:revision>
  <dcterms:created xsi:type="dcterms:W3CDTF">2026-10-19T11:40:22Z</dcterms:created>
  <dcterms:modified xsi:type="dcterms:W3CDTF">2026-10-21T00:11:59Z</dcterms:modified>
</cp:coreProperties>
</file>